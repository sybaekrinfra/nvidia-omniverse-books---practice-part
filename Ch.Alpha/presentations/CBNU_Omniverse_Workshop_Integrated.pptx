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1.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4081c7fa474ba4" /><Relationship Type="http://schemas.openxmlformats.org/officeDocument/2006/relationships/extended-properties" Target="/docProps/app.xml" Id="R30b3aab3789c4e45" /><Relationship Type="http://schemas.openxmlformats.org/officeDocument/2006/relationships/officeDocument" Target="/ppt/presentation.xml" Id="Rf8fa9bc57511410c" /></Relationships>
</file>

<file path=ppt/presentation.xml><?xml version="1.0" encoding="utf-8"?>
<p:presentation xmlns:p="http://schemas.openxmlformats.org/presentationml/2006/main">
  <p:sldMasterIdLst>
    <p:sldMasterId xmlns:r="http://schemas.openxmlformats.org/officeDocument/2006/relationships" id="2147483648" r:id="R7fb34c04549d449f"/>
  </p:sldMasterIdLst>
  <p:notesMasterIdLst>
    <p:notesMasterId xmlns:r="http://schemas.openxmlformats.org/officeDocument/2006/relationships" r:id="R428054429731480d"/>
  </p:notesMasterIdLst>
  <p:sldIdLst>
    <p:sldId xmlns:r="http://schemas.openxmlformats.org/officeDocument/2006/relationships" id="256" r:id="Re42ae1db0c4a4ab9"/>
    <p:sldId xmlns:r="http://schemas.openxmlformats.org/officeDocument/2006/relationships" id="257" r:id="Ra794d3b7b45b4c92"/>
    <p:sldId xmlns:r="http://schemas.openxmlformats.org/officeDocument/2006/relationships" id="258" r:id="R12166130fae64aab"/>
    <p:sldId xmlns:r="http://schemas.openxmlformats.org/officeDocument/2006/relationships" id="259" r:id="R6f2d98913faf492b"/>
    <p:sldId xmlns:r="http://schemas.openxmlformats.org/officeDocument/2006/relationships" id="260" r:id="Rd75cfabd202e4058"/>
    <p:sldId xmlns:r="http://schemas.openxmlformats.org/officeDocument/2006/relationships" id="261" r:id="Rb4c0adce39004d37"/>
    <p:sldId xmlns:r="http://schemas.openxmlformats.org/officeDocument/2006/relationships" id="262" r:id="Rc294d6ad0cc44607"/>
    <p:sldId xmlns:r="http://schemas.openxmlformats.org/officeDocument/2006/relationships" id="263" r:id="Rd06dd9a997b94b45"/>
    <p:sldId xmlns:r="http://schemas.openxmlformats.org/officeDocument/2006/relationships" id="264" r:id="R4f0440308f794977"/>
    <p:sldId xmlns:r="http://schemas.openxmlformats.org/officeDocument/2006/relationships" id="265" r:id="R34aaad91b8c543e4"/>
    <p:sldId xmlns:r="http://schemas.openxmlformats.org/officeDocument/2006/relationships" id="266" r:id="R474e35e9283845f5"/>
    <p:sldId xmlns:r="http://schemas.openxmlformats.org/officeDocument/2006/relationships" id="267" r:id="R04c6164e26184f04"/>
    <p:sldId xmlns:r="http://schemas.openxmlformats.org/officeDocument/2006/relationships" id="268" r:id="R09d4f7ce2a65440b"/>
    <p:sldId xmlns:r="http://schemas.openxmlformats.org/officeDocument/2006/relationships" id="269" r:id="R34fb1df19d1743cb"/>
    <p:sldId xmlns:r="http://schemas.openxmlformats.org/officeDocument/2006/relationships" id="270" r:id="R7e5eee64e67c4293"/>
    <p:sldId xmlns:r="http://schemas.openxmlformats.org/officeDocument/2006/relationships" id="271" r:id="R2904b51c5c404547"/>
    <p:sldId xmlns:r="http://schemas.openxmlformats.org/officeDocument/2006/relationships" id="272" r:id="Rc68348f188724900"/>
    <p:sldId xmlns:r="http://schemas.openxmlformats.org/officeDocument/2006/relationships" id="273" r:id="Rfb5a44ea2a214c38"/>
    <p:sldId xmlns:r="http://schemas.openxmlformats.org/officeDocument/2006/relationships" id="274" r:id="R90939669a4eb44fe"/>
    <p:sldId xmlns:r="http://schemas.openxmlformats.org/officeDocument/2006/relationships" id="275" r:id="Rdec53a844c3542ec"/>
    <p:sldId xmlns:r="http://schemas.openxmlformats.org/officeDocument/2006/relationships" id="276" r:id="R07601fbd40904e57"/>
    <p:sldId xmlns:r="http://schemas.openxmlformats.org/officeDocument/2006/relationships" id="277" r:id="R93f5ffc8b7ab4d13"/>
    <p:sldId xmlns:r="http://schemas.openxmlformats.org/officeDocument/2006/relationships" id="278" r:id="R00418a4342a04947"/>
    <p:sldId xmlns:r="http://schemas.openxmlformats.org/officeDocument/2006/relationships" id="279" r:id="R4b7f5458f0e34f5d"/>
    <p:sldId xmlns:r="http://schemas.openxmlformats.org/officeDocument/2006/relationships" id="280" r:id="Reec931febca749e5"/>
    <p:sldId xmlns:r="http://schemas.openxmlformats.org/officeDocument/2006/relationships" id="281" r:id="Rd3847ced4d5d41d3"/>
    <p:sldId xmlns:r="http://schemas.openxmlformats.org/officeDocument/2006/relationships" id="282" r:id="R4e4810db4e2048e9"/>
    <p:sldId xmlns:r="http://schemas.openxmlformats.org/officeDocument/2006/relationships" id="283" r:id="R778f3e92fb2c4c5d"/>
    <p:sldId xmlns:r="http://schemas.openxmlformats.org/officeDocument/2006/relationships" id="284" r:id="R8e36cdfd16e34587"/>
    <p:sldId xmlns:r="http://schemas.openxmlformats.org/officeDocument/2006/relationships" id="285" r:id="Rbe48462e608d41e4"/>
    <p:sldId xmlns:r="http://schemas.openxmlformats.org/officeDocument/2006/relationships" id="286" r:id="Re228c1a77cf5465e"/>
    <p:sldId xmlns:r="http://schemas.openxmlformats.org/officeDocument/2006/relationships" id="287" r:id="Re89d642faf7342f2"/>
    <p:sldId xmlns:r="http://schemas.openxmlformats.org/officeDocument/2006/relationships" id="288" r:id="Rc9e4bdd7a3034da0"/>
    <p:sldId xmlns:r="http://schemas.openxmlformats.org/officeDocument/2006/relationships" id="289" r:id="R9e6b08b31a5e42ae"/>
    <p:sldId xmlns:r="http://schemas.openxmlformats.org/officeDocument/2006/relationships" id="290" r:id="R7d7eb04e6657497a"/>
    <p:sldId xmlns:r="http://schemas.openxmlformats.org/officeDocument/2006/relationships" id="291" r:id="R98b6b7bc534a4067"/>
    <p:sldId xmlns:r="http://schemas.openxmlformats.org/officeDocument/2006/relationships" id="292" r:id="R27a544a9589e4709"/>
    <p:sldId xmlns:r="http://schemas.openxmlformats.org/officeDocument/2006/relationships" id="293" r:id="R564750078da84c87"/>
    <p:sldId xmlns:r="http://schemas.openxmlformats.org/officeDocument/2006/relationships" id="294" r:id="Rec144e7dbc65429e"/>
    <p:sldId xmlns:r="http://schemas.openxmlformats.org/officeDocument/2006/relationships" id="295" r:id="R6120e59cec254914"/>
    <p:sldId xmlns:r="http://schemas.openxmlformats.org/officeDocument/2006/relationships" id="296" r:id="Re65b65c104e04355"/>
    <p:sldId xmlns:r="http://schemas.openxmlformats.org/officeDocument/2006/relationships" id="297" r:id="R2b52834fa2a24ec9"/>
    <p:sldId xmlns:r="http://schemas.openxmlformats.org/officeDocument/2006/relationships" id="298" r:id="R9f7bd28f152a4e26"/>
    <p:sldId xmlns:r="http://schemas.openxmlformats.org/officeDocument/2006/relationships" id="299" r:id="R0f7cc1c50f704964"/>
    <p:sldId xmlns:r="http://schemas.openxmlformats.org/officeDocument/2006/relationships" id="300" r:id="R0588a29e4e744016"/>
    <p:sldId xmlns:r="http://schemas.openxmlformats.org/officeDocument/2006/relationships" id="301" r:id="Rab37a97edaa248f0"/>
    <p:sldId xmlns:r="http://schemas.openxmlformats.org/officeDocument/2006/relationships" id="302" r:id="Rf55b369fca984cdf"/>
    <p:sldId xmlns:r="http://schemas.openxmlformats.org/officeDocument/2006/relationships" id="303" r:id="R3290b354b8bf401e"/>
    <p:sldId xmlns:r="http://schemas.openxmlformats.org/officeDocument/2006/relationships" id="304" r:id="R690a4385502246a7"/>
    <p:sldId xmlns:r="http://schemas.openxmlformats.org/officeDocument/2006/relationships" id="305" r:id="R21ca2d93e5b24786"/>
    <p:sldId xmlns:r="http://schemas.openxmlformats.org/officeDocument/2006/relationships" id="306" r:id="Rf441cd8c3f074e4e"/>
    <p:sldId xmlns:r="http://schemas.openxmlformats.org/officeDocument/2006/relationships" id="307" r:id="Rf2d82514648d46c6"/>
    <p:sldId xmlns:r="http://schemas.openxmlformats.org/officeDocument/2006/relationships" id="308" r:id="R3d890a6b91c04342"/>
    <p:sldId xmlns:r="http://schemas.openxmlformats.org/officeDocument/2006/relationships" id="309" r:id="R15ccfd66cad84cbf"/>
    <p:sldId xmlns:r="http://schemas.openxmlformats.org/officeDocument/2006/relationships" id="310" r:id="Rb577b7d7e62f4a3e"/>
    <p:sldId xmlns:r="http://schemas.openxmlformats.org/officeDocument/2006/relationships" id="311" r:id="Rbe2f699cab0c4432"/>
    <p:sldId xmlns:r="http://schemas.openxmlformats.org/officeDocument/2006/relationships" id="312" r:id="R757f4990400d4613"/>
    <p:sldId xmlns:r="http://schemas.openxmlformats.org/officeDocument/2006/relationships" id="313" r:id="Rc8169b22865a424d"/>
    <p:sldId xmlns:r="http://schemas.openxmlformats.org/officeDocument/2006/relationships" id="314" r:id="Rc418f2e5af60475f"/>
    <p:sldId xmlns:r="http://schemas.openxmlformats.org/officeDocument/2006/relationships" id="315" r:id="Ra924b04c0392455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703882cfb742db" /><Relationship Type="http://schemas.openxmlformats.org/officeDocument/2006/relationships/slideMaster" Target="/ppt/slideMasters/slideMaster1.xml" Id="R7fb34c04549d449f" /><Relationship Type="http://schemas.openxmlformats.org/officeDocument/2006/relationships/notesMaster" Target="/ppt/notesMasters/notesMaster1.xml" Id="R428054429731480d" /><Relationship Type="http://schemas.openxmlformats.org/officeDocument/2006/relationships/presProps" Target="/ppt/presProps.xml" Id="R4e76d952275f4403" /><Relationship Type="http://schemas.openxmlformats.org/officeDocument/2006/relationships/tableStyles" Target="/ppt/tableStyles.xml" Id="R0efb0df22ee44ae7" /><Relationship Type="http://schemas.openxmlformats.org/officeDocument/2006/relationships/slide" Target="/ppt/slides/slide1.xml" Id="Re42ae1db0c4a4ab9" /><Relationship Type="http://schemas.openxmlformats.org/officeDocument/2006/relationships/slide" Target="/ppt/slides/slide2.xml" Id="Ra794d3b7b45b4c92" /><Relationship Type="http://schemas.openxmlformats.org/officeDocument/2006/relationships/slide" Target="/ppt/slides/slide3.xml" Id="R12166130fae64aab" /><Relationship Type="http://schemas.openxmlformats.org/officeDocument/2006/relationships/slide" Target="/ppt/slides/slide4.xml" Id="R6f2d98913faf492b" /><Relationship Type="http://schemas.openxmlformats.org/officeDocument/2006/relationships/slide" Target="/ppt/slides/slide5.xml" Id="Rd75cfabd202e4058" /><Relationship Type="http://schemas.openxmlformats.org/officeDocument/2006/relationships/slide" Target="/ppt/slides/slide6.xml" Id="Rb4c0adce39004d37" /><Relationship Type="http://schemas.openxmlformats.org/officeDocument/2006/relationships/slide" Target="/ppt/slides/slide7.xml" Id="Rc294d6ad0cc44607" /><Relationship Type="http://schemas.openxmlformats.org/officeDocument/2006/relationships/slide" Target="/ppt/slides/slide8.xml" Id="Rd06dd9a997b94b45" /><Relationship Type="http://schemas.openxmlformats.org/officeDocument/2006/relationships/slide" Target="/ppt/slides/slide9.xml" Id="R4f0440308f794977" /><Relationship Type="http://schemas.openxmlformats.org/officeDocument/2006/relationships/slide" Target="/ppt/slides/slide10.xml" Id="R34aaad91b8c543e4" /><Relationship Type="http://schemas.openxmlformats.org/officeDocument/2006/relationships/slide" Target="/ppt/slides/slide11.xml" Id="R474e35e9283845f5" /><Relationship Type="http://schemas.openxmlformats.org/officeDocument/2006/relationships/slide" Target="/ppt/slides/slide12.xml" Id="R04c6164e26184f04" /><Relationship Type="http://schemas.openxmlformats.org/officeDocument/2006/relationships/slide" Target="/ppt/slides/slide13.xml" Id="R09d4f7ce2a65440b" /><Relationship Type="http://schemas.openxmlformats.org/officeDocument/2006/relationships/slide" Target="/ppt/slides/slide14.xml" Id="R34fb1df19d1743cb" /><Relationship Type="http://schemas.openxmlformats.org/officeDocument/2006/relationships/slide" Target="/ppt/slides/slide15.xml" Id="R7e5eee64e67c4293" /><Relationship Type="http://schemas.openxmlformats.org/officeDocument/2006/relationships/slide" Target="/ppt/slides/slide16.xml" Id="R2904b51c5c404547" /><Relationship Type="http://schemas.openxmlformats.org/officeDocument/2006/relationships/slide" Target="/ppt/slides/slide17.xml" Id="Rc68348f188724900" /><Relationship Type="http://schemas.openxmlformats.org/officeDocument/2006/relationships/slide" Target="/ppt/slides/slide18.xml" Id="Rfb5a44ea2a214c38" /><Relationship Type="http://schemas.openxmlformats.org/officeDocument/2006/relationships/slide" Target="/ppt/slides/slide19.xml" Id="R90939669a4eb44fe" /><Relationship Type="http://schemas.openxmlformats.org/officeDocument/2006/relationships/slide" Target="/ppt/slides/slide20.xml" Id="Rdec53a844c3542ec" /><Relationship Type="http://schemas.openxmlformats.org/officeDocument/2006/relationships/slide" Target="/ppt/slides/slide21.xml" Id="R07601fbd40904e57" /><Relationship Type="http://schemas.openxmlformats.org/officeDocument/2006/relationships/slide" Target="/ppt/slides/slide22.xml" Id="R93f5ffc8b7ab4d13" /><Relationship Type="http://schemas.openxmlformats.org/officeDocument/2006/relationships/slide" Target="/ppt/slides/slide23.xml" Id="R00418a4342a04947" /><Relationship Type="http://schemas.openxmlformats.org/officeDocument/2006/relationships/slide" Target="/ppt/slides/slide24.xml" Id="R4b7f5458f0e34f5d" /><Relationship Type="http://schemas.openxmlformats.org/officeDocument/2006/relationships/slide" Target="/ppt/slides/slide25.xml" Id="Reec931febca749e5" /><Relationship Type="http://schemas.openxmlformats.org/officeDocument/2006/relationships/slide" Target="/ppt/slides/slide26.xml" Id="Rd3847ced4d5d41d3" /><Relationship Type="http://schemas.openxmlformats.org/officeDocument/2006/relationships/slide" Target="/ppt/slides/slide27.xml" Id="R4e4810db4e2048e9" /><Relationship Type="http://schemas.openxmlformats.org/officeDocument/2006/relationships/slide" Target="/ppt/slides/slide28.xml" Id="R778f3e92fb2c4c5d" /><Relationship Type="http://schemas.openxmlformats.org/officeDocument/2006/relationships/slide" Target="/ppt/slides/slide29.xml" Id="R8e36cdfd16e34587" /><Relationship Type="http://schemas.openxmlformats.org/officeDocument/2006/relationships/slide" Target="/ppt/slides/slide30.xml" Id="Rbe48462e608d41e4" /><Relationship Type="http://schemas.openxmlformats.org/officeDocument/2006/relationships/slide" Target="/ppt/slides/slide31.xml" Id="Re228c1a77cf5465e" /><Relationship Type="http://schemas.openxmlformats.org/officeDocument/2006/relationships/slide" Target="/ppt/slides/slide32.xml" Id="Re89d642faf7342f2" /><Relationship Type="http://schemas.openxmlformats.org/officeDocument/2006/relationships/slide" Target="/ppt/slides/slide33.xml" Id="Rc9e4bdd7a3034da0" /><Relationship Type="http://schemas.openxmlformats.org/officeDocument/2006/relationships/slide" Target="/ppt/slides/slide34.xml" Id="R9e6b08b31a5e42ae" /><Relationship Type="http://schemas.openxmlformats.org/officeDocument/2006/relationships/slide" Target="/ppt/slides/slide35.xml" Id="R7d7eb04e6657497a" /><Relationship Type="http://schemas.openxmlformats.org/officeDocument/2006/relationships/slide" Target="/ppt/slides/slide36.xml" Id="R98b6b7bc534a4067" /><Relationship Type="http://schemas.openxmlformats.org/officeDocument/2006/relationships/slide" Target="/ppt/slides/slide37.xml" Id="R27a544a9589e4709" /><Relationship Type="http://schemas.openxmlformats.org/officeDocument/2006/relationships/slide" Target="/ppt/slides/slide38.xml" Id="R564750078da84c87" /><Relationship Type="http://schemas.openxmlformats.org/officeDocument/2006/relationships/slide" Target="/ppt/slides/slide39.xml" Id="Rec144e7dbc65429e" /><Relationship Type="http://schemas.openxmlformats.org/officeDocument/2006/relationships/slide" Target="/ppt/slides/slide40.xml" Id="R6120e59cec254914" /><Relationship Type="http://schemas.openxmlformats.org/officeDocument/2006/relationships/slide" Target="/ppt/slides/slide41.xml" Id="Re65b65c104e04355" /><Relationship Type="http://schemas.openxmlformats.org/officeDocument/2006/relationships/slide" Target="/ppt/slides/slide42.xml" Id="R2b52834fa2a24ec9" /><Relationship Type="http://schemas.openxmlformats.org/officeDocument/2006/relationships/slide" Target="/ppt/slides/slide43.xml" Id="R9f7bd28f152a4e26" /><Relationship Type="http://schemas.openxmlformats.org/officeDocument/2006/relationships/slide" Target="/ppt/slides/slide44.xml" Id="R0f7cc1c50f704964" /><Relationship Type="http://schemas.openxmlformats.org/officeDocument/2006/relationships/slide" Target="/ppt/slides/slide45.xml" Id="R0588a29e4e744016" /><Relationship Type="http://schemas.openxmlformats.org/officeDocument/2006/relationships/slide" Target="/ppt/slides/slide46.xml" Id="Rab37a97edaa248f0" /><Relationship Type="http://schemas.openxmlformats.org/officeDocument/2006/relationships/slide" Target="/ppt/slides/slide47.xml" Id="Rf55b369fca984cdf" /><Relationship Type="http://schemas.openxmlformats.org/officeDocument/2006/relationships/slide" Target="/ppt/slides/slide48.xml" Id="R3290b354b8bf401e" /><Relationship Type="http://schemas.openxmlformats.org/officeDocument/2006/relationships/slide" Target="/ppt/slides/slide49.xml" Id="R690a4385502246a7" /><Relationship Type="http://schemas.openxmlformats.org/officeDocument/2006/relationships/slide" Target="/ppt/slides/slide50.xml" Id="R21ca2d93e5b24786" /><Relationship Type="http://schemas.openxmlformats.org/officeDocument/2006/relationships/slide" Target="/ppt/slides/slide51.xml" Id="Rf441cd8c3f074e4e" /><Relationship Type="http://schemas.openxmlformats.org/officeDocument/2006/relationships/slide" Target="/ppt/slides/slide52.xml" Id="Rf2d82514648d46c6" /><Relationship Type="http://schemas.openxmlformats.org/officeDocument/2006/relationships/slide" Target="/ppt/slides/slide53.xml" Id="R3d890a6b91c04342" /><Relationship Type="http://schemas.openxmlformats.org/officeDocument/2006/relationships/slide" Target="/ppt/slides/slide54.xml" Id="R15ccfd66cad84cbf" /><Relationship Type="http://schemas.openxmlformats.org/officeDocument/2006/relationships/slide" Target="/ppt/slides/slide55.xml" Id="Rb577b7d7e62f4a3e" /><Relationship Type="http://schemas.openxmlformats.org/officeDocument/2006/relationships/slide" Target="/ppt/slides/slide56.xml" Id="Rbe2f699cab0c4432" /><Relationship Type="http://schemas.openxmlformats.org/officeDocument/2006/relationships/slide" Target="/ppt/slides/slide57.xml" Id="R757f4990400d4613" /><Relationship Type="http://schemas.openxmlformats.org/officeDocument/2006/relationships/slide" Target="/ppt/slides/slide58.xml" Id="Rc8169b22865a424d" /><Relationship Type="http://schemas.openxmlformats.org/officeDocument/2006/relationships/slide" Target="/ppt/slides/slide59.xml" Id="Rc418f2e5af60475f" /><Relationship Type="http://schemas.openxmlformats.org/officeDocument/2006/relationships/slide" Target="/ppt/slides/slide60.xml" Id="Ra924b04c039245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1780c7cfc842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83f51dd1a143ff" /><Relationship Type="http://schemas.openxmlformats.org/officeDocument/2006/relationships/notesMaster" Target="/ppt/notesMasters/notesMaster1.xml" Id="R56345b46773644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dd9de71fe448ac" /><Relationship Type="http://schemas.openxmlformats.org/officeDocument/2006/relationships/notesMaster" Target="/ppt/notesMasters/notesMaster1.xml" Id="R40a9984865e946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0f31fe22d547aa" /><Relationship Type="http://schemas.openxmlformats.org/officeDocument/2006/relationships/notesMaster" Target="/ppt/notesMasters/notesMaster1.xml" Id="Rb2ca4fa535574a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91d555df614e27" /><Relationship Type="http://schemas.openxmlformats.org/officeDocument/2006/relationships/notesMaster" Target="/ppt/notesMasters/notesMaster1.xml" Id="R48687a9b34f948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e8b9f24b2b4bad" /><Relationship Type="http://schemas.openxmlformats.org/officeDocument/2006/relationships/notesMaster" Target="/ppt/notesMasters/notesMaster1.xml" Id="Rbf439ba20ccb46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677131c12b4a38" /><Relationship Type="http://schemas.openxmlformats.org/officeDocument/2006/relationships/notesMaster" Target="/ppt/notesMasters/notesMaster1.xml" Id="Rd230551b53a74e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a93a9ad59e4dd0" /><Relationship Type="http://schemas.openxmlformats.org/officeDocument/2006/relationships/notesMaster" Target="/ppt/notesMasters/notesMaster1.xml" Id="Rc21db09e23194c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044da2fb3d430b" /><Relationship Type="http://schemas.openxmlformats.org/officeDocument/2006/relationships/notesMaster" Target="/ppt/notesMasters/notesMaster1.xml" Id="Rc416b15257f841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c325f7deec412d" /><Relationship Type="http://schemas.openxmlformats.org/officeDocument/2006/relationships/notesMaster" Target="/ppt/notesMasters/notesMaster1.xml" Id="R8791b88ad7b04d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3c134c9c7c4c71" /><Relationship Type="http://schemas.openxmlformats.org/officeDocument/2006/relationships/notesMaster" Target="/ppt/notesMasters/notesMaster1.xml" Id="R82aa20bb32f943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61e195b6a34abd" /><Relationship Type="http://schemas.openxmlformats.org/officeDocument/2006/relationships/notesMaster" Target="/ppt/notesMasters/notesMaster1.xml" Id="R2a543c0788964c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3f657cdf1f409c" /><Relationship Type="http://schemas.openxmlformats.org/officeDocument/2006/relationships/notesMaster" Target="/ppt/notesMasters/notesMaster1.xml" Id="R3d5d93c2e5564d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ba77b65c2447ba" /><Relationship Type="http://schemas.openxmlformats.org/officeDocument/2006/relationships/notesMaster" Target="/ppt/notesMasters/notesMaster1.xml" Id="Rf4bfc559e26642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f09c51ed83433a" /><Relationship Type="http://schemas.openxmlformats.org/officeDocument/2006/relationships/notesMaster" Target="/ppt/notesMasters/notesMaster1.xml" Id="Rc2b04782ff6845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4c5c28ecea4e49" /><Relationship Type="http://schemas.openxmlformats.org/officeDocument/2006/relationships/notesMaster" Target="/ppt/notesMasters/notesMaster1.xml" Id="R042852adbf644b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360596c971490f" /><Relationship Type="http://schemas.openxmlformats.org/officeDocument/2006/relationships/notesMaster" Target="/ppt/notesMasters/notesMaster1.xml" Id="Rcf625dd86f1944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14071305474ef0" /><Relationship Type="http://schemas.openxmlformats.org/officeDocument/2006/relationships/notesMaster" Target="/ppt/notesMasters/notesMaster1.xml" Id="R0d5e2165447344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da3c4111124f5d" /><Relationship Type="http://schemas.openxmlformats.org/officeDocument/2006/relationships/notesMaster" Target="/ppt/notesMasters/notesMaster1.xml" Id="R684815f7c23c43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18bae9c6e648fe" /><Relationship Type="http://schemas.openxmlformats.org/officeDocument/2006/relationships/notesMaster" Target="/ppt/notesMasters/notesMaster1.xml" Id="R4e9b4ff6c4554f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5d0eed72f94a8f" /><Relationship Type="http://schemas.openxmlformats.org/officeDocument/2006/relationships/notesMaster" Target="/ppt/notesMasters/notesMaster1.xml" Id="R2f917e12a13d438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7725d9c9f3a4fc0" /><Relationship Type="http://schemas.openxmlformats.org/officeDocument/2006/relationships/notesMaster" Target="/ppt/notesMasters/notesMaster1.xml" Id="Rc1d7f7286b7a4e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33fdb1f30d4792" /><Relationship Type="http://schemas.openxmlformats.org/officeDocument/2006/relationships/notesMaster" Target="/ppt/notesMasters/notesMaster1.xml" Id="R8e9a0e025c5b4f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701f871b75477e" /><Relationship Type="http://schemas.openxmlformats.org/officeDocument/2006/relationships/notesMaster" Target="/ppt/notesMasters/notesMaster1.xml" Id="Ra2b5347ff8044b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cb544b473f54284" /><Relationship Type="http://schemas.openxmlformats.org/officeDocument/2006/relationships/notesMaster" Target="/ppt/notesMasters/notesMaster1.xml" Id="R9f28ef48c0ca49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aaa919de794619" /><Relationship Type="http://schemas.openxmlformats.org/officeDocument/2006/relationships/notesMaster" Target="/ppt/notesMasters/notesMaster1.xml" Id="Rb27997cf66824c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fac0b728d864821" /><Relationship Type="http://schemas.openxmlformats.org/officeDocument/2006/relationships/notesMaster" Target="/ppt/notesMasters/notesMaster1.xml" Id="Rfd2635b435d2447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92d13ace2e04f66" /><Relationship Type="http://schemas.openxmlformats.org/officeDocument/2006/relationships/notesMaster" Target="/ppt/notesMasters/notesMaster1.xml" Id="R5d9e56bc734247b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00e617e24a4fa0" /><Relationship Type="http://schemas.openxmlformats.org/officeDocument/2006/relationships/notesMaster" Target="/ppt/notesMasters/notesMaster1.xml" Id="Rae5e5d20f4bf49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a250f5ec6cd4b67" /><Relationship Type="http://schemas.openxmlformats.org/officeDocument/2006/relationships/notesMaster" Target="/ppt/notesMasters/notesMaster1.xml" Id="R2feb882c524c4ce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248486f9c8644da" /><Relationship Type="http://schemas.openxmlformats.org/officeDocument/2006/relationships/notesMaster" Target="/ppt/notesMasters/notesMaster1.xml" Id="R57da26c6886d497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362ad5e276f4b8f" /><Relationship Type="http://schemas.openxmlformats.org/officeDocument/2006/relationships/notesMaster" Target="/ppt/notesMasters/notesMaster1.xml" Id="R7931f7dccf3b48a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9fcd2a8e944684" /><Relationship Type="http://schemas.openxmlformats.org/officeDocument/2006/relationships/notesMaster" Target="/ppt/notesMasters/notesMaster1.xml" Id="R0ef91af74530410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7e07c3f2c604f74" /><Relationship Type="http://schemas.openxmlformats.org/officeDocument/2006/relationships/notesMaster" Target="/ppt/notesMasters/notesMaster1.xml" Id="R04d53660caf04c4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00accc8d2fd49e5" /><Relationship Type="http://schemas.openxmlformats.org/officeDocument/2006/relationships/notesMaster" Target="/ppt/notesMasters/notesMaster1.xml" Id="R9d1e2607cc7d42e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4d11ae3719749cd" /><Relationship Type="http://schemas.openxmlformats.org/officeDocument/2006/relationships/notesMaster" Target="/ppt/notesMasters/notesMaster1.xml" Id="Rd6c904694bc840e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2b2b1d0f891431f" /><Relationship Type="http://schemas.openxmlformats.org/officeDocument/2006/relationships/notesMaster" Target="/ppt/notesMasters/notesMaster1.xml" Id="R516c3a2158344f6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0e34c7f91774951" /><Relationship Type="http://schemas.openxmlformats.org/officeDocument/2006/relationships/notesMaster" Target="/ppt/notesMasters/notesMaster1.xml" Id="R840c7fe16835474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4da340154bf400b" /><Relationship Type="http://schemas.openxmlformats.org/officeDocument/2006/relationships/notesMaster" Target="/ppt/notesMasters/notesMaster1.xml" Id="Rc6f3a2c0e69c4d5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a30578e83ac4d2c" /><Relationship Type="http://schemas.openxmlformats.org/officeDocument/2006/relationships/notesMaster" Target="/ppt/notesMasters/notesMaster1.xml" Id="R482fddac340e4d6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4f65369d2ff4911" /><Relationship Type="http://schemas.openxmlformats.org/officeDocument/2006/relationships/notesMaster" Target="/ppt/notesMasters/notesMaster1.xml" Id="R780356b501f2436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886fe09a31240d6" /><Relationship Type="http://schemas.openxmlformats.org/officeDocument/2006/relationships/notesMaster" Target="/ppt/notesMasters/notesMaster1.xml" Id="R0a47ffef938a49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4053beef1bf4eb4" /><Relationship Type="http://schemas.openxmlformats.org/officeDocument/2006/relationships/notesMaster" Target="/ppt/notesMasters/notesMaster1.xml" Id="R38681823e01244b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e095b9b5371463a" /><Relationship Type="http://schemas.openxmlformats.org/officeDocument/2006/relationships/notesMaster" Target="/ppt/notesMasters/notesMaster1.xml" Id="R2f101bf4ae83426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23f73d2e1724eee" /><Relationship Type="http://schemas.openxmlformats.org/officeDocument/2006/relationships/notesMaster" Target="/ppt/notesMasters/notesMaster1.xml" Id="R665c1203c5b64cb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627362e04ec41ec" /><Relationship Type="http://schemas.openxmlformats.org/officeDocument/2006/relationships/notesMaster" Target="/ppt/notesMasters/notesMaster1.xml" Id="R5e969cd9642140f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c98bac0c7e740ff" /><Relationship Type="http://schemas.openxmlformats.org/officeDocument/2006/relationships/notesMaster" Target="/ppt/notesMasters/notesMaster1.xml" Id="Rae5ea3193dee4b3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d6a3cf237724d11" /><Relationship Type="http://schemas.openxmlformats.org/officeDocument/2006/relationships/notesMaster" Target="/ppt/notesMasters/notesMaster1.xml" Id="R4b1c7837ece4481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8e5568e87b64600" /><Relationship Type="http://schemas.openxmlformats.org/officeDocument/2006/relationships/notesMaster" Target="/ppt/notesMasters/notesMaster1.xml" Id="R352b53d91a5547e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7913c8e0c374b65" /><Relationship Type="http://schemas.openxmlformats.org/officeDocument/2006/relationships/notesMaster" Target="/ppt/notesMasters/notesMaster1.xml" Id="R48e3b303845749c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4c535c5696a4d27" /><Relationship Type="http://schemas.openxmlformats.org/officeDocument/2006/relationships/notesMaster" Target="/ppt/notesMasters/notesMaster1.xml" Id="R1cae2a9d98e3445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942179828a2402a" /><Relationship Type="http://schemas.openxmlformats.org/officeDocument/2006/relationships/notesMaster" Target="/ppt/notesMasters/notesMaster1.xml" Id="R44caebdfc3ba460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764ff1673ab404a" /><Relationship Type="http://schemas.openxmlformats.org/officeDocument/2006/relationships/notesMaster" Target="/ppt/notesMasters/notesMaster1.xml" Id="Rafe008120f2d4da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0bfacbdc9c24904" /><Relationship Type="http://schemas.openxmlformats.org/officeDocument/2006/relationships/notesMaster" Target="/ppt/notesMasters/notesMaster1.xml" Id="R853a6f53da89468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8085bbb54a14611" /><Relationship Type="http://schemas.openxmlformats.org/officeDocument/2006/relationships/notesMaster" Target="/ppt/notesMasters/notesMaster1.xml" Id="Rf4f1033870be402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3aefcb37b7f4de2" /><Relationship Type="http://schemas.openxmlformats.org/officeDocument/2006/relationships/notesMaster" Target="/ppt/notesMasters/notesMaster1.xml" Id="R4b30d42af8d7428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580dbb72f5b4a7e" /><Relationship Type="http://schemas.openxmlformats.org/officeDocument/2006/relationships/notesMaster" Target="/ppt/notesMasters/notesMaster1.xml" Id="R1598ad6d0d8d4ea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4b453fff2704a91" /><Relationship Type="http://schemas.openxmlformats.org/officeDocument/2006/relationships/notesMaster" Target="/ppt/notesMasters/notesMaster1.xml" Id="R4d5338222e734e8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017d6df14814aeb" /><Relationship Type="http://schemas.openxmlformats.org/officeDocument/2006/relationships/notesMaster" Target="/ppt/notesMasters/notesMaster1.xml" Id="Rd4d13387b7ba4ec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ed1b3edef414aa5" /><Relationship Type="http://schemas.openxmlformats.org/officeDocument/2006/relationships/notesMaster" Target="/ppt/notesMasters/notesMaster1.xml" Id="R54f079219ca44bb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afeb36478044bd3" /><Relationship Type="http://schemas.openxmlformats.org/officeDocument/2006/relationships/notesMaster" Target="/ppt/notesMasters/notesMaster1.xml" Id="R6d8db07930264f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Agenda에 맞춘 2일 통합 교재. 장비는 BX200L CAD 형상을 재사용하며 로봇 관절 제어는 필수 범위에 넣지 않는다. 상태 데이터는 합성 값이다. 처음부터 끝까지 슬라이드를 모두 읽기보다 실제 장면과 함께 진행한다.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수정 Agenda의 시간 블록을 유지한다. 하루 순수 수업 360분 중 실습 180분. 각 Part 확장 안내서에 기본/선택 실습 배분이 있다. 추가 과제를 순서대로 전부 수행하도록 요구하지 않는다.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장비 형상과 상태 데이터의 출처를 분리해서 설명한다. 정교한 CAD가 있다고 상태까지 실제 값인 것은 아니다. 완성 예시 04_status를 보여준 후 01_layout으로 돌아온다.</a:t>
            </a:r>
          </a:p>
          <a:p xmlns:a="http://schemas.openxmlformats.org/drawingml/2006/main">
            <a:r>
              <a:t/>
            </a:r>
          </a:p>
          <a:p xmlns:a="http://schemas.openxmlformats.org/drawingml/2006/main">
            <a:r>
              <a:t>실습 연결: day1/part1_orientation/EXPANDED_LAB.md</a:t>
            </a:r>
          </a:p>
          <a:p xmlns:a="http://schemas.openxmlformats.org/drawingml/2006/main">
            <a:r>
              <a:t>시간: 기본 실습 6분 + 선택 확장 4분.</a:t>
            </a:r>
          </a:p>
          <a:p xmlns:a="http://schemas.openxmlformats.org/drawingml/2006/main">
            <a:r>
              <a:t>진단 질문: 형상이 정교하면 Digital Twin의 상태 값도 실제 값인가?</a:t>
            </a:r>
          </a:p>
          <a:p xmlns:a="http://schemas.openxmlformats.org/drawingml/2006/main">
            <a:r>
              <a:t>예상 답: 아니다. 형상의 출처와 상태 데이터의 출처는 별개이며 이번 값은 합성 데이터이다.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학습자가 보이는 객체와 경로를 연결하면 완료한다. 경로가 끊어지면 저장소 전체를 받았는지 확인한다. 실제 PLC나 센서는 연결하지 않는다고 명확히 설명한다.</a:t>
            </a:r>
          </a:p>
          <a:p xmlns:a="http://schemas.openxmlformats.org/drawingml/2006/main">
            <a:r>
              <a:t/>
            </a:r>
          </a:p>
          <a:p xmlns:a="http://schemas.openxmlformats.org/drawingml/2006/main">
            <a:r>
              <a:t>실습 연결: day1/part1_orientation/EXPANDED_LAB.md</a:t>
            </a:r>
          </a:p>
          <a:p xmlns:a="http://schemas.openxmlformats.org/drawingml/2006/main">
            <a:r>
              <a:t>시간: 기본 실습 6분 + 선택 확장 4분.</a:t>
            </a:r>
          </a:p>
          <a:p xmlns:a="http://schemas.openxmlformats.org/drawingml/2006/main">
            <a:r>
              <a:t>진단 질문: 형상이 정교하면 Digital Twin의 상태 값도 실제 값인가?</a:t>
            </a:r>
          </a:p>
          <a:p xmlns:a="http://schemas.openxmlformats.org/drawingml/2006/main">
            <a:r>
              <a:t>예상 답: 아니다. 형상의 출처와 상태 데이터의 출처는 별개이며 이번 값은 합성 데이터이다.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이미지는 기존 교육 교재의 UI 예시다. 왼쪽 도구 막대와 아래 Content도 짚는다. 교육장 앱 버전에 따라 패널 위치와 메뉴 이름은 다를 수 있다. 실제 실습은 01 장면에서 한다.</a:t>
            </a:r>
          </a:p>
          <a:p xmlns:a="http://schemas.openxmlformats.org/drawingml/2006/main">
            <a:r>
              <a:t/>
            </a:r>
          </a:p>
          <a:p xmlns:a="http://schemas.openxmlformats.org/drawingml/2006/main">
            <a:r>
              <a:t>실습 연결: day1/part2_ui/EXPANDED_LAB.md</a:t>
            </a:r>
          </a:p>
          <a:p xmlns:a="http://schemas.openxmlformats.org/drawingml/2006/main">
            <a:r>
              <a:t>시간: 기본 실습 12분 + 선택 확장 8분.</a:t>
            </a:r>
          </a:p>
          <a:p xmlns:a="http://schemas.openxmlformats.org/drawingml/2006/main">
            <a:r>
              <a:t>진단 질문: 화면에서 작아진 물체의 Scale도 반드시 작아졌는가?</a:t>
            </a:r>
          </a:p>
          <a:p xmlns:a="http://schemas.openxmlformats.org/drawingml/2006/main">
            <a:r>
              <a:t>예상 답: 아니다. 카메라 거리와 시야각만 바뀌어도 화면 크기가 달라진다. Property 수치로 확인한다.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9.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화면의 Prim 이름은 교육 공통 장면과 다르다. UI 구조를 설명하는 예시로 사용하고 실제 경로를 별도로 읽게 한다. Viewport 선택이 어려우면 Stage에서 선택하게 한다.</a:t>
            </a:r>
          </a:p>
          <a:p xmlns:a="http://schemas.openxmlformats.org/drawingml/2006/main">
            <a:r>
              <a:t/>
            </a:r>
          </a:p>
          <a:p xmlns:a="http://schemas.openxmlformats.org/drawingml/2006/main">
            <a:r>
              <a:t>실습 연결: day1/part2_ui/EXPANDED_LAB.md</a:t>
            </a:r>
          </a:p>
          <a:p xmlns:a="http://schemas.openxmlformats.org/drawingml/2006/main">
            <a:r>
              <a:t>시간: 기본 실습 12분 + 선택 확장 8분.</a:t>
            </a:r>
          </a:p>
          <a:p xmlns:a="http://schemas.openxmlformats.org/drawingml/2006/main">
            <a:r>
              <a:t>진단 질문: 화면에서 작아진 물체의 Scale도 반드시 작아졌는가?</a:t>
            </a:r>
          </a:p>
          <a:p xmlns:a="http://schemas.openxmlformats.org/drawingml/2006/main">
            <a:r>
              <a:t>예상 답: 아니다. 카메라 거리와 시야각만 바뀌어도 화면 크기가 달라진다. Property 수치로 확인한다.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10.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키보드 단축키가 입력 창에 포커스되어 있으면 다른 동작을 할 수 있으니 Viewport 포커스를 확인한다. 화면 크기 대신 숫자 변화로 조작 결과를 검증한다.</a:t>
            </a:r>
          </a:p>
          <a:p xmlns:a="http://schemas.openxmlformats.org/drawingml/2006/main">
            <a:r>
              <a:t/>
            </a:r>
          </a:p>
          <a:p xmlns:a="http://schemas.openxmlformats.org/drawingml/2006/main">
            <a:r>
              <a:t>실습 연결: day1/part2_ui/EXPANDED_LAB.md</a:t>
            </a:r>
          </a:p>
          <a:p xmlns:a="http://schemas.openxmlformats.org/drawingml/2006/main">
            <a:r>
              <a:t>시간: 기본 실습 12분 + 선택 확장 8분.</a:t>
            </a:r>
          </a:p>
          <a:p xmlns:a="http://schemas.openxmlformats.org/drawingml/2006/main">
            <a:r>
              <a:t>진단 질문: 화면에서 작아진 물체의 Scale도 반드시 작아졌는가?</a:t>
            </a:r>
          </a:p>
          <a:p xmlns:a="http://schemas.openxmlformats.org/drawingml/2006/main">
            <a:r>
              <a:t>예상 답: 아니다. 카메라 거리와 시야각만 바뀌어도 화면 크기가 달라진다. Property 수치로 확인한다.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16.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 한 변 0.2m. 카메라만 움직이면 객체의 Translate는 변하지 않는다. 기본 12분과 비교 활동 8분 안에서 진행한다.</a:t>
            </a:r>
          </a:p>
          <a:p xmlns:a="http://schemas.openxmlformats.org/drawingml/2006/main">
            <a:r>
              <a:t/>
            </a:r>
          </a:p>
          <a:p xmlns:a="http://schemas.openxmlformats.org/drawingml/2006/main">
            <a:r>
              <a:t>실습 연결: day1/part2_ui/EXPANDED_LAB.md</a:t>
            </a:r>
          </a:p>
          <a:p xmlns:a="http://schemas.openxmlformats.org/drawingml/2006/main">
            <a:r>
              <a:t>시간: 기본 실습 12분 + 선택 확장 8분.</a:t>
            </a:r>
          </a:p>
          <a:p xmlns:a="http://schemas.openxmlformats.org/drawingml/2006/main">
            <a:r>
              <a:t>진단 질문: 화면에서 작아진 물체의 Scale도 반드시 작아졌는가?</a:t>
            </a:r>
          </a:p>
          <a:p xmlns:a="http://schemas.openxmlformats.org/drawingml/2006/main">
            <a:r>
              <a:t>예상 답: 아니다. 카메라 거리와 시야각만 바뀌어도 화면 크기가 달라진다. Property 수치로 확인한다.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파일 하나와 Stage를 완전히 같은 개념으로 설명하지 않는다. Stage는 여러 Layer와 참조 자산을 합성할 수 있다. Attribute와 Relationship은 모두 Property에 속하지만 이번에는 Attribute 변경을 중심으로 진행한다.</a:t>
            </a:r>
          </a:p>
          <a:p xmlns:a="http://schemas.openxmlformats.org/drawingml/2006/main">
            <a:r>
              <a:t/>
            </a:r>
          </a:p>
          <a:p xmlns:a="http://schemas.openxmlformats.org/drawingml/2006/main">
            <a:r>
              <a:t>실습 연결: day1/part3_openusd/EXPANDED_LAB.md</a:t>
            </a:r>
          </a:p>
          <a:p xmlns:a="http://schemas.openxmlformats.org/drawingml/2006/main">
            <a:r>
              <a:t>시간: 기본 실습 10분 + 선택 확장 5분.</a:t>
            </a:r>
          </a:p>
          <a:p xmlns:a="http://schemas.openxmlformats.org/drawingml/2006/main">
            <a:r>
              <a:t>진단 질문: Xform은 항상 보이는 형상인가?</a:t>
            </a:r>
          </a:p>
          <a:p xmlns:a="http://schemas.openxmlformats.org/drawingml/2006/main">
            <a:r>
              <a:t>예상 답: 아니다. Xform은 변환과 계층을 구성하며 보이는 자식 Mesh나 Shape가 별도로 있을 수 있다.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구조는 공통 장면의 주요 Prim만 요약한 것이다. Equipment 아래에는 실제 CAD 메시와 기존 비활성 Joint가 더 있다. 전체 장면을 이 여섯 Prim만 있다고 설명하지 않는다.</a:t>
            </a:r>
          </a:p>
          <a:p xmlns:a="http://schemas.openxmlformats.org/drawingml/2006/main">
            <a:r>
              <a:t/>
            </a:r>
          </a:p>
          <a:p xmlns:a="http://schemas.openxmlformats.org/drawingml/2006/main">
            <a:r>
              <a:t>실습 연결: day1/part3_openusd/EXPANDED_LAB.md</a:t>
            </a:r>
          </a:p>
          <a:p xmlns:a="http://schemas.openxmlformats.org/drawingml/2006/main">
            <a:r>
              <a:t>시간: 기본 실습 10분 + 선택 확장 5분.</a:t>
            </a:r>
          </a:p>
          <a:p xmlns:a="http://schemas.openxmlformats.org/drawingml/2006/main">
            <a:r>
              <a:t>진단 질문: Xform은 항상 보이는 형상인가?</a:t>
            </a:r>
          </a:p>
          <a:p xmlns:a="http://schemas.openxmlformats.org/drawingml/2006/main">
            <a:r>
              <a:t>예상 답: 아니다. Xform은 변환과 계층을 구성하며 보이는 자식 Mesh나 Shape가 별도로 있을 수 있다.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초급자가 가장 많이 혼동하는 부분이다. 잘못된 파일 경로를 GetPrimAtPath에 넘기면 원하는 Prim을 찾지 못한다. 코드 작성 전에 경로 세 종류를 소리 내어 읽게 한다.</a:t>
            </a:r>
          </a:p>
          <a:p xmlns:a="http://schemas.openxmlformats.org/drawingml/2006/main">
            <a:r>
              <a:t/>
            </a:r>
          </a:p>
          <a:p xmlns:a="http://schemas.openxmlformats.org/drawingml/2006/main">
            <a:r>
              <a:t>실습 연결: day1/part3_openusd/EXPANDED_LAB.md</a:t>
            </a:r>
          </a:p>
          <a:p xmlns:a="http://schemas.openxmlformats.org/drawingml/2006/main">
            <a:r>
              <a:t>시간: 기본 실습 10분 + 선택 확장 5분.</a:t>
            </a:r>
          </a:p>
          <a:p xmlns:a="http://schemas.openxmlformats.org/drawingml/2006/main">
            <a:r>
              <a:t>진단 질문: Xform은 항상 보이는 형상인가?</a:t>
            </a:r>
          </a:p>
          <a:p xmlns:a="http://schemas.openxmlformats.org/drawingml/2006/main">
            <a:r>
              <a:t>예상 답: 아니다. Xform은 변환과 계층을 구성하며 보이는 자식 Mesh나 Shape가 별도로 있을 수 있다.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교재의 Property 화면으로 구성을 설명한다. 실제 physics:mass는 Day 2의 03 장면에서 확인한다. 타입 이름과 적용된 API schema는 별개의 개념이다.</a:t>
            </a:r>
          </a:p>
          <a:p xmlns:a="http://schemas.openxmlformats.org/drawingml/2006/main">
            <a:r>
              <a:t/>
            </a:r>
          </a:p>
          <a:p xmlns:a="http://schemas.openxmlformats.org/drawingml/2006/main">
            <a:r>
              <a:t>실습 연결: day1/part3_openusd/EXPANDED_LAB.md</a:t>
            </a:r>
          </a:p>
          <a:p xmlns:a="http://schemas.openxmlformats.org/drawingml/2006/main">
            <a:r>
              <a:t>시간: 기본 실습 10분 + 선택 확장 5분.</a:t>
            </a:r>
          </a:p>
          <a:p xmlns:a="http://schemas.openxmlformats.org/drawingml/2006/main">
            <a:r>
              <a:t>진단 질문: Xform은 항상 보이는 형상인가?</a:t>
            </a:r>
          </a:p>
          <a:p xmlns:a="http://schemas.openxmlformats.org/drawingml/2006/main">
            <a:r>
              <a:t>예상 답: 아니다. Xform은 변환과 계층을 구성하며 보이는 자식 Mesh나 Shape가 별도로 있을 수 있다.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12.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BX200L의 defaultPrim은 World이다. defaultPrim을 지정해도 파일에 포함된 모든 최상위 Prim이 자동으로 참조되는 것은 아니다. 이 과정은 /World를 명시적으로 참조한다.</a:t>
            </a:r>
          </a:p>
          <a:p xmlns:a="http://schemas.openxmlformats.org/drawingml/2006/main">
            <a:r>
              <a:t/>
            </a:r>
          </a:p>
          <a:p xmlns:a="http://schemas.openxmlformats.org/drawingml/2006/main">
            <a:r>
              <a:t>실습 연결: day1/part3_openusd/EXPANDED_LAB.md</a:t>
            </a:r>
          </a:p>
          <a:p xmlns:a="http://schemas.openxmlformats.org/drawingml/2006/main">
            <a:r>
              <a:t>시간: 기본 실습 10분 + 선택 확장 5분.</a:t>
            </a:r>
          </a:p>
          <a:p xmlns:a="http://schemas.openxmlformats.org/drawingml/2006/main">
            <a:r>
              <a:t>진단 질문: Xform은 항상 보이는 형상인가?</a:t>
            </a:r>
          </a:p>
          <a:p xmlns:a="http://schemas.openxmlformats.org/drawingml/2006/main">
            <a:r>
              <a:t>예상 답: 아니다. Xform은 변환과 계층을 구성하며 보이는 자식 Mesh나 Shape가 별도로 있을 수 있다.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 session, sublayer의 역할을 구분한다. 이번 제공 예제는 root Layer에 편집하도록 되어 있다. 예기치 않은 값은 더 강한 의견이나 session 변경이 있는지 확인한다.</a:t>
            </a:r>
          </a:p>
          <a:p xmlns:a="http://schemas.openxmlformats.org/drawingml/2006/main">
            <a:r>
              <a:t/>
            </a:r>
          </a:p>
          <a:p xmlns:a="http://schemas.openxmlformats.org/drawingml/2006/main">
            <a:r>
              <a:t>실습 연결: day1/part4_usd_features/EXPANDED_LAB.md</a:t>
            </a:r>
          </a:p>
          <a:p xmlns:a="http://schemas.openxmlformats.org/drawingml/2006/main">
            <a:r>
              <a:t>시간: 기본 실습 24분 + 선택 확장 14분.</a:t>
            </a:r>
          </a:p>
          <a:p xmlns:a="http://schemas.openxmlformats.org/drawingml/2006/main">
            <a:r>
              <a:t>진단 질문: Variant를 바꿨는데 위치가 그대로라면 무엇을 확인할까?</a:t>
            </a:r>
          </a:p>
          <a:p xmlns:a="http://schemas.openxmlformats.org/drawingml/2006/main">
            <a:r>
              <a:t>예상 답: Variant 바깥에 같은 속성의 더 강한 local opinion을 작성했는지 확인한다. 체크포인트를 다시 열어 비교한다.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14.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파일의 primvars:displayColor를 비교한다. 원본 파일이 바뀌지 않았는데 합성된 결과가 바뀌는 것이 핵심이다. 모든 합성 우선순위를 파일 순서 하나로 단순화하지 않는다.</a:t>
            </a:r>
          </a:p>
          <a:p xmlns:a="http://schemas.openxmlformats.org/drawingml/2006/main">
            <a:r>
              <a:t/>
            </a:r>
          </a:p>
          <a:p xmlns:a="http://schemas.openxmlformats.org/drawingml/2006/main">
            <a:r>
              <a:t>실습 연결: day1/part4_usd_features/EXPANDED_LAB.md</a:t>
            </a:r>
          </a:p>
          <a:p xmlns:a="http://schemas.openxmlformats.org/drawingml/2006/main">
            <a:r>
              <a:t>시간: 기본 실습 24분 + 선택 확장 14분.</a:t>
            </a:r>
          </a:p>
          <a:p xmlns:a="http://schemas.openxmlformats.org/drawingml/2006/main">
            <a:r>
              <a:t>진단 질문: Variant를 바꿨는데 위치가 그대로라면 무엇을 확인할까?</a:t>
            </a:r>
          </a:p>
          <a:p xmlns:a="http://schemas.openxmlformats.org/drawingml/2006/main">
            <a:r>
              <a:t>예상 답: Variant 바깥에 같은 속성의 더 강한 local opinion을 작성했는지 확인한다. 체크포인트를 다시 열어 비교한다.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이미지의 예제 이름과 공통 장면 이름을 구별한다. 공통 장면의 Equipment Reference 경로를 실제로 확인한다. 원본 의존 파일을 함께 관리해야 한다.</a:t>
            </a:r>
          </a:p>
          <a:p xmlns:a="http://schemas.openxmlformats.org/drawingml/2006/main">
            <a:r>
              <a:t/>
            </a:r>
          </a:p>
          <a:p xmlns:a="http://schemas.openxmlformats.org/drawingml/2006/main">
            <a:r>
              <a:t>실습 연결: day1/part4_usd_features/EXPANDED_LAB.md</a:t>
            </a:r>
          </a:p>
          <a:p xmlns:a="http://schemas.openxmlformats.org/drawingml/2006/main">
            <a:r>
              <a:t>시간: 기본 실습 24분 + 선택 확장 14분.</a:t>
            </a:r>
          </a:p>
          <a:p xmlns:a="http://schemas.openxmlformats.org/drawingml/2006/main">
            <a:r>
              <a:t>진단 질문: Variant를 바꿨는데 위치가 그대로라면 무엇을 확인할까?</a:t>
            </a:r>
          </a:p>
          <a:p xmlns:a="http://schemas.openxmlformats.org/drawingml/2006/main">
            <a:r>
              <a:t>예상 답: Variant 바깥에 같은 속성의 더 강한 local opinion을 작성했는지 확인한다. 체크포인트를 다시 열어 비교한다.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과정(2D)\2 - [한국인프라] OpenUSD 설명자료.pptx, 슬라이드 29.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공통 단순 예제 assembly에서 /World/PayloadPart를 Unload와 Load한다. GUI가 다르면 Usd.Stage.Unload/Load로 확인한다. Visibility를 끄는 것과 데이터 unload는 다르다.</a:t>
            </a:r>
          </a:p>
          <a:p xmlns:a="http://schemas.openxmlformats.org/drawingml/2006/main">
            <a:r>
              <a:t/>
            </a:r>
          </a:p>
          <a:p xmlns:a="http://schemas.openxmlformats.org/drawingml/2006/main">
            <a:r>
              <a:t>실습 연결: day1/part4_usd_features/EXPANDED_LAB.md</a:t>
            </a:r>
          </a:p>
          <a:p xmlns:a="http://schemas.openxmlformats.org/drawingml/2006/main">
            <a:r>
              <a:t>시간: 기본 실습 24분 + 선택 확장 14분.</a:t>
            </a:r>
          </a:p>
          <a:p xmlns:a="http://schemas.openxmlformats.org/drawingml/2006/main">
            <a:r>
              <a:t>진단 질문: Variant를 바꿨는데 위치가 그대로라면 무엇을 확인할까?</a:t>
            </a:r>
          </a:p>
          <a:p xmlns:a="http://schemas.openxmlformats.org/drawingml/2006/main">
            <a:r>
              <a:t>예상 답: Variant 바깥에 같은 속성의 더 강한 local opinion을 작성했는지 확인한다. 체크포인트를 다시 열어 비교한다.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과정(2D)\2 - [한국인프라] OpenUSD 설명자료.pptx, 슬라이드 32.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05_layout_variants에 두 배치가 담겨 있다. 거리는 통로 유효 폭이나 안전 거리 인증값이 아니라 트레이 중심 간 X 차이다. local opinion이 Variant 값을 가릴 수 있다는 선택 질문을 덧붙인다.</a:t>
            </a:r>
          </a:p>
          <a:p xmlns:a="http://schemas.openxmlformats.org/drawingml/2006/main">
            <a:r>
              <a:t/>
            </a:r>
          </a:p>
          <a:p xmlns:a="http://schemas.openxmlformats.org/drawingml/2006/main">
            <a:r>
              <a:t>실습 연결: day1/part4_usd_features/EXPANDED_LAB.md</a:t>
            </a:r>
          </a:p>
          <a:p xmlns:a="http://schemas.openxmlformats.org/drawingml/2006/main">
            <a:r>
              <a:t>시간: 기본 실습 24분 + 선택 확장 14분.</a:t>
            </a:r>
          </a:p>
          <a:p xmlns:a="http://schemas.openxmlformats.org/drawingml/2006/main">
            <a:r>
              <a:t>진단 질문: Variant를 바꿨는데 위치가 그대로라면 무엇을 확인할까?</a:t>
            </a:r>
          </a:p>
          <a:p xmlns:a="http://schemas.openxmlformats.org/drawingml/2006/main">
            <a:r>
              <a:t>예상 답: Variant 바깥에 같은 속성의 더 강한 local opinion을 작성했는지 확인한다. 체크포인트를 다시 열어 비교한다.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목표는 두 Variant 전환과 수치 확인이다. 추가 논의는 실제 기계 안전 기준 적용으로 확대하지 않는다. 결과 화면과 좌표 표를 제출한다.</a:t>
            </a:r>
          </a:p>
          <a:p xmlns:a="http://schemas.openxmlformats.org/drawingml/2006/main">
            <a:r>
              <a:t/>
            </a:r>
          </a:p>
          <a:p xmlns:a="http://schemas.openxmlformats.org/drawingml/2006/main">
            <a:r>
              <a:t>실습 연결: day1/part4_usd_features/EXPANDED_LAB.md</a:t>
            </a:r>
          </a:p>
          <a:p xmlns:a="http://schemas.openxmlformats.org/drawingml/2006/main">
            <a:r>
              <a:t>시간: 기본 실습 24분 + 선택 확장 14분.</a:t>
            </a:r>
          </a:p>
          <a:p xmlns:a="http://schemas.openxmlformats.org/drawingml/2006/main">
            <a:r>
              <a:t>진단 질문: Variant를 바꿨는데 위치가 그대로라면 무엇을 확인할까?</a:t>
            </a:r>
          </a:p>
          <a:p xmlns:a="http://schemas.openxmlformats.org/drawingml/2006/main">
            <a:r>
              <a:t>예상 답: Variant 바깥에 같은 속성의 더 강한 local opinion을 작성했는지 확인한다. 체크포인트를 다시 열어 비교한다.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 Converter가 준비되면 직접 Import하고, 없으면 제공된 기변환 USD로 진행한다. 교육생 기록에 실제 변환 여부를 남긴다. 앱에 해당 메뉴가 항상 존재한다고 안내하지 않는다.</a:t>
            </a:r>
          </a:p>
          <a:p xmlns:a="http://schemas.openxmlformats.org/drawingml/2006/main">
            <a:r>
              <a:t/>
            </a:r>
          </a:p>
          <a:p xmlns:a="http://schemas.openxmlformats.org/drawingml/2006/main">
            <a:r>
              <a:t>실습 연결: day1/part5_cad/EXPANDED_LAB.md</a:t>
            </a:r>
          </a:p>
          <a:p xmlns:a="http://schemas.openxmlformats.org/drawingml/2006/main">
            <a:r>
              <a:t>시간: 기본 실습 25분 + 선택 확장 20분.</a:t>
            </a:r>
          </a:p>
          <a:p xmlns:a="http://schemas.openxmlformats.org/drawingml/2006/main">
            <a:r>
              <a:t>진단 질문: metersPerUnit=1만 확인하면 실물 크기 검수가 끝나는가?</a:t>
            </a:r>
          </a:p>
          <a:p xmlns:a="http://schemas.openxmlformats.org/drawingml/2006/main">
            <a:r>
              <a:t>예상 답: 아니다. 내부 좌표와 Scale도 영향을 준다. 기준 치수와 바운드를 비교해야 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10_fault_units는 metadata가 정상이어도 geometry 크기가 잘못될 수 있음을 보여준다. 원본 도면의 측정 방향과 바운드 방향을 구별한다. 바운드 높이는 정밀 CAD 치수 검증을 대체하지 않는다.</a:t>
            </a:r>
          </a:p>
          <a:p xmlns:a="http://schemas.openxmlformats.org/drawingml/2006/main">
            <a:r>
              <a:t/>
            </a:r>
          </a:p>
          <a:p xmlns:a="http://schemas.openxmlformats.org/drawingml/2006/main">
            <a:r>
              <a:t>실습 연결: day1/part5_cad/EXPANDED_LAB.md</a:t>
            </a:r>
          </a:p>
          <a:p xmlns:a="http://schemas.openxmlformats.org/drawingml/2006/main">
            <a:r>
              <a:t>시간: 기본 실습 25분 + 선택 확장 20분.</a:t>
            </a:r>
          </a:p>
          <a:p xmlns:a="http://schemas.openxmlformats.org/drawingml/2006/main">
            <a:r>
              <a:t>진단 질문: metersPerUnit=1만 확인하면 실물 크기 검수가 끝나는가?</a:t>
            </a:r>
          </a:p>
          <a:p xmlns:a="http://schemas.openxmlformats.org/drawingml/2006/main">
            <a:r>
              <a:t>예상 답: 아니다. 내부 좌표와 Scale도 영향을 준다. 기준 치수와 바운드를 비교해야 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도구 사용이 불가능하면 01_inspect_stage의 BBox 출력으로 대체한다. 실제 도면 치수와 단순 바운드가 반드시 같은 대상은 아니다. 측정 결과의 범위를 설명한다.</a:t>
            </a:r>
          </a:p>
          <a:p xmlns:a="http://schemas.openxmlformats.org/drawingml/2006/main">
            <a:r>
              <a:t/>
            </a:r>
          </a:p>
          <a:p xmlns:a="http://schemas.openxmlformats.org/drawingml/2006/main">
            <a:r>
              <a:t>실습 연결: day1/part5_cad/EXPANDED_LAB.md</a:t>
            </a:r>
          </a:p>
          <a:p xmlns:a="http://schemas.openxmlformats.org/drawingml/2006/main">
            <a:r>
              <a:t>시간: 기본 실습 25분 + 선택 확장 20분.</a:t>
            </a:r>
          </a:p>
          <a:p xmlns:a="http://schemas.openxmlformats.org/drawingml/2006/main">
            <a:r>
              <a:t>진단 질문: metersPerUnit=1만 확인하면 실물 크기 검수가 끝나는가?</a:t>
            </a:r>
          </a:p>
          <a:p xmlns:a="http://schemas.openxmlformats.org/drawingml/2006/main">
            <a:r>
              <a:t>예상 답: 아니다. 내부 좌표와 Scale도 영향을 준다. 기준 치수와 바운드를 비교해야 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29.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교재의 실제 도구 화면을 활용한다. 교실 앱에 Section이 없으면 강사 시연으로 한정하고 CAD 단위 검수 시간을 늘린다.</a:t>
            </a:r>
          </a:p>
          <a:p xmlns:a="http://schemas.openxmlformats.org/drawingml/2006/main">
            <a:r>
              <a:t/>
            </a:r>
          </a:p>
          <a:p xmlns:a="http://schemas.openxmlformats.org/drawingml/2006/main">
            <a:r>
              <a:t>실습 연결: day1/part5_cad/EXPANDED_LAB.md</a:t>
            </a:r>
          </a:p>
          <a:p xmlns:a="http://schemas.openxmlformats.org/drawingml/2006/main">
            <a:r>
              <a:t>시간: 기본 실습 25분 + 선택 확장 20분.</a:t>
            </a:r>
          </a:p>
          <a:p xmlns:a="http://schemas.openxmlformats.org/drawingml/2006/main">
            <a:r>
              <a:t>진단 질문: metersPerUnit=1만 확인하면 실물 크기 검수가 끝나는가?</a:t>
            </a:r>
          </a:p>
          <a:p xmlns:a="http://schemas.openxmlformats.org/drawingml/2006/main">
            <a:r>
              <a:t>예상 답: 아니다. 내부 좌표와 Scale도 영향을 준다. 기준 치수와 바운드를 비교해야 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30.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초급 과정에서는 CAD 내부 변환 스택을 자동 정규화하지 않는다. 래퍼 Xform이나 제공 도구로 회전 중심 개념만 확인한다. 이후 확장 안내서의 단위 오류 미션을 진행한다.</a:t>
            </a:r>
          </a:p>
          <a:p xmlns:a="http://schemas.openxmlformats.org/drawingml/2006/main">
            <a:r>
              <a:t/>
            </a:r>
          </a:p>
          <a:p xmlns:a="http://schemas.openxmlformats.org/drawingml/2006/main">
            <a:r>
              <a:t>실습 연결: day1/part5_cad/EXPANDED_LAB.md</a:t>
            </a:r>
          </a:p>
          <a:p xmlns:a="http://schemas.openxmlformats.org/drawingml/2006/main">
            <a:r>
              <a:t>시간: 기본 실습 25분 + 선택 확장 20분.</a:t>
            </a:r>
          </a:p>
          <a:p xmlns:a="http://schemas.openxmlformats.org/drawingml/2006/main">
            <a:r>
              <a:t>진단 질문: metersPerUnit=1만 확인하면 실물 크기 검수가 끝나는가?</a:t>
            </a:r>
          </a:p>
          <a:p xmlns:a="http://schemas.openxmlformats.org/drawingml/2006/main">
            <a:r>
              <a:t>예상 답: 아니다. 내부 좌표와 Scale도 영향을 준다. 기준 치수와 바운드를 비교해야 한다.</a:t>
            </a:r>
          </a:p>
          <a:p xmlns:a="http://schemas.openxmlformats.org/drawingml/2006/main">
            <a:r>
              <a:t/>
            </a:r>
          </a:p>
          <a:p xmlns:a="http://schemas.openxmlformats.org/drawingml/2006/main">
            <a:r>
              <a:t>자료: 사용자 제공 수정 Agenda, 기존 교재 및 본 저장소. 상세 출처는 docs/SOURCES.md.</a:t>
            </a:r>
          </a:p>
          <a:p xmlns:a="http://schemas.openxmlformats.org/drawingml/2006/main">
            <a:r>
              <a:t/>
            </a:r>
          </a:p>
          <a:p xmlns:a="http://schemas.openxmlformats.org/drawingml/2006/main">
            <a:r>
              <a:t>화면 출처: 1 - 교과 과정(2D)\1 - [한국인프라] Omniverse 세부 설명.pptx, 슬라이드 32. 원본 이미지 추출, 합성 UI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 파일을 두 사람이 동시에 덮어쓰지 않는 간단한 분업부터 시작한다. 같은 속성을 수정했을 때와 다른 속성을 수정했을 때의 결과를 비교한다.</a:t>
            </a:r>
          </a:p>
          <a:p xmlns:a="http://schemas.openxmlformats.org/drawingml/2006/main">
            <a:r>
              <a:t/>
            </a:r>
          </a:p>
          <a:p xmlns:a="http://schemas.openxmlformats.org/drawingml/2006/main">
            <a:r>
              <a:t>실습 연결: day1/part6_collaboration/EXPANDED_LAB.md</a:t>
            </a:r>
          </a:p>
          <a:p xmlns:a="http://schemas.openxmlformats.org/drawingml/2006/main">
            <a:r>
              <a:t>시간: 기본 실습 32분 + 선택 확장 20분.</a:t>
            </a:r>
          </a:p>
          <a:p xmlns:a="http://schemas.openxmlformats.org/drawingml/2006/main">
            <a:r>
              <a:t>진단 질문: Git 파일 이력과 Nucleus Live Session은 같은 기능인가?</a:t>
            </a:r>
          </a:p>
          <a:p xmlns:a="http://schemas.openxmlformats.org/drawingml/2006/main">
            <a:r>
              <a:t>예상 답: 아니다. Git은 파일 버전 관리이고 Nucleus/Live는 서버·앱의 공유 및 세션 기능이다. 사용 환경과 검증 절차가 다르다.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Nucleus Workstation과 Launcher는 2025-10-01 폐기되었다. 신규 Workstation 설치를 요구하지 않는다. 서버가 없으면 로컬 Layer 분업을 진행하고 이를 Nucleus Live 실습이라고 부르지 않는다. 출처 https://developer.nvidia.com/omniverse/legacy-tools</a:t>
            </a:r>
          </a:p>
          <a:p xmlns:a="http://schemas.openxmlformats.org/drawingml/2006/main">
            <a:r>
              <a:t/>
            </a:r>
          </a:p>
          <a:p xmlns:a="http://schemas.openxmlformats.org/drawingml/2006/main">
            <a:r>
              <a:t>실습 연결: day1/part6_collaboration/EXPANDED_LAB.md</a:t>
            </a:r>
          </a:p>
          <a:p xmlns:a="http://schemas.openxmlformats.org/drawingml/2006/main">
            <a:r>
              <a:t>시간: 기본 실습 32분 + 선택 확장 20분.</a:t>
            </a:r>
          </a:p>
          <a:p xmlns:a="http://schemas.openxmlformats.org/drawingml/2006/main">
            <a:r>
              <a:t>진단 질문: Git 파일 이력과 Nucleus Live Session은 같은 기능인가?</a:t>
            </a:r>
          </a:p>
          <a:p xmlns:a="http://schemas.openxmlformats.org/drawingml/2006/main">
            <a:r>
              <a:t>예상 답: 아니다. Git은 파일 버전 관리이고 Nucleus/Live는 서버·앱의 공유 및 세션 기능이다. 사용 환경과 검증 절차가 다르다.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Part 기본 32분+확장20분 안에서 진행한다. 실습 결과가 충분하면 별도 서버 구축이나 복잡한 동시 편집을 추가하지 않는다.</a:t>
            </a:r>
          </a:p>
          <a:p xmlns:a="http://schemas.openxmlformats.org/drawingml/2006/main">
            <a:r>
              <a:t/>
            </a:r>
          </a:p>
          <a:p xmlns:a="http://schemas.openxmlformats.org/drawingml/2006/main">
            <a:r>
              <a:t>실습 연결: day1/part6_collaboration/EXPANDED_LAB.md</a:t>
            </a:r>
          </a:p>
          <a:p xmlns:a="http://schemas.openxmlformats.org/drawingml/2006/main">
            <a:r>
              <a:t>시간: 기본 실습 32분 + 선택 확장 20분.</a:t>
            </a:r>
          </a:p>
          <a:p xmlns:a="http://schemas.openxmlformats.org/drawingml/2006/main">
            <a:r>
              <a:t>진단 질문: Git 파일 이력과 Nucleus Live Session은 같은 기능인가?</a:t>
            </a:r>
          </a:p>
          <a:p xmlns:a="http://schemas.openxmlformats.org/drawingml/2006/main">
            <a:r>
              <a:t>예상 답: 아니다. Git은 파일 버전 관리이고 Nucleus/Live는 서버·앱의 공유 및 세션 기능이다. 사용 환경과 검증 절차가 다르다.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Q&amp;A와 결과 점검은 마지막 Part 배정 시간 안에 포함한다. Day 2에는 새 체크포인트를 제공하므로 첫날 편집에 실패해도 계속 진행할 수 있다.</a:t>
            </a:r>
          </a:p>
          <a:p xmlns:a="http://schemas.openxmlformats.org/drawingml/2006/main">
            <a:r>
              <a:t/>
            </a:r>
          </a:p>
          <a:p xmlns:a="http://schemas.openxmlformats.org/drawingml/2006/main">
            <a:r>
              <a:t>실습 연결: day1/part6_collaboration/EXPANDED_LAB.md</a:t>
            </a:r>
          </a:p>
          <a:p xmlns:a="http://schemas.openxmlformats.org/drawingml/2006/main">
            <a:r>
              <a:t>시간: 기본 실습 32분 + 선택 확장 20분.</a:t>
            </a:r>
          </a:p>
          <a:p xmlns:a="http://schemas.openxmlformats.org/drawingml/2006/main">
            <a:r>
              <a:t>진단 질문: Git 파일 이력과 Nucleus Live Session은 같은 기능인가?</a:t>
            </a:r>
          </a:p>
          <a:p xmlns:a="http://schemas.openxmlformats.org/drawingml/2006/main">
            <a:r>
              <a:t>예상 답: 아니다. Git은 파일 버전 관리이고 Nucleus/Live는 서버·앱의 공유 및 세션 기능이다. 사용 환경과 검증 절차가 다르다.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1 구조와 파일 경로를 짧게 복습한다. 학습자가 첫날 파일을 손상시켰다면 제공된 02 또는 03 체크포인트를 사용한다.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SimReady는 목적에 맞는 준비 상태라는 점을 강조한다. 여기서는 작은 작업물과 바닥 접촉만 다룬다. 산업 장비 전체 검증이나 인증을 의미하지 않는다.</a:t>
            </a:r>
          </a:p>
          <a:p xmlns:a="http://schemas.openxmlformats.org/drawingml/2006/main">
            <a:r>
              <a:t/>
            </a:r>
          </a:p>
          <a:p xmlns:a="http://schemas.openxmlformats.org/drawingml/2006/main">
            <a:r>
              <a:t>실습 연결: day2/part1_simready/EXPANDED_LAB.md</a:t>
            </a:r>
          </a:p>
          <a:p xmlns:a="http://schemas.openxmlformats.org/drawingml/2006/main">
            <a:r>
              <a:t>시간: 기본 실습 8분 + 선택 확장 7분.</a:t>
            </a:r>
          </a:p>
          <a:p xmlns:a="http://schemas.openxmlformats.org/drawingml/2006/main">
            <a:r>
              <a:t>진단 질문: 모든 항목 PASS면 실제 장비의 동작이 검증된 것인가?</a:t>
            </a:r>
          </a:p>
          <a:p xmlns:a="http://schemas.openxmlformats.org/drawingml/2006/main">
            <a:r>
              <a:t>예상 답: 아니다. 이 검사는 제한된 USD 속성의 존재와 값만 확인한다. 런타임 동작과 실제 장비 모델의 타당성은 별도 검증이다.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08_check_readiness는 코드에 정한 조건만 검사한다. CHECK가 항상 파일 손상이라는 의미는 아니며 아직 설정하지 않은 단계일 수 있다. 런타임 Play 결과는 따로 관찰한다.</a:t>
            </a:r>
          </a:p>
          <a:p xmlns:a="http://schemas.openxmlformats.org/drawingml/2006/main">
            <a:r>
              <a:t/>
            </a:r>
          </a:p>
          <a:p xmlns:a="http://schemas.openxmlformats.org/drawingml/2006/main">
            <a:r>
              <a:t>실습 연결: day2/part1_simready/EXPANDED_LAB.md</a:t>
            </a:r>
          </a:p>
          <a:p xmlns:a="http://schemas.openxmlformats.org/drawingml/2006/main">
            <a:r>
              <a:t>시간: 기본 실습 8분 + 선택 확장 7분.</a:t>
            </a:r>
          </a:p>
          <a:p xmlns:a="http://schemas.openxmlformats.org/drawingml/2006/main">
            <a:r>
              <a:t>진단 질문: 모든 항목 PASS면 실제 장비의 동작이 검증된 것인가?</a:t>
            </a:r>
          </a:p>
          <a:p xmlns:a="http://schemas.openxmlformats.org/drawingml/2006/main">
            <a:r>
              <a:t>예상 답: 아니다. 이 검사는 제한된 USD 속성의 존재와 값만 확인한다. 런타임 동작과 실제 장비 모델의 타당성은 별도 검증이다.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전환 기호는 실행 순서를 뜻한다. 교육생에게 결과를 복사하게만 하지 말고 어떤 API나 값 때문에 통과했는지 설명하게 한다.</a:t>
            </a:r>
          </a:p>
          <a:p xmlns:a="http://schemas.openxmlformats.org/drawingml/2006/main">
            <a:r>
              <a:t/>
            </a:r>
          </a:p>
          <a:p xmlns:a="http://schemas.openxmlformats.org/drawingml/2006/main">
            <a:r>
              <a:t>실습 연결: day2/part1_simready/EXPANDED_LAB.md</a:t>
            </a:r>
          </a:p>
          <a:p xmlns:a="http://schemas.openxmlformats.org/drawingml/2006/main">
            <a:r>
              <a:t>시간: 기본 실습 8분 + 선택 확장 7분.</a:t>
            </a:r>
          </a:p>
          <a:p xmlns:a="http://schemas.openxmlformats.org/drawingml/2006/main">
            <a:r>
              <a:t>진단 질문: 모든 항목 PASS면 실제 장비의 동작이 검증된 것인가?</a:t>
            </a:r>
          </a:p>
          <a:p xmlns:a="http://schemas.openxmlformats.org/drawingml/2006/main">
            <a:r>
              <a:t>예상 답: 아니다. 이 검사는 제한된 USD 속성의 존재와 값만 확인한다. 런타임 동작과 실제 장비 모델의 타당성은 별도 검증이다.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CAD에는 관절 및 강체 API가 이미 포함되어 있었다. 01_layout local override가 이를 제거하고 Joint를 비활성화한다. 03에서 활성 Rigid Body는 Workpiece 하나다.</a:t>
            </a:r>
          </a:p>
          <a:p xmlns:a="http://schemas.openxmlformats.org/drawingml/2006/main">
            <a:r>
              <a:t/>
            </a:r>
          </a:p>
          <a:p xmlns:a="http://schemas.openxmlformats.org/drawingml/2006/main">
            <a:r>
              <a:t>실습 연결: day2/part2_hierarchy/EXPANDED_LAB.md</a:t>
            </a:r>
          </a:p>
          <a:p xmlns:a="http://schemas.openxmlformats.org/drawingml/2006/main">
            <a:r>
              <a:t>시간: 기본 실습 18분 + 선택 확장 12분.</a:t>
            </a:r>
          </a:p>
          <a:p xmlns:a="http://schemas.openxmlformats.org/drawingml/2006/main">
            <a:r>
              <a:t>진단 질문: CAD 전체에 Rigid Body를 한꺼번에 추가하면 무엇이 문제가 될까?</a:t>
            </a:r>
          </a:p>
          <a:p xmlns:a="http://schemas.openxmlformats.org/drawingml/2006/main">
            <a:r>
              <a:t>예상 답: 기존 계층과 물리 구조가 충돌하거나 불필요한 동적 객체가 늘 수 있다. 이번에는 작업물에만 적용한다.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원본을 직접 열면 공통 장면과 물리 상태가 다르다. 이를 숨기지 않고 사례로 활용한다. 범용 API 일괄 적용을 피하고 정확한 대상 경로를 확인하게 한다.</a:t>
            </a:r>
          </a:p>
          <a:p xmlns:a="http://schemas.openxmlformats.org/drawingml/2006/main">
            <a:r>
              <a:t/>
            </a:r>
          </a:p>
          <a:p xmlns:a="http://schemas.openxmlformats.org/drawingml/2006/main">
            <a:r>
              <a:t>실습 연결: day2/part2_hierarchy/EXPANDED_LAB.md</a:t>
            </a:r>
          </a:p>
          <a:p xmlns:a="http://schemas.openxmlformats.org/drawingml/2006/main">
            <a:r>
              <a:t>시간: 기본 실습 18분 + 선택 확장 12분.</a:t>
            </a:r>
          </a:p>
          <a:p xmlns:a="http://schemas.openxmlformats.org/drawingml/2006/main">
            <a:r>
              <a:t>진단 질문: CAD 전체에 Rigid Body를 한꺼번에 추가하면 무엇이 문제가 될까?</a:t>
            </a:r>
          </a:p>
          <a:p xmlns:a="http://schemas.openxmlformats.org/drawingml/2006/main">
            <a:r>
              <a:t>예상 답: 기존 계층과 물리 구조가 충돌하거나 불필요한 동적 객체가 늘 수 있다. 이번에는 작업물에만 적용한다.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장면에서 Workpiece는 Equipment의 변환에 끌려가지 않도록 독립 배치했다. 실제 설비 설계마다 계층은 달라질 수 있으므로 하나의 정답 계층으로 일반화하지 않는다.</a:t>
            </a:r>
          </a:p>
          <a:p xmlns:a="http://schemas.openxmlformats.org/drawingml/2006/main">
            <a:r>
              <a:t/>
            </a:r>
          </a:p>
          <a:p xmlns:a="http://schemas.openxmlformats.org/drawingml/2006/main">
            <a:r>
              <a:t>실습 연결: day2/part2_hierarchy/EXPANDED_LAB.md</a:t>
            </a:r>
          </a:p>
          <a:p xmlns:a="http://schemas.openxmlformats.org/drawingml/2006/main">
            <a:r>
              <a:t>시간: 기본 실습 18분 + 선택 확장 12분.</a:t>
            </a:r>
          </a:p>
          <a:p xmlns:a="http://schemas.openxmlformats.org/drawingml/2006/main">
            <a:r>
              <a:t>진단 질문: CAD 전체에 Rigid Body를 한꺼번에 추가하면 무엇이 문제가 될까?</a:t>
            </a:r>
          </a:p>
          <a:p xmlns:a="http://schemas.openxmlformats.org/drawingml/2006/main">
            <a:r>
              <a:t>예상 답: 기존 계층과 물리 구조가 충돌하거나 불필요한 동적 객체가 늘 수 있다. 이번에는 작업물에만 적용한다.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보이는 Mesh와 충돌 형상은 별개이며 Collider만 있다고 중력으로 움직이지 않는다. 바닥에는 Rigid Body를 적용하지 않는다. 관성은 단순 Cube의 자동 계산을 사용한다.</a:t>
            </a:r>
          </a:p>
          <a:p xmlns:a="http://schemas.openxmlformats.org/drawingml/2006/main">
            <a:r>
              <a:t/>
            </a:r>
          </a:p>
          <a:p xmlns:a="http://schemas.openxmlformats.org/drawingml/2006/main">
            <a:r>
              <a:t>실습 연결: day2/part3_physics_concepts/EXPANDED_LAB.md</a:t>
            </a:r>
          </a:p>
          <a:p xmlns:a="http://schemas.openxmlformats.org/drawingml/2006/main">
            <a:r>
              <a:t>시간: 기본 실습 9분 + 선택 확장 6분.</a:t>
            </a:r>
          </a:p>
          <a:p xmlns:a="http://schemas.openxmlformats.org/drawingml/2006/main">
            <a:r>
              <a:t>진단 질문: A와 B는 질량이 다른데 왜 비슷하게 떨어질까?</a:t>
            </a:r>
          </a:p>
          <a:p xmlns:a="http://schemas.openxmlformats.org/drawingml/2006/main">
            <a:r>
              <a:t>예상 답: 공기 저항 없는 동일 중력에서 자유낙하 가속도는 질량에 의존하지 않는다. C는 초기 높이가 달라 낙하 시간이 길다.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06_physics_comparison은 세 Cube를 독립 경로에 둔다. A/B에서는 질량만, A/C에서는 높이만 달라진다. 모두 한 변 0.2m이며 바닥 z=0이다.</a:t>
            </a:r>
          </a:p>
          <a:p xmlns:a="http://schemas.openxmlformats.org/drawingml/2006/main">
            <a:r>
              <a:t/>
            </a:r>
          </a:p>
          <a:p xmlns:a="http://schemas.openxmlformats.org/drawingml/2006/main">
            <a:r>
              <a:t>실습 연결: day2/part3_physics_concepts/EXPANDED_LAB.md</a:t>
            </a:r>
          </a:p>
          <a:p xmlns:a="http://schemas.openxmlformats.org/drawingml/2006/main">
            <a:r>
              <a:t>시간: 기본 실습 9분 + 선택 확장 6분.</a:t>
            </a:r>
          </a:p>
          <a:p xmlns:a="http://schemas.openxmlformats.org/drawingml/2006/main">
            <a:r>
              <a:t>진단 질문: A와 B는 질량이 다른데 왜 비슷하게 떨어질까?</a:t>
            </a:r>
          </a:p>
          <a:p xmlns:a="http://schemas.openxmlformats.org/drawingml/2006/main">
            <a:r>
              <a:t>예상 답: 공기 저항 없는 동일 중력에서 자유낙하 가속도는 질량에 의존하지 않는다. C는 초기 높이가 달라 낙하 시간이 길다.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 계산: 바닥 접촉까지 중심 이동은 z0-0.1이고 t=sqrt(2d/g). 1.5m는 약0.534초, 2.5m는 약0.700초의 이상값이다. 접촉 여유와 시간 간격은 관찰 결과에 영향을 준다.</a:t>
            </a:r>
          </a:p>
          <a:p xmlns:a="http://schemas.openxmlformats.org/drawingml/2006/main">
            <a:r>
              <a:t/>
            </a:r>
          </a:p>
          <a:p xmlns:a="http://schemas.openxmlformats.org/drawingml/2006/main">
            <a:r>
              <a:t>실습 연결: day2/part3_physics_concepts/EXPANDED_LAB.md</a:t>
            </a:r>
          </a:p>
          <a:p xmlns:a="http://schemas.openxmlformats.org/drawingml/2006/main">
            <a:r>
              <a:t>시간: 기본 실습 9분 + 선택 확장 6분.</a:t>
            </a:r>
          </a:p>
          <a:p xmlns:a="http://schemas.openxmlformats.org/drawingml/2006/main">
            <a:r>
              <a:t>진단 질문: A와 B는 질량이 다른데 왜 비슷하게 떨어질까?</a:t>
            </a:r>
          </a:p>
          <a:p xmlns:a="http://schemas.openxmlformats.org/drawingml/2006/main">
            <a:r>
              <a:t>예상 답: 공기 저항 없는 동일 중력에서 자유낙하 가속도는 질량에 의존하지 않는다. C는 초기 높이가 달라 낙하 시간이 길다.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색만으로 질량을 외우게 하지 말고 Prim 이름 A/B/C와 Mass 값을 함께 확인한다. 단일 화면 관찰을 정량적인 물리 검증으로 과장하지 않는다.</a:t>
            </a:r>
          </a:p>
          <a:p xmlns:a="http://schemas.openxmlformats.org/drawingml/2006/main">
            <a:r>
              <a:t/>
            </a:r>
          </a:p>
          <a:p xmlns:a="http://schemas.openxmlformats.org/drawingml/2006/main">
            <a:r>
              <a:t>실습 연결: day2/part3_physics_concepts/EXPANDED_LAB.md</a:t>
            </a:r>
          </a:p>
          <a:p xmlns:a="http://schemas.openxmlformats.org/drawingml/2006/main">
            <a:r>
              <a:t>시간: 기본 실습 9분 + 선택 확장 6분.</a:t>
            </a:r>
          </a:p>
          <a:p xmlns:a="http://schemas.openxmlformats.org/drawingml/2006/main">
            <a:r>
              <a:t>진단 질문: A와 B는 질량이 다른데 왜 비슷하게 떨어질까?</a:t>
            </a:r>
          </a:p>
          <a:p xmlns:a="http://schemas.openxmlformats.org/drawingml/2006/main">
            <a:r>
              <a:t>예상 답: 공기 저항 없는 동일 중력에서 자유낙하 가속도는 질량에 의존하지 않는다. C는 초기 높이가 달라 낙하 시간이 길다.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GUI와 API 속성을 연결한다. 이 짧은 코드는 전체 장면 생성 코드가 아니며 이미 열린 stage가 필요하다. 실행용 파일은 00 다음 02를 사용한다.</a:t>
            </a:r>
          </a:p>
          <a:p xmlns:a="http://schemas.openxmlformats.org/drawingml/2006/main">
            <a:r>
              <a:t/>
            </a:r>
          </a:p>
          <a:p xmlns:a="http://schemas.openxmlformats.org/drawingml/2006/main">
            <a:r>
              <a:t>실습 연결: day2/part4_physics_setup/EXPANDED_LAB.md</a:t>
            </a:r>
          </a:p>
          <a:p xmlns:a="http://schemas.openxmlformats.org/drawingml/2006/main">
            <a:r>
              <a:t>시간: 기본 실습 15분 + 선택 확장 8분.</a:t>
            </a:r>
          </a:p>
          <a:p xmlns:a="http://schemas.openxmlformats.org/drawingml/2006/main">
            <a:r>
              <a:t>진단 질문: Collider API가 붙어 있는데도 통과할 수 있는가?</a:t>
            </a:r>
          </a:p>
          <a:p xmlns:a="http://schemas.openxmlformats.org/drawingml/2006/main">
            <a:r>
              <a:t>예상 답: 가능하다. collisionEnabled가 False이면 비활성 상태이다. 스키마 적용 여부와 활성값을 함께 확인한다.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11_fault_collision은 API를 제거하지 않고 활성값을 False로 했다. 스키마 존재와 활성 상태를 함께 검사하도록 유도한다.</a:t>
            </a:r>
          </a:p>
          <a:p xmlns:a="http://schemas.openxmlformats.org/drawingml/2006/main">
            <a:r>
              <a:t/>
            </a:r>
          </a:p>
          <a:p xmlns:a="http://schemas.openxmlformats.org/drawingml/2006/main">
            <a:r>
              <a:t>실습 연결: day2/part4_physics_setup/EXPANDED_LAB.md</a:t>
            </a:r>
          </a:p>
          <a:p xmlns:a="http://schemas.openxmlformats.org/drawingml/2006/main">
            <a:r>
              <a:t>시간: 기본 실습 15분 + 선택 확장 8분.</a:t>
            </a:r>
          </a:p>
          <a:p xmlns:a="http://schemas.openxmlformats.org/drawingml/2006/main">
            <a:r>
              <a:t>진단 질문: Collider API가 붙어 있는데도 통과할 수 있는가?</a:t>
            </a:r>
          </a:p>
          <a:p xmlns:a="http://schemas.openxmlformats.org/drawingml/2006/main">
            <a:r>
              <a:t>예상 답: 가능하다. collisionEnabled가 False이면 비활성 상태이다. 스키마 적용 여부와 활성값을 함께 확인한다.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완료 증거는 수정 전 증상, 변경 속성, 수정 후 결과 세 가지다. API 적용만 반복하는 대신 비활성 속성을 직접 찾게 한다.</a:t>
            </a:r>
          </a:p>
          <a:p xmlns:a="http://schemas.openxmlformats.org/drawingml/2006/main">
            <a:r>
              <a:t/>
            </a:r>
          </a:p>
          <a:p xmlns:a="http://schemas.openxmlformats.org/drawingml/2006/main">
            <a:r>
              <a:t>실습 연결: day2/part4_physics_setup/EXPANDED_LAB.md</a:t>
            </a:r>
          </a:p>
          <a:p xmlns:a="http://schemas.openxmlformats.org/drawingml/2006/main">
            <a:r>
              <a:t>시간: 기본 실습 15분 + 선택 확장 8분.</a:t>
            </a:r>
          </a:p>
          <a:p xmlns:a="http://schemas.openxmlformats.org/drawingml/2006/main">
            <a:r>
              <a:t>진단 질문: Collider API가 붙어 있는데도 통과할 수 있는가?</a:t>
            </a:r>
          </a:p>
          <a:p xmlns:a="http://schemas.openxmlformats.org/drawingml/2006/main">
            <a:r>
              <a:t>예상 답: 가능하다. collisionEnabled가 False이면 비활성 상태이다. 스키마 적용 여부와 활성값을 함께 확인한다.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경험이 초급이므로 실행 위치와 들여쓰기부터 설명한다. 일반 PowerShell Python에서 omni를 import하는 예제가 아니다. 00에서 모듈 경로를 준비한다.</a:t>
            </a:r>
          </a:p>
          <a:p xmlns:a="http://schemas.openxmlformats.org/drawingml/2006/main">
            <a:r>
              <a:t/>
            </a:r>
          </a:p>
          <a:p xmlns:a="http://schemas.openxmlformats.org/drawingml/2006/main">
            <a:r>
              <a:t>실습 연결: day2/part5_python/EXPANDED_LAB.md</a:t>
            </a:r>
          </a:p>
          <a:p xmlns:a="http://schemas.openxmlformats.org/drawingml/2006/main">
            <a:r>
              <a:t>시간: 기본 실습 18분 + 선택 확장 12분.</a:t>
            </a:r>
          </a:p>
          <a:p xmlns:a="http://schemas.openxmlformats.org/drawingml/2006/main">
            <a:r>
              <a:t>진단 질문: 실행할 때마다 6개씩 추가되는 것과 최종 6개를 유지하는 것 중 재실행에는 무엇이 유리할까?</a:t>
            </a:r>
          </a:p>
          <a:p xmlns:a="http://schemas.openxmlformats.org/drawingml/2006/main">
            <a:r>
              <a:t>예상 답: 같은 입력에서 같은 개수를 만드는 방식이 검증하기 쉽다. 이 함수는 교육용 Batch 경로만 교체한다.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전에 03_physics를 열고 00을 실행한다. 경로를 잘못 입력했을 때 유효한 Prim인지 검사해야 함을 설명한다.</a:t>
            </a:r>
          </a:p>
          <a:p xmlns:a="http://schemas.openxmlformats.org/drawingml/2006/main">
            <a:r>
              <a:t/>
            </a:r>
          </a:p>
          <a:p xmlns:a="http://schemas.openxmlformats.org/drawingml/2006/main">
            <a:r>
              <a:t>실습 연결: day2/part5_python/EXPANDED_LAB.md</a:t>
            </a:r>
          </a:p>
          <a:p xmlns:a="http://schemas.openxmlformats.org/drawingml/2006/main">
            <a:r>
              <a:t>시간: 기본 실습 18분 + 선택 확장 12분.</a:t>
            </a:r>
          </a:p>
          <a:p xmlns:a="http://schemas.openxmlformats.org/drawingml/2006/main">
            <a:r>
              <a:t>진단 질문: 실행할 때마다 6개씩 추가되는 것과 최종 6개를 유지하는 것 중 재실행에는 무엇이 유리할까?</a:t>
            </a:r>
          </a:p>
          <a:p xmlns:a="http://schemas.openxmlformats.org/drawingml/2006/main">
            <a:r>
              <a:t>예상 답: 같은 입력에서 같은 개수를 만드는 방식이 검증하기 쉽다. 이 함수는 교육용 Batch 경로만 교체한다.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파일 03_change_properties.py를 이용한다. 값 두 개를 동시에 바꾸기 전에 높이 하나, 질량 하나를 따로 바꿔 원인과 결과를 분리한다.</a:t>
            </a:r>
          </a:p>
          <a:p xmlns:a="http://schemas.openxmlformats.org/drawingml/2006/main">
            <a:r>
              <a:t/>
            </a:r>
          </a:p>
          <a:p xmlns:a="http://schemas.openxmlformats.org/drawingml/2006/main">
            <a:r>
              <a:t>실습 연결: day2/part5_python/EXPANDED_LAB.md</a:t>
            </a:r>
          </a:p>
          <a:p xmlns:a="http://schemas.openxmlformats.org/drawingml/2006/main">
            <a:r>
              <a:t>시간: 기본 실습 18분 + 선택 확장 12분.</a:t>
            </a:r>
          </a:p>
          <a:p xmlns:a="http://schemas.openxmlformats.org/drawingml/2006/main">
            <a:r>
              <a:t>진단 질문: 실행할 때마다 6개씩 추가되는 것과 최종 6개를 유지하는 것 중 재실행에는 무엇이 유리할까?</a:t>
            </a:r>
          </a:p>
          <a:p xmlns:a="http://schemas.openxmlformats.org/drawingml/2006/main">
            <a:r>
              <a:t>예상 답: 같은 입력에서 같은 개수를 만드는 방식이 검증하기 쉽다. 이 함수는 교육용 Batch 경로만 교체한다.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생성 함수는 workshop_plus.batch_parts이다. 이 코드는 핵심 반복 구조 설명용이다. 반복 실행 시 Batch 전용 경로를 교체하는 정책을 함께 설명한다.</a:t>
            </a:r>
          </a:p>
          <a:p xmlns:a="http://schemas.openxmlformats.org/drawingml/2006/main">
            <a:r>
              <a:t/>
            </a:r>
          </a:p>
          <a:p xmlns:a="http://schemas.openxmlformats.org/drawingml/2006/main">
            <a:r>
              <a:t>실습 연결: day2/part5_python/EXPANDED_LAB.md</a:t>
            </a:r>
          </a:p>
          <a:p xmlns:a="http://schemas.openxmlformats.org/drawingml/2006/main">
            <a:r>
              <a:t>시간: 기본 실습 18분 + 선택 확장 12분.</a:t>
            </a:r>
          </a:p>
          <a:p xmlns:a="http://schemas.openxmlformats.org/drawingml/2006/main">
            <a:r>
              <a:t>진단 질문: 실행할 때마다 6개씩 추가되는 것과 최종 6개를 유지하는 것 중 재실행에는 무엇이 유리할까?</a:t>
            </a:r>
          </a:p>
          <a:p xmlns:a="http://schemas.openxmlformats.org/drawingml/2006/main">
            <a:r>
              <a:t>예상 답: 같은 입력에서 같은 개수를 만드는 방식이 검증하기 쉽다. 이 함수는 교육용 Batch 경로만 교체한다.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 예제의 객체에는 물리 API를 적용하지 않는다. 일괄 생성·식별·재실행을 배우는 예제다. 모든 새 자산을 자동 강체로 만드는 범위로 확대하지 않는다.</a:t>
            </a:r>
          </a:p>
          <a:p xmlns:a="http://schemas.openxmlformats.org/drawingml/2006/main">
            <a:r>
              <a:t/>
            </a:r>
          </a:p>
          <a:p xmlns:a="http://schemas.openxmlformats.org/drawingml/2006/main">
            <a:r>
              <a:t>실습 연결: day2/part5_python/EXPANDED_LAB.md</a:t>
            </a:r>
          </a:p>
          <a:p xmlns:a="http://schemas.openxmlformats.org/drawingml/2006/main">
            <a:r>
              <a:t>시간: 기본 실습 18분 + 선택 확장 12분.</a:t>
            </a:r>
          </a:p>
          <a:p xmlns:a="http://schemas.openxmlformats.org/drawingml/2006/main">
            <a:r>
              <a:t>진단 질문: 실행할 때마다 6개씩 추가되는 것과 최종 6개를 유지하는 것 중 재실행에는 무엇이 유리할까?</a:t>
            </a:r>
          </a:p>
          <a:p xmlns:a="http://schemas.openxmlformats.org/drawingml/2006/main">
            <a:r>
              <a:t>예상 답: 같은 입력에서 같은 개수를 만드는 방식이 검증하기 쉽다. 이 함수는 교육용 Batch 경로만 교체한다.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스크립트에서 asyncio와 await의 역할을 설명한다. 앱 업데이트 횟수와 물리 시간이 같다고 가정하지 않으며 Timeline time을 사용한다. 시간 초과와 장면 변경도 점검한다.</a:t>
            </a:r>
          </a:p>
          <a:p xmlns:a="http://schemas.openxmlformats.org/drawingml/2006/main">
            <a:r>
              <a:t/>
            </a:r>
          </a:p>
          <a:p xmlns:a="http://schemas.openxmlformats.org/drawingml/2006/main">
            <a:r>
              <a:t>실습 연결: day2/part6_automation/EXPANDED_LAB.md</a:t>
            </a:r>
          </a:p>
          <a:p xmlns:a="http://schemas.openxmlformats.org/drawingml/2006/main">
            <a:r>
              <a:t>시간: 기본 실습 10분 + 선택 확장 5분.</a:t>
            </a:r>
          </a:p>
          <a:p xmlns:a="http://schemas.openxmlformats.org/drawingml/2006/main">
            <a:r>
              <a:t>진단 질문: CSV가 생성되면 낙하 검증을 모두 통과한 것인가?</a:t>
            </a:r>
          </a:p>
          <a:p xmlns:a="http://schemas.openxmlformats.org/drawingml/2006/main">
            <a:r>
              <a:t>예상 답: 아니다. 스크립트가 기록한 항목과 실제 물리 관찰이 일치하는지 별도로 확인해야 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코드를 독립 실행 가능한 전체 예제로 제시하지 않는다. async 함수 안에 있어야 하며 app과 timeline은 사전에 준비해야 한다. 실행은 04 파일을 이용한다.</a:t>
            </a:r>
          </a:p>
          <a:p xmlns:a="http://schemas.openxmlformats.org/drawingml/2006/main">
            <a:r>
              <a:t/>
            </a:r>
          </a:p>
          <a:p xmlns:a="http://schemas.openxmlformats.org/drawingml/2006/main">
            <a:r>
              <a:t>실습 연결: day2/part6_automation/EXPANDED_LAB.md</a:t>
            </a:r>
          </a:p>
          <a:p xmlns:a="http://schemas.openxmlformats.org/drawingml/2006/main">
            <a:r>
              <a:t>시간: 기본 실습 10분 + 선택 확장 5분.</a:t>
            </a:r>
          </a:p>
          <a:p xmlns:a="http://schemas.openxmlformats.org/drawingml/2006/main">
            <a:r>
              <a:t>진단 질문: CSV가 생성되면 낙하 검증을 모두 통과한 것인가?</a:t>
            </a:r>
          </a:p>
          <a:p xmlns:a="http://schemas.openxmlformats.org/drawingml/2006/main">
            <a:r>
              <a:t>예상 답: 아니다. 스크립트가 기록한 항목과 실제 물리 관찰이 일치하는지 별도로 확인해야 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스크립트는 위치/속도를 측정하지 않는다. 데이터 열 이름과 실제 의미를 일치시키는 습관이 자동화 교육의 일부다.</a:t>
            </a:r>
          </a:p>
          <a:p xmlns:a="http://schemas.openxmlformats.org/drawingml/2006/main">
            <a:r>
              <a:t/>
            </a:r>
          </a:p>
          <a:p xmlns:a="http://schemas.openxmlformats.org/drawingml/2006/main">
            <a:r>
              <a:t>실습 연결: day2/part6_automation/EXPANDED_LAB.md</a:t>
            </a:r>
          </a:p>
          <a:p xmlns:a="http://schemas.openxmlformats.org/drawingml/2006/main">
            <a:r>
              <a:t>시간: 기본 실습 10분 + 선택 확장 5분.</a:t>
            </a:r>
          </a:p>
          <a:p xmlns:a="http://schemas.openxmlformats.org/drawingml/2006/main">
            <a:r>
              <a:t>진단 질문: CSV가 생성되면 낙하 검증을 모두 통과한 것인가?</a:t>
            </a:r>
          </a:p>
          <a:p xmlns:a="http://schemas.openxmlformats.org/drawingml/2006/main">
            <a:r>
              <a:t>예상 답: 아니다. 스크립트가 기록한 항목과 실제 물리 관찰이 일치하는지 별도로 확인해야 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이전 결과를 보존하려면 실행 전에 CSV 이름을 바꾸도록 안내한다. 결과 파일 생성만으로 물리 성공을 판단하지 않는다.</a:t>
            </a:r>
          </a:p>
          <a:p xmlns:a="http://schemas.openxmlformats.org/drawingml/2006/main">
            <a:r>
              <a:t/>
            </a:r>
          </a:p>
          <a:p xmlns:a="http://schemas.openxmlformats.org/drawingml/2006/main">
            <a:r>
              <a:t>실습 연결: day2/part6_automation/EXPANDED_LAB.md</a:t>
            </a:r>
          </a:p>
          <a:p xmlns:a="http://schemas.openxmlformats.org/drawingml/2006/main">
            <a:r>
              <a:t>시간: 기본 실습 10분 + 선택 확장 5분.</a:t>
            </a:r>
          </a:p>
          <a:p xmlns:a="http://schemas.openxmlformats.org/drawingml/2006/main">
            <a:r>
              <a:t>진단 질문: CSV가 생성되면 낙하 검증을 모두 통과한 것인가?</a:t>
            </a:r>
          </a:p>
          <a:p xmlns:a="http://schemas.openxmlformats.org/drawingml/2006/main">
            <a:r>
              <a:t>예상 답: 아니다. 스크립트가 기록한 항목과 실제 물리 관찰이 일치하는지 별도로 확인해야 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실습은 실제 설비 연동 없이 CSV를 읽어 USD custom 속성과 색으로 표현한다. 원본 데이터의 단위, 출처, 시각을 함께 확인한다.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반드시 ALARM을 먼저 판정한다. &gt;= 경계를 테스트한다. 임계값은 교육용 가정이며 실제 설비 안전 기준이 아니다.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shared/data/equipment_status.csv의 실제 제공값을 차트에 반영했다. 5초는 온도가80 미만이지만 진동이7이므로 ALARM이다. 온도 그래프만으로 전체 상태를 판정하지 않는다.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UNKNOWN을 0으로 채우지 않는다. 예제는 현재 시각-샘플 시각&gt;3초일 때 STALE이며 정확히3초는 유효하다. 한 상태 코드로 데이터 품질을 먼저 표현하는 단순 교육 모델이다.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장비의 Housing은 코드로 만든 단순 형상이다. 실제 CAD를 세 번 복제한 장면은 아니다. CAD 장비와 상태 표시의 분리 개념을 재사용한다. 결과 USD와 CSV를 함께 제출한다.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09_thermal_field와 11_thermal_field를 사용한다. uniform interpolation으로 면당 한 색을 기록한다. 이 데이터는 CAE solver 결과가 아닌 합성 field이다. 두 그림의 범례를 다르게 잡으면 시각적 비교가 왜곡될 수 있다.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경로를 모두 수행하지 않는다. 기존 단일 장비 실습30분+선택확장22분의 실습 시간 안에서 진행한다. 역할은 데이터 담당, USD 담당, 검증 담당으로 나누되 소규모 팀은 겸임한다.</a:t>
            </a:r>
          </a:p>
          <a:p xmlns:a="http://schemas.openxmlformats.org/drawingml/2006/main">
            <a:r>
              <a:t/>
            </a:r>
          </a:p>
          <a:p xmlns:a="http://schemas.openxmlformats.org/drawingml/2006/main">
            <a:r>
              <a:t>실습 연결: day2/part7_digital_twin/EXPANDED_LAB.md</a:t>
            </a:r>
          </a:p>
          <a:p xmlns:a="http://schemas.openxmlformats.org/drawingml/2006/main">
            <a:r>
              <a:t>시간: 기본 실습 30분 + 선택 확장 22분.</a:t>
            </a:r>
          </a:p>
          <a:p xmlns:a="http://schemas.openxmlformats.org/drawingml/2006/main">
            <a:r>
              <a:t>진단 질문: 마지막 수치가 정상이라면 오래된 데이터도 녹색으로 표시해도 될까?</a:t>
            </a:r>
          </a:p>
          <a:p xmlns:a="http://schemas.openxmlformats.org/drawingml/2006/main">
            <a:r>
              <a:t>예상 답: 그렇게 단정할 수 없다. 현재 시각과 샘플 시각의 차이를 검사하고 허용 지연을 넘으면 STALE로 표시한다.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각2점 총10점을 교육용 제안으로 사용할 수 있다. 학교 공식 평가 기준이 아니다. CAD Converter와 Nucleus 준비 여부는 교육생 감점 사유가 아니다.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마지막에 각 팀이 무엇을 직접 확인했는지 말하게 한다. 실제 설비 연동, ROS2, 로봇 관절 제어, CAE solver 연계는 후속 교육 범위로 안내한다.</a:t>
            </a:r>
          </a:p>
          <a:p xmlns:a="http://schemas.openxmlformats.org/drawingml/2006/main">
            <a:r>
              <a:t/>
            </a:r>
          </a:p>
          <a:p xmlns:a="http://schemas.openxmlformats.org/drawingml/2006/main">
            <a:r>
              <a:t>자료: 사용자 제공 수정 Agenda, 기존 교재 및 본 저장소. 상세 출처는 docs/SOURCES.md.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2e84a2451f43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b97b2d2c2244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cf51ccac6c49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de7b7741334b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d789432fed4b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6793edb8c144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3EC425-DC4A-4C53-90AC-86CB9C30787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172E36-6AAD-4B9B-ACA0-B3CF11BC85C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65A62D-7CD6-4CAC-A4C6-D79DA4FF4EE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D8BC9D-DEBD-4533-B3DA-5A545EA2194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AF34A7-1656-46D0-86CB-21AE0DE0562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5C4280-89CD-48B2-AB89-879B1779C0A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00E839-DA78-412F-BE98-1CDACFA7B9F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8C2938-17EA-4796-BADE-6DAF3CB1AC9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D429EA-02EE-4F4F-BFC2-A37CFCAE65F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4E5D01-9460-4323-BA40-023C76A1574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be32bf74ad41db" /><Relationship Type="http://schemas.openxmlformats.org/officeDocument/2006/relationships/slideLayout" Target="/ppt/slideLayouts/slideLayout1.xml" Id="Rf2178c6266804d16" /><Relationship Type="http://schemas.openxmlformats.org/officeDocument/2006/relationships/slideLayout" Target="/ppt/slideLayouts/slideLayout2.xml" Id="Rb93afe7c7be64fce" /><Relationship Type="http://schemas.openxmlformats.org/officeDocument/2006/relationships/slideLayout" Target="/ppt/slideLayouts/slideLayout3.xml" Id="R8e2f32f969c14915" /><Relationship Type="http://schemas.openxmlformats.org/officeDocument/2006/relationships/slideLayout" Target="/ppt/slideLayouts/slideLayout4.xml" Id="R9fbcfb4c5a36485f" /><Relationship Type="http://schemas.openxmlformats.org/officeDocument/2006/relationships/slideLayout" Target="/ppt/slideLayouts/slideLayout5.xml" Id="R3f24b3ada4594f2d" /><Relationship Type="http://schemas.openxmlformats.org/officeDocument/2006/relationships/slideLayout" Target="/ppt/slideLayouts/slideLayout6.xml" Id="Reb3a6a6d035b45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178c6266804d16"/>
    <p:sldLayoutId xmlns:r="http://schemas.openxmlformats.org/officeDocument/2006/relationships" id="2147483650" r:id="Rb93afe7c7be64fce"/>
    <p:sldLayoutId xmlns:r="http://schemas.openxmlformats.org/officeDocument/2006/relationships" id="2147483651" r:id="R8e2f32f969c14915"/>
    <p:sldLayoutId xmlns:r="http://schemas.openxmlformats.org/officeDocument/2006/relationships" id="2147483652" r:id="R9fbcfb4c5a36485f"/>
    <p:sldLayoutId xmlns:r="http://schemas.openxmlformats.org/officeDocument/2006/relationships" id="2147483653" r:id="R3f24b3ada4594f2d"/>
    <p:sldLayoutId xmlns:r="http://schemas.openxmlformats.org/officeDocument/2006/relationships" id="2147483654" r:id="Reb3a6a6d035b45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4ae38bf72c4b8a" /><Relationship Type="http://schemas.openxmlformats.org/officeDocument/2006/relationships/notesSlide" Target="/ppt/notesSlides/notesSlide1.xml" Id="R10c712a324234e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d3684452c945b1" /><Relationship Type="http://schemas.openxmlformats.org/officeDocument/2006/relationships/notesSlide" Target="/ppt/notesSlides/notesSlide2.xml" Id="Rd4a64ae2ecd240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3288ffeeaa4783" /><Relationship Type="http://schemas.openxmlformats.org/officeDocument/2006/relationships/notesSlide" Target="/ppt/notesSlides/notesSlide3.xml" Id="Re44a41bda77043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0ff9ce62694ca4" /><Relationship Type="http://schemas.openxmlformats.org/officeDocument/2006/relationships/notesSlide" Target="/ppt/notesSlides/notesSlide4.xml" Id="R45e9efb7d1674f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ed09bda7cc424b" /><Relationship Type="http://schemas.openxmlformats.org/officeDocument/2006/relationships/image" Target="/ppt/media/image.png" Id="R583f4d01224d4a86" /><Relationship Type="http://schemas.openxmlformats.org/officeDocument/2006/relationships/notesSlide" Target="/ppt/notesSlides/notesSlide5.xml" Id="R24d4587ba2084f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7e0a34f0ba4179" /><Relationship Type="http://schemas.openxmlformats.org/officeDocument/2006/relationships/image" Target="/ppt/media/image2.png" Id="Rcf2031c0619d4dbb" /><Relationship Type="http://schemas.openxmlformats.org/officeDocument/2006/relationships/notesSlide" Target="/ppt/notesSlides/notesSlide6.xml" Id="R5e4620b29f1248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69aa19634b41d7" /><Relationship Type="http://schemas.openxmlformats.org/officeDocument/2006/relationships/image" Target="/ppt/media/image3.png" Id="Rb4b2d88da26d41f2" /><Relationship Type="http://schemas.openxmlformats.org/officeDocument/2006/relationships/notesSlide" Target="/ppt/notesSlides/notesSlide7.xml" Id="R3745d63c41934f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00b153c6f24211" /><Relationship Type="http://schemas.openxmlformats.org/officeDocument/2006/relationships/notesSlide" Target="/ppt/notesSlides/notesSlide8.xml" Id="R2ab6ceedbf5c4d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e02c7a9e074b1f" /><Relationship Type="http://schemas.openxmlformats.org/officeDocument/2006/relationships/notesSlide" Target="/ppt/notesSlides/notesSlide9.xml" Id="R26d071ae474a4a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79b3c0ba1d45ec" /><Relationship Type="http://schemas.openxmlformats.org/officeDocument/2006/relationships/notesSlide" Target="/ppt/notesSlides/notesSlide10.xml" Id="Rf52f8f4ff42d45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ed297b0b34449c" /><Relationship Type="http://schemas.openxmlformats.org/officeDocument/2006/relationships/notesSlide" Target="/ppt/notesSlides/notesSlide11.xml" Id="R3d3cca3864cd4f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5c1e31d84a4f07" /><Relationship Type="http://schemas.openxmlformats.org/officeDocument/2006/relationships/image" Target="/ppt/media/image4.png" Id="R57e025f0556e46b4" /><Relationship Type="http://schemas.openxmlformats.org/officeDocument/2006/relationships/notesSlide" Target="/ppt/notesSlides/notesSlide12.xml" Id="R471778d21e0f44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e5baae17a64b07" /><Relationship Type="http://schemas.openxmlformats.org/officeDocument/2006/relationships/notesSlide" Target="/ppt/notesSlides/notesSlide13.xml" Id="Re12c847d112240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ed97f84baf945b5" /><Relationship Type="http://schemas.openxmlformats.org/officeDocument/2006/relationships/image" Target="/ppt/media/image5.png" Id="R683060d0b90a4492" /><Relationship Type="http://schemas.openxmlformats.org/officeDocument/2006/relationships/notesSlide" Target="/ppt/notesSlides/notesSlide14.xml" Id="Rc13610b8a2ac4e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67184313be4109" /><Relationship Type="http://schemas.openxmlformats.org/officeDocument/2006/relationships/notesSlide" Target="/ppt/notesSlides/notesSlide15.xml" Id="Rd539a9c328644d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a384472f954dba" /><Relationship Type="http://schemas.openxmlformats.org/officeDocument/2006/relationships/image" Target="/ppt/media/image6.png" Id="Rd7218d99648a44d8" /><Relationship Type="http://schemas.openxmlformats.org/officeDocument/2006/relationships/notesSlide" Target="/ppt/notesSlides/notesSlide16.xml" Id="R4182327a20a849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dfc78f020624e53" /><Relationship Type="http://schemas.openxmlformats.org/officeDocument/2006/relationships/image" Target="/ppt/media/image7.png" Id="R3798b020c3bb4f56" /><Relationship Type="http://schemas.openxmlformats.org/officeDocument/2006/relationships/notesSlide" Target="/ppt/notesSlides/notesSlide17.xml" Id="R81d901d6933b40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0211d50501b45b3" /><Relationship Type="http://schemas.openxmlformats.org/officeDocument/2006/relationships/notesSlide" Target="/ppt/notesSlides/notesSlide18.xml" Id="R0a059e6bc72f49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22f2969b85493d" /><Relationship Type="http://schemas.openxmlformats.org/officeDocument/2006/relationships/notesSlide" Target="/ppt/notesSlides/notesSlide19.xml" Id="R9b98cc6bac924b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14d61af955040b4" /><Relationship Type="http://schemas.openxmlformats.org/officeDocument/2006/relationships/notesSlide" Target="/ppt/notesSlides/notesSlide20.xml" Id="Rb2dc662a274a4f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22f4f12d83c44cb" /><Relationship Type="http://schemas.openxmlformats.org/officeDocument/2006/relationships/notesSlide" Target="/ppt/notesSlides/notesSlide21.xml" Id="R7214522904424f8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ba653e476d04423" /><Relationship Type="http://schemas.openxmlformats.org/officeDocument/2006/relationships/image" Target="/ppt/media/image8.png" Id="R259bf61d966d43da" /><Relationship Type="http://schemas.openxmlformats.org/officeDocument/2006/relationships/notesSlide" Target="/ppt/notesSlides/notesSlide22.xml" Id="Rc9dbf919c6a94e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c2c2a0303e247a3" /><Relationship Type="http://schemas.openxmlformats.org/officeDocument/2006/relationships/image" Target="/ppt/media/image9.png" Id="R699c6943bc004e72" /><Relationship Type="http://schemas.openxmlformats.org/officeDocument/2006/relationships/notesSlide" Target="/ppt/notesSlides/notesSlide23.xml" Id="R5b02756127d343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37f3f8ce1c54ace" /><Relationship Type="http://schemas.openxmlformats.org/officeDocument/2006/relationships/image" Target="/ppt/media/image10.png" Id="R919446d0249b4b9a" /><Relationship Type="http://schemas.openxmlformats.org/officeDocument/2006/relationships/notesSlide" Target="/ppt/notesSlides/notesSlide24.xml" Id="R4f4d8e91daf6451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8113636bf314ab0" /><Relationship Type="http://schemas.openxmlformats.org/officeDocument/2006/relationships/notesSlide" Target="/ppt/notesSlides/notesSlide25.xml" Id="Rde1abae8f95345f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fc99c0721994c08" /><Relationship Type="http://schemas.openxmlformats.org/officeDocument/2006/relationships/notesSlide" Target="/ppt/notesSlides/notesSlide26.xml" Id="R3c87acd059bd4c2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8d0f307705d43db" /><Relationship Type="http://schemas.openxmlformats.org/officeDocument/2006/relationships/notesSlide" Target="/ppt/notesSlides/notesSlide27.xml" Id="Rfd77ad9da9164e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1c3113521e74306" /><Relationship Type="http://schemas.openxmlformats.org/officeDocument/2006/relationships/notesSlide" Target="/ppt/notesSlides/notesSlide28.xml" Id="R85caaf9d652741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ab821792e1546df" /><Relationship Type="http://schemas.openxmlformats.org/officeDocument/2006/relationships/notesSlide" Target="/ppt/notesSlides/notesSlide29.xml" Id="R25d822e96a88499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2e27515dda40f5" /><Relationship Type="http://schemas.openxmlformats.org/officeDocument/2006/relationships/notesSlide" Target="/ppt/notesSlides/notesSlide30.xml" Id="Rcc6a8b2289a34e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f415ff490da486e" /><Relationship Type="http://schemas.openxmlformats.org/officeDocument/2006/relationships/notesSlide" Target="/ppt/notesSlides/notesSlide31.xml" Id="Rb7a3e04e0b9244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ff567c27d734514" /><Relationship Type="http://schemas.openxmlformats.org/officeDocument/2006/relationships/notesSlide" Target="/ppt/notesSlides/notesSlide32.xml" Id="R68f0a0b894514cc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649930b3b6848b8" /><Relationship Type="http://schemas.openxmlformats.org/officeDocument/2006/relationships/notesSlide" Target="/ppt/notesSlides/notesSlide33.xml" Id="R09e4c5d15aa2456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dd99496d0a14435" /><Relationship Type="http://schemas.openxmlformats.org/officeDocument/2006/relationships/notesSlide" Target="/ppt/notesSlides/notesSlide34.xml" Id="Rbf80a93a98a548a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fbaaf2c1a164f84" /><Relationship Type="http://schemas.openxmlformats.org/officeDocument/2006/relationships/notesSlide" Target="/ppt/notesSlides/notesSlide35.xml" Id="Rfd25eca557f64c5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288a1d2b8a54fbe" /><Relationship Type="http://schemas.openxmlformats.org/officeDocument/2006/relationships/notesSlide" Target="/ppt/notesSlides/notesSlide36.xml" Id="R85ecf1cf17d54c9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1ad06303a2f4988" /><Relationship Type="http://schemas.openxmlformats.org/officeDocument/2006/relationships/notesSlide" Target="/ppt/notesSlides/notesSlide37.xml" Id="R324ca3e9743b436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18874368a2a4f73" /><Relationship Type="http://schemas.openxmlformats.org/officeDocument/2006/relationships/notesSlide" Target="/ppt/notesSlides/notesSlide38.xml" Id="R72d31014f95746d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567b17f75854b8c" /><Relationship Type="http://schemas.openxmlformats.org/officeDocument/2006/relationships/notesSlide" Target="/ppt/notesSlides/notesSlide39.xml" Id="Rca76724aa1a545a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1efe96c94734138" /><Relationship Type="http://schemas.openxmlformats.org/officeDocument/2006/relationships/notesSlide" Target="/ppt/notesSlides/notesSlide40.xml" Id="Rf967c2477922469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8df633f3d2f4ef0" /><Relationship Type="http://schemas.openxmlformats.org/officeDocument/2006/relationships/notesSlide" Target="/ppt/notesSlides/notesSlide41.xml" Id="R82e1a434f5194dc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e6dcb85a0e34f4b" /><Relationship Type="http://schemas.openxmlformats.org/officeDocument/2006/relationships/notesSlide" Target="/ppt/notesSlides/notesSlide42.xml" Id="Re45da1bf9f58413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62400f7acd34600" /><Relationship Type="http://schemas.openxmlformats.org/officeDocument/2006/relationships/notesSlide" Target="/ppt/notesSlides/notesSlide43.xml" Id="Re15c2a3156524f1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cffc97236744790" /><Relationship Type="http://schemas.openxmlformats.org/officeDocument/2006/relationships/notesSlide" Target="/ppt/notesSlides/notesSlide44.xml" Id="Ra540f41e5c994da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6fb7296d8084268" /><Relationship Type="http://schemas.openxmlformats.org/officeDocument/2006/relationships/notesSlide" Target="/ppt/notesSlides/notesSlide45.xml" Id="R14cfcdb2c3e84d9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fbc44af661a4ebe" /><Relationship Type="http://schemas.openxmlformats.org/officeDocument/2006/relationships/notesSlide" Target="/ppt/notesSlides/notesSlide46.xml" Id="R1899211521fa413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f766783c86a4a11" /><Relationship Type="http://schemas.openxmlformats.org/officeDocument/2006/relationships/notesSlide" Target="/ppt/notesSlides/notesSlide47.xml" Id="R8abfd4164e20461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3a527a0a5e245a4" /><Relationship Type="http://schemas.openxmlformats.org/officeDocument/2006/relationships/notesSlide" Target="/ppt/notesSlides/notesSlide48.xml" Id="R774ca69a8068482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a49baac30924136" /><Relationship Type="http://schemas.openxmlformats.org/officeDocument/2006/relationships/notesSlide" Target="/ppt/notesSlides/notesSlide49.xml" Id="R3028d64572134fc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33d9f00c4964ab0" /><Relationship Type="http://schemas.openxmlformats.org/officeDocument/2006/relationships/notesSlide" Target="/ppt/notesSlides/notesSlide50.xml" Id="R802f102ec915473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58f4d2e29004d58" /><Relationship Type="http://schemas.openxmlformats.org/officeDocument/2006/relationships/notesSlide" Target="/ppt/notesSlides/notesSlide51.xml" Id="Rcc6200c2d5eb492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ebe66b063ca4a11" /><Relationship Type="http://schemas.openxmlformats.org/officeDocument/2006/relationships/notesSlide" Target="/ppt/notesSlides/notesSlide52.xml" Id="Rb9e04fa2ca19422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f9aef267a04e494a" /><Relationship Type="http://schemas.openxmlformats.org/officeDocument/2006/relationships/notesSlide" Target="/ppt/notesSlides/notesSlide53.xml" Id="R1bb13d2d44ef44e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699d781a6a7f42c9" /><Relationship Type="http://schemas.openxmlformats.org/officeDocument/2006/relationships/chart" Target="/ppt/slides/charts/chart1.xml" Id="R2e96182f7d30499f" /><Relationship Type="http://schemas.openxmlformats.org/officeDocument/2006/relationships/notesSlide" Target="/ppt/notesSlides/notesSlide54.xml" Id="R0f8935057501480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e0636c3fdca04254" /><Relationship Type="http://schemas.openxmlformats.org/officeDocument/2006/relationships/notesSlide" Target="/ppt/notesSlides/notesSlide55.xml" Id="Ree3718d6c7f44a5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bd49160b013455d" /><Relationship Type="http://schemas.openxmlformats.org/officeDocument/2006/relationships/notesSlide" Target="/ppt/notesSlides/notesSlide56.xml" Id="Rd250fbde95034c2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72d58179562347d9" /><Relationship Type="http://schemas.openxmlformats.org/officeDocument/2006/relationships/notesSlide" Target="/ppt/notesSlides/notesSlide57.xml" Id="R2d9a8f0f643c4bb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78054e4eb0b7482e" /><Relationship Type="http://schemas.openxmlformats.org/officeDocument/2006/relationships/notesSlide" Target="/ppt/notesSlides/notesSlide58.xml" Id="R683ab72a4b0d419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7361c52894f34fc5" /><Relationship Type="http://schemas.openxmlformats.org/officeDocument/2006/relationships/notesSlide" Target="/ppt/notesSlides/notesSlide59.xml" Id="R936177fb654143b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fca58e877414650" /><Relationship Type="http://schemas.openxmlformats.org/officeDocument/2006/relationships/notesSlide" Target="/ppt/notesSlides/notesSlide60.xml" Id="R081dbf2d8b0340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Malgun Gothic"/>
                <a:ea typeface="Malgun Gothic"/>
                <a:cs typeface="Malgun Gothic"/>
              </a:rPr>
              <a:t>온도 (°C)</a:t>
            </a:r>
          </a:p>
        </c:rich>
      </c:tx>
      <c:overlay val="0"/>
      <c:txPr>
        <a:bodyPr xmlns:a="http://schemas.openxmlformats.org/drawingml/2006/main" anchorCtr="1"/>
        <a:lstStyle xmlns:a="http://schemas.openxmlformats.org/drawingml/2006/main"/>
        <a:p xmlns:a="http://schemas.openxmlformats.org/drawingml/2006/main">
          <a:pPr>
            <a:defRPr sz="1950">
              <a:latin typeface="Malgun Gothic"/>
              <a:ea typeface="Malgun Gothic"/>
              <a:cs typeface="Malgun Gothic"/>
            </a:defRPr>
          </a:pPr>
        </a:p>
      </c:txPr>
    </c:title>
    <c:plotArea>
      <c:lineChart>
        <c:grouping val="standard"/>
        <c:varyColors val="0"/>
        <c:ser>
          <c:idx val="0"/>
          <c:order val="0"/>
          <c:tx>
            <c:v>온도 °C</c:v>
          </c:tx>
          <c:spPr>
            <a:solidFill xmlns:a="http://schemas.openxmlformats.org/drawingml/2006/main">
              <a:srgbClr val="25634B"/>
            </a:solidFill>
            <a:ln xmlns:a="http://schemas.openxmlformats.org/drawingml/2006/main" w="28575">
              <a:solidFill>
                <a:srgbClr val="25634B"/>
              </a:solidFill>
            </a:ln>
          </c:spPr>
          <c:marker>
            <c:symbol val="none"/>
          </c:marker>
          <c:cat>
            <c:numRef>
              <c:f>'Chart Data'!$A$2:$A$9</c:f>
              <c:numCache>
                <c:formatCode>General</c:formatCode>
                <c:ptCount val="8"/>
                <c:pt idx="0">
                  <c:v>0</c:v>
                </c:pt>
                <c:pt idx="1">
                  <c:v>1</c:v>
                </c:pt>
                <c:pt idx="2">
                  <c:v>2</c:v>
                </c:pt>
                <c:pt idx="3">
                  <c:v>3</c:v>
                </c:pt>
                <c:pt idx="4">
                  <c:v>4</c:v>
                </c:pt>
                <c:pt idx="5">
                  <c:v>5</c:v>
                </c:pt>
                <c:pt idx="6">
                  <c:v>6</c:v>
                </c:pt>
                <c:pt idx="7">
                  <c:v>7</c:v>
                </c:pt>
              </c:numCache>
            </c:numRef>
          </c:cat>
          <c:val>
            <c:numRef>
              <c:f>'Chart Data'!$B$2:$B$9</c:f>
              <c:numCache>
                <c:formatCode>General</c:formatCode>
                <c:ptCount val="8"/>
                <c:pt idx="0">
                  <c:v>35</c:v>
                </c:pt>
                <c:pt idx="1">
                  <c:v>48</c:v>
                </c:pt>
                <c:pt idx="2">
                  <c:v>60</c:v>
                </c:pt>
                <c:pt idx="3">
                  <c:v>68</c:v>
                </c:pt>
                <c:pt idx="4">
                  <c:v>80</c:v>
                </c:pt>
                <c:pt idx="5">
                  <c:v>75</c:v>
                </c:pt>
                <c:pt idx="6">
                  <c:v>55</c:v>
                </c:pt>
                <c:pt idx="7">
                  <c:v>40</c:v>
                </c:pt>
              </c:numCache>
            </c:numRef>
          </c:val>
          <c:smooth val="0"/>
        </c:ser>
        <c:ser>
          <c:idx val="1"/>
          <c:order val="1"/>
          <c:tx>
            <c:v>주의 경계</c:v>
          </c:tx>
          <c:spPr>
            <a:solidFill xmlns:a="http://schemas.openxmlformats.org/drawingml/2006/main">
              <a:srgbClr val="B57621"/>
            </a:solidFill>
            <a:ln xmlns:a="http://schemas.openxmlformats.org/drawingml/2006/main" w="28575">
              <a:solidFill>
                <a:srgbClr val="B57621"/>
              </a:solidFill>
            </a:ln>
          </c:spPr>
          <c:marker>
            <c:symbol val="none"/>
          </c:marker>
          <c:cat>
            <c:numRef>
              <c:f>'Chart Data'!$C$2:$C$9</c:f>
              <c:numCache>
                <c:formatCode>General</c:formatCode>
                <c:ptCount val="8"/>
                <c:pt idx="0">
                  <c:v>0</c:v>
                </c:pt>
                <c:pt idx="1">
                  <c:v>1</c:v>
                </c:pt>
                <c:pt idx="2">
                  <c:v>2</c:v>
                </c:pt>
                <c:pt idx="3">
                  <c:v>3</c:v>
                </c:pt>
                <c:pt idx="4">
                  <c:v>4</c:v>
                </c:pt>
                <c:pt idx="5">
                  <c:v>5</c:v>
                </c:pt>
                <c:pt idx="6">
                  <c:v>6</c:v>
                </c:pt>
                <c:pt idx="7">
                  <c:v>7</c:v>
                </c:pt>
              </c:numCache>
            </c:numRef>
          </c:cat>
          <c:val>
            <c:numRef>
              <c:f>'Chart Data'!$D$2:$D$9</c:f>
              <c:numCache>
                <c:formatCode>General</c:formatCode>
                <c:ptCount val="8"/>
                <c:pt idx="0">
                  <c:v>60</c:v>
                </c:pt>
                <c:pt idx="1">
                  <c:v>60</c:v>
                </c:pt>
                <c:pt idx="2">
                  <c:v>60</c:v>
                </c:pt>
                <c:pt idx="3">
                  <c:v>60</c:v>
                </c:pt>
                <c:pt idx="4">
                  <c:v>60</c:v>
                </c:pt>
                <c:pt idx="5">
                  <c:v>60</c:v>
                </c:pt>
                <c:pt idx="6">
                  <c:v>60</c:v>
                </c:pt>
                <c:pt idx="7">
                  <c:v>60</c:v>
                </c:pt>
              </c:numCache>
            </c:numRef>
          </c:val>
          <c:smooth val="0"/>
        </c:ser>
        <c:ser>
          <c:idx val="2"/>
          <c:order val="2"/>
          <c:tx>
            <c:v>경보 경계</c:v>
          </c:tx>
          <c:spPr>
            <a:solidFill xmlns:a="http://schemas.openxmlformats.org/drawingml/2006/main">
              <a:srgbClr val="B33D38"/>
            </a:solidFill>
            <a:ln xmlns:a="http://schemas.openxmlformats.org/drawingml/2006/main" w="28575">
              <a:solidFill>
                <a:srgbClr val="B33D38"/>
              </a:solidFill>
            </a:ln>
          </c:spPr>
          <c:marker>
            <c:symbol val="none"/>
          </c:marker>
          <c:cat>
            <c:numRef>
              <c:f>'Chart Data'!$E$2:$E$9</c:f>
              <c:numCache>
                <c:formatCode>General</c:formatCode>
                <c:ptCount val="8"/>
                <c:pt idx="0">
                  <c:v>0</c:v>
                </c:pt>
                <c:pt idx="1">
                  <c:v>1</c:v>
                </c:pt>
                <c:pt idx="2">
                  <c:v>2</c:v>
                </c:pt>
                <c:pt idx="3">
                  <c:v>3</c:v>
                </c:pt>
                <c:pt idx="4">
                  <c:v>4</c:v>
                </c:pt>
                <c:pt idx="5">
                  <c:v>5</c:v>
                </c:pt>
                <c:pt idx="6">
                  <c:v>6</c:v>
                </c:pt>
                <c:pt idx="7">
                  <c:v>7</c:v>
                </c:pt>
              </c:numCache>
            </c:numRef>
          </c:cat>
          <c:val>
            <c:numRef>
              <c:f>'Chart Data'!$F$2:$F$9</c:f>
              <c:numCache>
                <c:formatCode>General</c:formatCode>
                <c:ptCount val="8"/>
                <c:pt idx="0">
                  <c:v>80</c:v>
                </c:pt>
                <c:pt idx="1">
                  <c:v>80</c:v>
                </c:pt>
                <c:pt idx="2">
                  <c:v>80</c:v>
                </c:pt>
                <c:pt idx="3">
                  <c:v>80</c:v>
                </c:pt>
                <c:pt idx="4">
                  <c:v>80</c:v>
                </c:pt>
                <c:pt idx="5">
                  <c:v>80</c:v>
                </c:pt>
                <c:pt idx="6">
                  <c:v>80</c:v>
                </c:pt>
                <c:pt idx="7">
                  <c:v>80</c:v>
                </c:pt>
              </c:numCache>
            </c:numRef>
          </c: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algun Gothic"/>
                <a:ea typeface="Malgun Gothic"/>
                <a:cs typeface="Malgun Gothic"/>
              </a:defRPr>
            </a:pPr>
          </a:p>
        </c:txPr>
        <c:crossAx val="48672768"/>
      </c:catAx>
      <c:valAx>
        <c:axId val="48672768"/>
        <c:scaling>
          <c:orientation val="minMax"/>
        </c:scaling>
        <c:delete val="0"/>
        <c:axPos val="l"/>
        <c:majorGridlines>
          <c:spPr>
            <a:ln xmlns:a="http://schemas.openxmlformats.org/drawingml/2006/main" w="9525">
              <a:solidFill>
                <a:srgbClr val="D4DAD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충북대학교 기계공학부">
            <a:extLst xmlns:a="http://schemas.openxmlformats.org/drawingml/2006/main">
              <a:ext uri="{FF2B5EF4-FFF2-40B4-BE49-F238E27FC236}">
                <a16:creationId xmlns:a16="http://schemas.microsoft.com/office/drawing/2014/main" id="{53F48557-93C3-414C-9307-9BC9F476790F}"/>
              </a:ext>
            </a:extLst>
          </p:cNvPr>
          <p:cNvSpPr>
            <a:spLocks xmlns:a="http://schemas.openxmlformats.org/drawingml/2006/main" noGrp="1"/>
          </p:cNvSpPr>
          <p:nvPr/>
        </p:nvSpPr>
        <p:spPr>
          <a:xfrm xmlns:a="http://schemas.openxmlformats.org/drawingml/2006/main">
            <a:off x="952500" y="990600"/>
            <a:ext cx="1323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5634B"/>
                </a:solidFill>
                <a:latin typeface="Malgun Gothic"/>
                <a:ea typeface="Malgun Gothic"/>
                <a:cs typeface="Malgun Gothic"/>
              </a:defRPr>
            </a:defPPr>
            <a:lvl1pPr>
              <a:defRPr sz="2550" b="0">
                <a:solidFill>
                  <a:srgbClr val="25634B"/>
                </a:solidFill>
                <a:latin typeface="Malgun Gothic"/>
                <a:ea typeface="Malgun Gothic"/>
                <a:cs typeface="Malgun Gothic"/>
              </a:defRPr>
            </a:lvl1pPr>
            <a:lvl2pPr>
              <a:defRPr sz="2550" b="0">
                <a:solidFill>
                  <a:srgbClr val="25634B"/>
                </a:solidFill>
                <a:latin typeface="Malgun Gothic"/>
                <a:ea typeface="Malgun Gothic"/>
                <a:cs typeface="Malgun Gothic"/>
              </a:defRPr>
            </a:lvl2pPr>
            <a:lvl3pPr>
              <a:defRPr sz="2550" b="0">
                <a:solidFill>
                  <a:srgbClr val="25634B"/>
                </a:solidFill>
                <a:latin typeface="Malgun Gothic"/>
                <a:ea typeface="Malgun Gothic"/>
                <a:cs typeface="Malgun Gothic"/>
              </a:defRPr>
            </a:lvl3pPr>
            <a:lvl4pPr>
              <a:defRPr sz="2550" b="0">
                <a:solidFill>
                  <a:srgbClr val="25634B"/>
                </a:solidFill>
                <a:latin typeface="Malgun Gothic"/>
                <a:ea typeface="Malgun Gothic"/>
                <a:cs typeface="Malgun Gothic"/>
              </a:defRPr>
            </a:lvl4pPr>
            <a:lvl5pPr>
              <a:defRPr sz="2550" b="0">
                <a:solidFill>
                  <a:srgbClr val="25634B"/>
                </a:solidFill>
                <a:latin typeface="Malgun Gothic"/>
                <a:ea typeface="Malgun Gothic"/>
                <a:cs typeface="Malgun Gothic"/>
              </a:defRPr>
            </a:lvl5pPr>
            <a:lvl6pPr>
              <a:defRPr sz="2550" b="0">
                <a:solidFill>
                  <a:srgbClr val="25634B"/>
                </a:solidFill>
                <a:latin typeface="Malgun Gothic"/>
                <a:ea typeface="Malgun Gothic"/>
                <a:cs typeface="Malgun Gothic"/>
              </a:defRPr>
            </a:lvl6pPr>
            <a:lvl7pPr>
              <a:defRPr sz="2550" b="0">
                <a:solidFill>
                  <a:srgbClr val="25634B"/>
                </a:solidFill>
                <a:latin typeface="Malgun Gothic"/>
                <a:ea typeface="Malgun Gothic"/>
                <a:cs typeface="Malgun Gothic"/>
              </a:defRPr>
            </a:lvl7pPr>
            <a:lvl8pPr>
              <a:defRPr sz="2550" b="0">
                <a:solidFill>
                  <a:srgbClr val="25634B"/>
                </a:solidFill>
                <a:latin typeface="Malgun Gothic"/>
                <a:ea typeface="Malgun Gothic"/>
                <a:cs typeface="Malgun Gothic"/>
              </a:defRPr>
            </a:lvl8pPr>
            <a:lvl9pPr>
              <a:defRPr sz="2550" b="0">
                <a:solidFill>
                  <a:srgbClr val="25634B"/>
                </a:solidFill>
                <a:latin typeface="Malgun Gothic"/>
                <a:ea typeface="Malgun Gothic"/>
                <a:cs typeface="Malgun Gothic"/>
              </a:defRPr>
            </a:lvl9pPr>
          </a:lstStyle>
          <a:p xmlns:a="http://schemas.openxmlformats.org/drawingml/2006/main">
            <a:pPr>
              <a:defRPr sz="2550" b="0">
                <a:solidFill>
                  <a:srgbClr val="25634B"/>
                </a:solidFill>
                <a:latin typeface="Malgun Gothic"/>
                <a:ea typeface="Malgun Gothic"/>
                <a:cs typeface="Malgun Gothic"/>
              </a:defRPr>
            </a:pPr>
            <a:r>
              <a:rPr sz="2550" b="0">
                <a:solidFill>
                  <a:srgbClr val="25634B"/>
                </a:solidFill>
                <a:latin typeface="Malgun Gothic"/>
                <a:ea typeface="Malgun Gothic"/>
                <a:cs typeface="Malgun Gothic"/>
              </a:rPr>
              <a:t>충북대학교 기계공학부</a:t>
            </a:r>
          </a:p>
        </p:txBody>
      </p:sp>
      <p:sp>
        <p:nvSpPr>
          <p:cNvPr id="2" name="Title">
            <a:extLst xmlns:a="http://schemas.openxmlformats.org/drawingml/2006/main">
              <a:ext uri="{FF2B5EF4-FFF2-40B4-BE49-F238E27FC236}">
                <a16:creationId xmlns:a16="http://schemas.microsoft.com/office/drawing/2014/main" id="{860010D8-D74A-47E0-A3DB-2F901E75C617}"/>
              </a:ext>
            </a:extLst>
          </p:cNvPr>
          <p:cNvSpPr>
            <a:spLocks xmlns:a="http://schemas.openxmlformats.org/drawingml/2006/main" noGrp="1"/>
          </p:cNvSpPr>
          <p:nvPr/>
        </p:nvSpPr>
        <p:spPr>
          <a:xfrm xmlns:a="http://schemas.openxmlformats.org/drawingml/2006/main">
            <a:off x="952500" y="2333625"/>
            <a:ext cx="13239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202322"/>
                </a:solidFill>
                <a:latin typeface="Malgun Gothic"/>
                <a:ea typeface="Malgun Gothic"/>
                <a:cs typeface="Malgun Gothic"/>
              </a:defRPr>
            </a:defPPr>
            <a:lvl1pPr>
              <a:defRPr sz="6450" b="1">
                <a:solidFill>
                  <a:srgbClr val="202322"/>
                </a:solidFill>
                <a:latin typeface="Malgun Gothic"/>
                <a:ea typeface="Malgun Gothic"/>
                <a:cs typeface="Malgun Gothic"/>
              </a:defRPr>
            </a:lvl1pPr>
            <a:lvl2pPr>
              <a:defRPr sz="6450" b="1">
                <a:solidFill>
                  <a:srgbClr val="202322"/>
                </a:solidFill>
                <a:latin typeface="Malgun Gothic"/>
                <a:ea typeface="Malgun Gothic"/>
                <a:cs typeface="Malgun Gothic"/>
              </a:defRPr>
            </a:lvl2pPr>
            <a:lvl3pPr>
              <a:defRPr sz="6450" b="1">
                <a:solidFill>
                  <a:srgbClr val="202322"/>
                </a:solidFill>
                <a:latin typeface="Malgun Gothic"/>
                <a:ea typeface="Malgun Gothic"/>
                <a:cs typeface="Malgun Gothic"/>
              </a:defRPr>
            </a:lvl3pPr>
            <a:lvl4pPr>
              <a:defRPr sz="6450" b="1">
                <a:solidFill>
                  <a:srgbClr val="202322"/>
                </a:solidFill>
                <a:latin typeface="Malgun Gothic"/>
                <a:ea typeface="Malgun Gothic"/>
                <a:cs typeface="Malgun Gothic"/>
              </a:defRPr>
            </a:lvl4pPr>
            <a:lvl5pPr>
              <a:defRPr sz="6450" b="1">
                <a:solidFill>
                  <a:srgbClr val="202322"/>
                </a:solidFill>
                <a:latin typeface="Malgun Gothic"/>
                <a:ea typeface="Malgun Gothic"/>
                <a:cs typeface="Malgun Gothic"/>
              </a:defRPr>
            </a:lvl5pPr>
            <a:lvl6pPr>
              <a:defRPr sz="6450" b="1">
                <a:solidFill>
                  <a:srgbClr val="202322"/>
                </a:solidFill>
                <a:latin typeface="Malgun Gothic"/>
                <a:ea typeface="Malgun Gothic"/>
                <a:cs typeface="Malgun Gothic"/>
              </a:defRPr>
            </a:lvl6pPr>
            <a:lvl7pPr>
              <a:defRPr sz="6450" b="1">
                <a:solidFill>
                  <a:srgbClr val="202322"/>
                </a:solidFill>
                <a:latin typeface="Malgun Gothic"/>
                <a:ea typeface="Malgun Gothic"/>
                <a:cs typeface="Malgun Gothic"/>
              </a:defRPr>
            </a:lvl7pPr>
            <a:lvl8pPr>
              <a:defRPr sz="6450" b="1">
                <a:solidFill>
                  <a:srgbClr val="202322"/>
                </a:solidFill>
                <a:latin typeface="Malgun Gothic"/>
                <a:ea typeface="Malgun Gothic"/>
                <a:cs typeface="Malgun Gothic"/>
              </a:defRPr>
            </a:lvl8pPr>
            <a:lvl9pPr>
              <a:defRPr sz="6450" b="1">
                <a:solidFill>
                  <a:srgbClr val="202322"/>
                </a:solidFill>
                <a:latin typeface="Malgun Gothic"/>
                <a:ea typeface="Malgun Gothic"/>
                <a:cs typeface="Malgun Gothic"/>
              </a:defRPr>
            </a:lvl9pPr>
          </a:lstStyle>
          <a:p xmlns:a="http://schemas.openxmlformats.org/drawingml/2006/main">
            <a:pPr>
              <a:defRPr sz="6450" b="1">
                <a:solidFill>
                  <a:srgbClr val="202322"/>
                </a:solidFill>
                <a:latin typeface="Malgun Gothic"/>
                <a:ea typeface="Malgun Gothic"/>
                <a:cs typeface="Malgun Gothic"/>
              </a:defRPr>
            </a:pPr>
            <a:r>
              <a:rPr sz="6450" b="1">
                <a:solidFill>
                  <a:srgbClr val="202322"/>
                </a:solidFill>
                <a:latin typeface="Malgun Gothic"/>
                <a:ea typeface="Malgun Gothic"/>
                <a:cs typeface="Malgun Gothic"/>
              </a:rPr>
              <a:t>Omniverse</a:t>
            </a:r>
          </a:p>
          <a:p xmlns:a="http://schemas.openxmlformats.org/drawingml/2006/main">
            <a:pPr>
              <a:defRPr sz="6450" b="1">
                <a:solidFill>
                  <a:srgbClr val="202322"/>
                </a:solidFill>
                <a:latin typeface="Malgun Gothic"/>
                <a:ea typeface="Malgun Gothic"/>
                <a:cs typeface="Malgun Gothic"/>
              </a:defRPr>
            </a:pPr>
            <a:r>
              <a:rPr sz="6450" b="1">
                <a:solidFill>
                  <a:srgbClr val="202322"/>
                </a:solidFill>
                <a:latin typeface="Malgun Gothic"/>
                <a:ea typeface="Malgun Gothic"/>
                <a:cs typeface="Malgun Gothic"/>
              </a:rPr>
              <a:t>실습 워크숍</a:t>
            </a:r>
          </a:p>
        </p:txBody>
      </p:sp>
      <p:sp>
        <p:nvSpPr>
          <p:cNvPr id="3" name="CAD와 OpenUSD&#10;물리 설정과 Python 자동화">
            <a:extLst xmlns:a="http://schemas.openxmlformats.org/drawingml/2006/main">
              <a:ext uri="{FF2B5EF4-FFF2-40B4-BE49-F238E27FC236}">
                <a16:creationId xmlns:a16="http://schemas.microsoft.com/office/drawing/2014/main" id="{C327FEE2-5C44-41A7-9B7B-18B3EADC0EFA}"/>
              </a:ext>
            </a:extLst>
          </p:cNvPr>
          <p:cNvSpPr>
            <a:spLocks xmlns:a="http://schemas.openxmlformats.org/drawingml/2006/main" noGrp="1"/>
          </p:cNvSpPr>
          <p:nvPr/>
        </p:nvSpPr>
        <p:spPr>
          <a:xfrm xmlns:a="http://schemas.openxmlformats.org/drawingml/2006/main">
            <a:off x="1000125" y="5353050"/>
            <a:ext cx="1257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02322"/>
                </a:solidFill>
                <a:latin typeface="Malgun Gothic"/>
                <a:ea typeface="Malgun Gothic"/>
                <a:cs typeface="Malgun Gothic"/>
              </a:defRPr>
            </a:defPPr>
            <a:lvl1pPr>
              <a:defRPr sz="2550" b="0">
                <a:solidFill>
                  <a:srgbClr val="202322"/>
                </a:solidFill>
                <a:latin typeface="Malgun Gothic"/>
                <a:ea typeface="Malgun Gothic"/>
                <a:cs typeface="Malgun Gothic"/>
              </a:defRPr>
            </a:lvl1pPr>
            <a:lvl2pPr>
              <a:defRPr sz="2550" b="0">
                <a:solidFill>
                  <a:srgbClr val="202322"/>
                </a:solidFill>
                <a:latin typeface="Malgun Gothic"/>
                <a:ea typeface="Malgun Gothic"/>
                <a:cs typeface="Malgun Gothic"/>
              </a:defRPr>
            </a:lvl2pPr>
            <a:lvl3pPr>
              <a:defRPr sz="2550" b="0">
                <a:solidFill>
                  <a:srgbClr val="202322"/>
                </a:solidFill>
                <a:latin typeface="Malgun Gothic"/>
                <a:ea typeface="Malgun Gothic"/>
                <a:cs typeface="Malgun Gothic"/>
              </a:defRPr>
            </a:lvl3pPr>
            <a:lvl4pPr>
              <a:defRPr sz="2550" b="0">
                <a:solidFill>
                  <a:srgbClr val="202322"/>
                </a:solidFill>
                <a:latin typeface="Malgun Gothic"/>
                <a:ea typeface="Malgun Gothic"/>
                <a:cs typeface="Malgun Gothic"/>
              </a:defRPr>
            </a:lvl4pPr>
            <a:lvl5pPr>
              <a:defRPr sz="2550" b="0">
                <a:solidFill>
                  <a:srgbClr val="202322"/>
                </a:solidFill>
                <a:latin typeface="Malgun Gothic"/>
                <a:ea typeface="Malgun Gothic"/>
                <a:cs typeface="Malgun Gothic"/>
              </a:defRPr>
            </a:lvl5pPr>
            <a:lvl6pPr>
              <a:defRPr sz="2550" b="0">
                <a:solidFill>
                  <a:srgbClr val="202322"/>
                </a:solidFill>
                <a:latin typeface="Malgun Gothic"/>
                <a:ea typeface="Malgun Gothic"/>
                <a:cs typeface="Malgun Gothic"/>
              </a:defRPr>
            </a:lvl6pPr>
            <a:lvl7pPr>
              <a:defRPr sz="2550" b="0">
                <a:solidFill>
                  <a:srgbClr val="202322"/>
                </a:solidFill>
                <a:latin typeface="Malgun Gothic"/>
                <a:ea typeface="Malgun Gothic"/>
                <a:cs typeface="Malgun Gothic"/>
              </a:defRPr>
            </a:lvl7pPr>
            <a:lvl8pPr>
              <a:defRPr sz="2550" b="0">
                <a:solidFill>
                  <a:srgbClr val="202322"/>
                </a:solidFill>
                <a:latin typeface="Malgun Gothic"/>
                <a:ea typeface="Malgun Gothic"/>
                <a:cs typeface="Malgun Gothic"/>
              </a:defRPr>
            </a:lvl8pPr>
            <a:lvl9pPr>
              <a:defRPr sz="2550" b="0">
                <a:solidFill>
                  <a:srgbClr val="202322"/>
                </a:solidFill>
                <a:latin typeface="Malgun Gothic"/>
                <a:ea typeface="Malgun Gothic"/>
                <a:cs typeface="Malgun Gothic"/>
              </a:defRPr>
            </a:lvl9pPr>
          </a:lstStyle>
          <a:p xmlns:a="http://schemas.openxmlformats.org/drawingml/2006/main">
            <a:pPr>
              <a:defRPr sz="2550" b="0">
                <a:solidFill>
                  <a:srgbClr val="202322"/>
                </a:solidFill>
                <a:latin typeface="Malgun Gothic"/>
                <a:ea typeface="Malgun Gothic"/>
                <a:cs typeface="Malgun Gothic"/>
              </a:defRPr>
            </a:pPr>
            <a:r>
              <a:rPr sz="2550" b="0">
                <a:solidFill>
                  <a:srgbClr val="202322"/>
                </a:solidFill>
                <a:latin typeface="Malgun Gothic"/>
                <a:ea typeface="Malgun Gothic"/>
                <a:cs typeface="Malgun Gothic"/>
              </a:rPr>
              <a:t>CAD와 OpenUSD</a:t>
            </a:r>
          </a:p>
          <a:p xmlns:a="http://schemas.openxmlformats.org/drawingml/2006/main">
            <a:pPr>
              <a:defRPr sz="2550" b="0">
                <a:solidFill>
                  <a:srgbClr val="202322"/>
                </a:solidFill>
                <a:latin typeface="Malgun Gothic"/>
                <a:ea typeface="Malgun Gothic"/>
                <a:cs typeface="Malgun Gothic"/>
              </a:defRPr>
            </a:pPr>
            <a:r>
              <a:rPr sz="2550" b="0">
                <a:solidFill>
                  <a:srgbClr val="202322"/>
                </a:solidFill>
                <a:latin typeface="Malgun Gothic"/>
                <a:ea typeface="Malgun Gothic"/>
                <a:cs typeface="Malgun Gothic"/>
              </a:rPr>
              <a:t>물리 설정과 Python 자동화</a:t>
            </a:r>
          </a:p>
          <a:p xmlns:a="http://schemas.openxmlformats.org/drawingml/2006/main">
            <a:pPr>
              <a:defRPr sz="2550" b="0">
                <a:solidFill>
                  <a:srgbClr val="202322"/>
                </a:solidFill>
                <a:latin typeface="Malgun Gothic"/>
                <a:ea typeface="Malgun Gothic"/>
                <a:cs typeface="Malgun Gothic"/>
              </a:defRPr>
            </a:pPr>
            <a:r>
              <a:rPr sz="2550" b="0">
                <a:solidFill>
                  <a:srgbClr val="202322"/>
                </a:solidFill>
                <a:latin typeface="Malgun Gothic"/>
                <a:ea typeface="Malgun Gothic"/>
                <a:cs typeface="Malgun Gothic"/>
              </a:rPr>
              <a:t>가상 데이터 기반 장비 상태 표시</a:t>
            </a:r>
          </a:p>
        </p:txBody>
      </p:sp>
      <p:sp>
        <p:nvSpPr>
          <p:cNvPr id="4" name="DAY 1 + DAY 2    /    CAD · Op">
            <a:extLst xmlns:a="http://schemas.openxmlformats.org/drawingml/2006/main">
              <a:ext uri="{FF2B5EF4-FFF2-40B4-BE49-F238E27FC236}">
                <a16:creationId xmlns:a16="http://schemas.microsoft.com/office/drawing/2014/main" id="{B0D6B022-382A-4726-B11B-E30D50013599}"/>
              </a:ext>
            </a:extLst>
          </p:cNvPr>
          <p:cNvSpPr>
            <a:spLocks xmlns:a="http://schemas.openxmlformats.org/drawingml/2006/main" noGrp="1"/>
          </p:cNvSpPr>
          <p:nvPr/>
        </p:nvSpPr>
        <p:spPr>
          <a:xfrm xmlns:a="http://schemas.openxmlformats.org/drawingml/2006/main">
            <a:off x="1000125" y="7667625"/>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15C"/>
                </a:solidFill>
                <a:latin typeface="Malgun Gothic"/>
                <a:ea typeface="Malgun Gothic"/>
                <a:cs typeface="Malgun Gothic"/>
              </a:defRPr>
            </a:defPPr>
            <a:lvl1pPr>
              <a:defRPr sz="1650" b="0">
                <a:solidFill>
                  <a:srgbClr val="58615C"/>
                </a:solidFill>
                <a:latin typeface="Malgun Gothic"/>
                <a:ea typeface="Malgun Gothic"/>
                <a:cs typeface="Malgun Gothic"/>
              </a:defRPr>
            </a:lvl1pPr>
            <a:lvl2pPr>
              <a:defRPr sz="1650" b="0">
                <a:solidFill>
                  <a:srgbClr val="58615C"/>
                </a:solidFill>
                <a:latin typeface="Malgun Gothic"/>
                <a:ea typeface="Malgun Gothic"/>
                <a:cs typeface="Malgun Gothic"/>
              </a:defRPr>
            </a:lvl2pPr>
            <a:lvl3pPr>
              <a:defRPr sz="1650" b="0">
                <a:solidFill>
                  <a:srgbClr val="58615C"/>
                </a:solidFill>
                <a:latin typeface="Malgun Gothic"/>
                <a:ea typeface="Malgun Gothic"/>
                <a:cs typeface="Malgun Gothic"/>
              </a:defRPr>
            </a:lvl3pPr>
            <a:lvl4pPr>
              <a:defRPr sz="1650" b="0">
                <a:solidFill>
                  <a:srgbClr val="58615C"/>
                </a:solidFill>
                <a:latin typeface="Malgun Gothic"/>
                <a:ea typeface="Malgun Gothic"/>
                <a:cs typeface="Malgun Gothic"/>
              </a:defRPr>
            </a:lvl4pPr>
            <a:lvl5pPr>
              <a:defRPr sz="1650" b="0">
                <a:solidFill>
                  <a:srgbClr val="58615C"/>
                </a:solidFill>
                <a:latin typeface="Malgun Gothic"/>
                <a:ea typeface="Malgun Gothic"/>
                <a:cs typeface="Malgun Gothic"/>
              </a:defRPr>
            </a:lvl5pPr>
            <a:lvl6pPr>
              <a:defRPr sz="1650" b="0">
                <a:solidFill>
                  <a:srgbClr val="58615C"/>
                </a:solidFill>
                <a:latin typeface="Malgun Gothic"/>
                <a:ea typeface="Malgun Gothic"/>
                <a:cs typeface="Malgun Gothic"/>
              </a:defRPr>
            </a:lvl6pPr>
            <a:lvl7pPr>
              <a:defRPr sz="1650" b="0">
                <a:solidFill>
                  <a:srgbClr val="58615C"/>
                </a:solidFill>
                <a:latin typeface="Malgun Gothic"/>
                <a:ea typeface="Malgun Gothic"/>
                <a:cs typeface="Malgun Gothic"/>
              </a:defRPr>
            </a:lvl7pPr>
            <a:lvl8pPr>
              <a:defRPr sz="1650" b="0">
                <a:solidFill>
                  <a:srgbClr val="58615C"/>
                </a:solidFill>
                <a:latin typeface="Malgun Gothic"/>
                <a:ea typeface="Malgun Gothic"/>
                <a:cs typeface="Malgun Gothic"/>
              </a:defRPr>
            </a:lvl8pPr>
            <a:lvl9pPr>
              <a:defRPr sz="1650" b="0">
                <a:solidFill>
                  <a:srgbClr val="58615C"/>
                </a:solidFill>
                <a:latin typeface="Malgun Gothic"/>
                <a:ea typeface="Malgun Gothic"/>
                <a:cs typeface="Malgun Gothic"/>
              </a:defRPr>
            </a:lvl9pPr>
          </a:lstStyle>
          <a:p xmlns:a="http://schemas.openxmlformats.org/drawingml/2006/main">
            <a:pPr>
              <a:defRPr sz="1650" b="0">
                <a:solidFill>
                  <a:srgbClr val="58615C"/>
                </a:solidFill>
                <a:latin typeface="Malgun Gothic"/>
                <a:ea typeface="Malgun Gothic"/>
                <a:cs typeface="Malgun Gothic"/>
              </a:defRPr>
            </a:pPr>
            <a:r>
              <a:rPr sz="1650" b="0">
                <a:solidFill>
                  <a:srgbClr val="58615C"/>
                </a:solidFill>
                <a:latin typeface="Malgun Gothic"/>
                <a:ea typeface="Malgun Gothic"/>
                <a:cs typeface="Malgun Gothic"/>
              </a:rPr>
              <a:t>DAY 1 + DAY 2    /    CAD · OpenUSD · Python</a:t>
            </a:r>
          </a:p>
        </p:txBody>
      </p:sp>
    </p:spTree>
    <p:extLst>
      <p:ext uri="{BB962C8B-B14F-4D97-AF65-F5344CB8AC3E}">
        <p14:creationId xmlns:p14="http://schemas.microsoft.com/office/powerpoint/2010/main" val="15963613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EB7C2E43-13BE-4F55-896C-428C9CBC0C53}"/>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COURSE</a:t>
            </a:r>
          </a:p>
        </p:txBody>
      </p:sp>
      <p:sp>
        <p:nvSpPr>
          <p:cNvPr id="2" name="Title">
            <a:extLst xmlns:a="http://schemas.openxmlformats.org/drawingml/2006/main">
              <a:ext uri="{FF2B5EF4-FFF2-40B4-BE49-F238E27FC236}">
                <a16:creationId xmlns:a16="http://schemas.microsoft.com/office/drawing/2014/main" id="{E0FAA924-B6C3-48B0-A8CF-09B5C1464575}"/>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2일간의 학습 순서</a:t>
            </a:r>
          </a:p>
        </p:txBody>
      </p:sp>
      <p:sp>
        <p:nvSpPr>
          <p:cNvPr id="3" name="02   /   CBNU Omniverse Worksh">
            <a:extLst xmlns:a="http://schemas.openxmlformats.org/drawingml/2006/main">
              <a:ext uri="{FF2B5EF4-FFF2-40B4-BE49-F238E27FC236}">
                <a16:creationId xmlns:a16="http://schemas.microsoft.com/office/drawing/2014/main" id="{795FC38D-A11D-417A-B1F4-7B4576818770}"/>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02   /   CBNU Omniverse Workshop</a:t>
            </a:r>
          </a:p>
        </p:txBody>
      </p:sp>
      <p:graphicFrame>
        <p:nvGraphicFramePr>
          <p:cNvPr id="4" name="">
            <a:extLst xmlns:a="http://schemas.openxmlformats.org/drawingml/2006/main">
              <a:ext uri="{FF2B5EF4-FFF2-40B4-BE49-F238E27FC236}">
                <a16:creationId xmlns:a16="http://schemas.microsoft.com/office/drawing/2014/main" id="{D151ED54-9336-44D9-9D0B-130BD59D4D4A}"/>
              </a:ext>
            </a:extLst>
          </p:cNvPr>
          <p:cNvGraphicFramePr/>
          <p:nvPr/>
        </p:nvGraphicFramePr>
        <p:xfrm>
          <a:off xmlns:a="http://schemas.openxmlformats.org/drawingml/2006/main" x="838200" y="2190750"/>
          <a:ext xmlns:a="http://schemas.openxmlformats.org/drawingml/2006/main" cx="13563600" cy="3429000"/>
        </p:xfrm>
        <a:graphic xmlns:a="http://schemas.openxmlformats.org/drawingml/2006/main">
          <a:graphicData uri="http://schemas.openxmlformats.org/drawingml/2006/table">
            <a:tbl>
              <a:tblPr/>
              <a:tblGrid>
                <a:gridCol w="2696128"/>
                <a:gridCol w="5433736"/>
                <a:gridCol w="5433736"/>
              </a:tblGrid>
              <a:tr h="857250">
                <a:tc>
                  <a:txBody>
                    <a:bodyPr/>
                    <a:lstStyle/>
                    <a:p>
                      <a:r>
                        <a:rPr sz="2100" b="1">
                          <a:solidFill>
                            <a:srgbClr val="202322"/>
                          </a:solidFill>
                          <a:latin typeface="Malgun Gothic"/>
                          <a:ea typeface="Malgun Gothic"/>
                          <a:cs typeface="Malgun Gothic"/>
                        </a:rPr>
                        <a:t>구분</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오전</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오후</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Day 1</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UI 조작과 OpenUSD 기본</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CAD 검수와 Layer 협업</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Day 2</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물리 준비와 낙하 실험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Python 자동화와 상태 시각화</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시간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09:30–12:30, 중간 휴식 15분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13:30–17:00, 중간 휴식 15분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
        <p:nvSpPr>
          <p:cNvPr id="5" name="하루 수업 6시간 중 실습 3시간. 점심 12:30–1">
            <a:extLst xmlns:a="http://schemas.openxmlformats.org/drawingml/2006/main">
              <a:ext uri="{FF2B5EF4-FFF2-40B4-BE49-F238E27FC236}">
                <a16:creationId xmlns:a16="http://schemas.microsoft.com/office/drawing/2014/main" id="{E09D686A-285E-486F-A0CD-D050A16F6F3B}"/>
              </a:ext>
            </a:extLst>
          </p:cNvPr>
          <p:cNvSpPr>
            <a:spLocks xmlns:a="http://schemas.openxmlformats.org/drawingml/2006/main" noGrp="1"/>
          </p:cNvSpPr>
          <p:nvPr/>
        </p:nvSpPr>
        <p:spPr>
          <a:xfrm xmlns:a="http://schemas.openxmlformats.org/drawingml/2006/main">
            <a:off x="838200" y="7562850"/>
            <a:ext cx="1356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15C"/>
                </a:solidFill>
                <a:latin typeface="Malgun Gothic"/>
                <a:ea typeface="Malgun Gothic"/>
                <a:cs typeface="Malgun Gothic"/>
              </a:defRPr>
            </a:defPPr>
            <a:lvl1pPr>
              <a:defRPr sz="1650" b="0">
                <a:solidFill>
                  <a:srgbClr val="58615C"/>
                </a:solidFill>
                <a:latin typeface="Malgun Gothic"/>
                <a:ea typeface="Malgun Gothic"/>
                <a:cs typeface="Malgun Gothic"/>
              </a:defRPr>
            </a:lvl1pPr>
            <a:lvl2pPr>
              <a:defRPr sz="1650" b="0">
                <a:solidFill>
                  <a:srgbClr val="58615C"/>
                </a:solidFill>
                <a:latin typeface="Malgun Gothic"/>
                <a:ea typeface="Malgun Gothic"/>
                <a:cs typeface="Malgun Gothic"/>
              </a:defRPr>
            </a:lvl2pPr>
            <a:lvl3pPr>
              <a:defRPr sz="1650" b="0">
                <a:solidFill>
                  <a:srgbClr val="58615C"/>
                </a:solidFill>
                <a:latin typeface="Malgun Gothic"/>
                <a:ea typeface="Malgun Gothic"/>
                <a:cs typeface="Malgun Gothic"/>
              </a:defRPr>
            </a:lvl3pPr>
            <a:lvl4pPr>
              <a:defRPr sz="1650" b="0">
                <a:solidFill>
                  <a:srgbClr val="58615C"/>
                </a:solidFill>
                <a:latin typeface="Malgun Gothic"/>
                <a:ea typeface="Malgun Gothic"/>
                <a:cs typeface="Malgun Gothic"/>
              </a:defRPr>
            </a:lvl4pPr>
            <a:lvl5pPr>
              <a:defRPr sz="1650" b="0">
                <a:solidFill>
                  <a:srgbClr val="58615C"/>
                </a:solidFill>
                <a:latin typeface="Malgun Gothic"/>
                <a:ea typeface="Malgun Gothic"/>
                <a:cs typeface="Malgun Gothic"/>
              </a:defRPr>
            </a:lvl5pPr>
            <a:lvl6pPr>
              <a:defRPr sz="1650" b="0">
                <a:solidFill>
                  <a:srgbClr val="58615C"/>
                </a:solidFill>
                <a:latin typeface="Malgun Gothic"/>
                <a:ea typeface="Malgun Gothic"/>
                <a:cs typeface="Malgun Gothic"/>
              </a:defRPr>
            </a:lvl6pPr>
            <a:lvl7pPr>
              <a:defRPr sz="1650" b="0">
                <a:solidFill>
                  <a:srgbClr val="58615C"/>
                </a:solidFill>
                <a:latin typeface="Malgun Gothic"/>
                <a:ea typeface="Malgun Gothic"/>
                <a:cs typeface="Malgun Gothic"/>
              </a:defRPr>
            </a:lvl7pPr>
            <a:lvl8pPr>
              <a:defRPr sz="1650" b="0">
                <a:solidFill>
                  <a:srgbClr val="58615C"/>
                </a:solidFill>
                <a:latin typeface="Malgun Gothic"/>
                <a:ea typeface="Malgun Gothic"/>
                <a:cs typeface="Malgun Gothic"/>
              </a:defRPr>
            </a:lvl8pPr>
            <a:lvl9pPr>
              <a:defRPr sz="1650" b="0">
                <a:solidFill>
                  <a:srgbClr val="58615C"/>
                </a:solidFill>
                <a:latin typeface="Malgun Gothic"/>
                <a:ea typeface="Malgun Gothic"/>
                <a:cs typeface="Malgun Gothic"/>
              </a:defRPr>
            </a:lvl9pPr>
          </a:lstStyle>
          <a:p xmlns:a="http://schemas.openxmlformats.org/drawingml/2006/main">
            <a:pPr>
              <a:defRPr sz="1650" b="0">
                <a:solidFill>
                  <a:srgbClr val="58615C"/>
                </a:solidFill>
                <a:latin typeface="Malgun Gothic"/>
                <a:ea typeface="Malgun Gothic"/>
                <a:cs typeface="Malgun Gothic"/>
              </a:defRPr>
            </a:pPr>
            <a:r>
              <a:rPr sz="1650" b="0">
                <a:solidFill>
                  <a:srgbClr val="58615C"/>
                </a:solidFill>
                <a:latin typeface="Malgun Gothic"/>
                <a:ea typeface="Malgun Gothic"/>
                <a:cs typeface="Malgun Gothic"/>
              </a:rPr>
              <a:t>하루 수업 6시간 중 실습 3시간. 점심 12:30–13:30.</a:t>
            </a:r>
          </a:p>
        </p:txBody>
      </p:sp>
    </p:spTree>
    <p:extLst>
      <p:ext uri="{BB962C8B-B14F-4D97-AF65-F5344CB8AC3E}">
        <p14:creationId xmlns:p14="http://schemas.microsoft.com/office/powerpoint/2010/main" val="18927550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1     교육 목표와 장비 데">
            <a:extLst xmlns:a="http://schemas.openxmlformats.org/drawingml/2006/main">
              <a:ext uri="{FF2B5EF4-FFF2-40B4-BE49-F238E27FC236}">
                <a16:creationId xmlns:a16="http://schemas.microsoft.com/office/drawing/2014/main" id="{0B0918C6-C794-4081-ABCC-1A6627DA4250}"/>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1     교육 목표와 장비 데이터</a:t>
            </a:r>
          </a:p>
        </p:txBody>
      </p:sp>
      <p:sp>
        <p:nvSpPr>
          <p:cNvPr id="2" name="Title">
            <a:extLst xmlns:a="http://schemas.openxmlformats.org/drawingml/2006/main">
              <a:ext uri="{FF2B5EF4-FFF2-40B4-BE49-F238E27FC236}">
                <a16:creationId xmlns:a16="http://schemas.microsoft.com/office/drawing/2014/main" id="{A5F1FFAA-A809-4258-B9E9-54202C76E059}"/>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장면을 이루는 데이터</a:t>
            </a:r>
          </a:p>
        </p:txBody>
      </p:sp>
      <p:sp>
        <p:nvSpPr>
          <p:cNvPr id="3" name="03   /   CBNU Omniverse Worksh">
            <a:extLst xmlns:a="http://schemas.openxmlformats.org/drawingml/2006/main">
              <a:ext uri="{FF2B5EF4-FFF2-40B4-BE49-F238E27FC236}">
                <a16:creationId xmlns:a16="http://schemas.microsoft.com/office/drawing/2014/main" id="{28AA5CB5-A1AA-4B6B-86A0-8C8F966FE830}"/>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03   /   CBNU Omniverse Workshop</a:t>
            </a:r>
          </a:p>
        </p:txBody>
      </p:sp>
      <p:graphicFrame>
        <p:nvGraphicFramePr>
          <p:cNvPr id="4" name="">
            <a:extLst xmlns:a="http://schemas.openxmlformats.org/drawingml/2006/main">
              <a:ext uri="{FF2B5EF4-FFF2-40B4-BE49-F238E27FC236}">
                <a16:creationId xmlns:a16="http://schemas.microsoft.com/office/drawing/2014/main" id="{AA0BCC6F-24DC-488A-932E-4452200B8FC5}"/>
              </a:ext>
            </a:extLst>
          </p:cNvPr>
          <p:cNvGraphicFramePr/>
          <p:nvPr/>
        </p:nvGraphicFramePr>
        <p:xfrm>
          <a:off xmlns:a="http://schemas.openxmlformats.org/drawingml/2006/main" x="838200" y="2190750"/>
          <a:ext xmlns:a="http://schemas.openxmlformats.org/drawingml/2006/main" cx="13563600" cy="3429000"/>
        </p:xfrm>
        <a:graphic xmlns:a="http://schemas.openxmlformats.org/drawingml/2006/main">
          <a:graphicData uri="http://schemas.openxmlformats.org/drawingml/2006/table">
            <a:tbl>
              <a:tblPr/>
              <a:tblGrid>
                <a:gridCol w="3591177"/>
                <a:gridCol w="4779028"/>
                <a:gridCol w="5193395"/>
              </a:tblGrid>
              <a:tr h="857250">
                <a:tc>
                  <a:txBody>
                    <a:bodyPr/>
                    <a:lstStyle/>
                    <a:p>
                      <a:r>
                        <a:rPr sz="2100" b="1">
                          <a:solidFill>
                            <a:srgbClr val="202322"/>
                          </a:solidFill>
                          <a:latin typeface="Malgun Gothic"/>
                          <a:ea typeface="Malgun Gothic"/>
                          <a:cs typeface="Malgun Gothic"/>
                        </a:rPr>
                        <a:t>대상</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이번 실습에서의 역할</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확인할 데이터</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CAD 장비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고정된 형상 참조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치수, 단위, 계층</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Workpiece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떨어지는 작업물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위치, Collider, 질량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StatusLamp</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장비 상태 표시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색, 판정 상태, 출처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7632152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AY 1   PART 1     교육 목표와 장비 데">
            <a:extLst xmlns:a="http://schemas.openxmlformats.org/drawingml/2006/main">
              <a:ext uri="{FF2B5EF4-FFF2-40B4-BE49-F238E27FC236}">
                <a16:creationId xmlns:a16="http://schemas.microsoft.com/office/drawing/2014/main" id="{DDBB563B-9AD2-4613-81BA-7EA984528A8D}"/>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1     교육 목표와 장비 데이터</a:t>
            </a:r>
          </a:p>
        </p:txBody>
      </p:sp>
      <p:sp>
        <p:nvSpPr>
          <p:cNvPr id="2" name="Title">
            <a:extLst xmlns:a="http://schemas.openxmlformats.org/drawingml/2006/main">
              <a:ext uri="{FF2B5EF4-FFF2-40B4-BE49-F238E27FC236}">
                <a16:creationId xmlns:a16="http://schemas.microsoft.com/office/drawing/2014/main" id="{DCB838BB-B453-4A1A-BF9C-2AD5B4CCF3FE}"/>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첫 장면 열기</a:t>
            </a:r>
          </a:p>
        </p:txBody>
      </p:sp>
      <p:sp>
        <p:nvSpPr>
          <p:cNvPr id="3" name="04   /   CBNU Omniverse Worksh">
            <a:extLst xmlns:a="http://schemas.openxmlformats.org/drawingml/2006/main">
              <a:ext uri="{FF2B5EF4-FFF2-40B4-BE49-F238E27FC236}">
                <a16:creationId xmlns:a16="http://schemas.microsoft.com/office/drawing/2014/main" id="{5715574F-4646-4C63-B808-03CB313C6918}"/>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04   /   CBNU Omniverse Workshop</a:t>
            </a:r>
          </a:p>
        </p:txBody>
      </p:sp>
      <p:sp>
        <p:nvSpPr>
          <p:cNvPr id="4" name="checkpoints/01_layout.usda">
            <a:extLst xmlns:a="http://schemas.openxmlformats.org/drawingml/2006/main">
              <a:ext uri="{FF2B5EF4-FFF2-40B4-BE49-F238E27FC236}">
                <a16:creationId xmlns:a16="http://schemas.microsoft.com/office/drawing/2014/main" id="{4D119942-6FAC-42BB-A436-F2F897CBACAB}"/>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checkpoints/01_layout.usda</a:t>
            </a:r>
          </a:p>
        </p:txBody>
      </p:sp>
      <p:sp>
        <p:nvSpPr>
          <p:cNvPr id="5" name="01">
            <a:extLst xmlns:a="http://schemas.openxmlformats.org/drawingml/2006/main">
              <a:ext uri="{FF2B5EF4-FFF2-40B4-BE49-F238E27FC236}">
                <a16:creationId xmlns:a16="http://schemas.microsoft.com/office/drawing/2014/main" id="{60179B35-F23E-4D5A-91AC-44BB9CA84103}"/>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Stage에서 Equipment, Workpiece, ">
            <a:extLst xmlns:a="http://schemas.openxmlformats.org/drawingml/2006/main">
              <a:ext uri="{FF2B5EF4-FFF2-40B4-BE49-F238E27FC236}">
                <a16:creationId xmlns:a16="http://schemas.microsoft.com/office/drawing/2014/main" id="{E9A9C3BD-8E43-4244-A0F4-C3B41AB10ED1}"/>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Stage에서 Equipment, Workpiece, StatusLamp를 찾습니다.</a:t>
            </a:r>
          </a:p>
        </p:txBody>
      </p:sp>
      <p:sp>
        <p:nvSpPr>
          <p:cNvPr id="7" name="02">
            <a:extLst xmlns:a="http://schemas.openxmlformats.org/drawingml/2006/main">
              <a:ext uri="{FF2B5EF4-FFF2-40B4-BE49-F238E27FC236}">
                <a16:creationId xmlns:a16="http://schemas.microsoft.com/office/drawing/2014/main" id="{3B7E0A49-6927-44A8-8422-D3A5E418BAB9}"/>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Viewport에서 /World/Camera를 선택합니">
            <a:extLst xmlns:a="http://schemas.openxmlformats.org/drawingml/2006/main">
              <a:ext uri="{FF2B5EF4-FFF2-40B4-BE49-F238E27FC236}">
                <a16:creationId xmlns:a16="http://schemas.microsoft.com/office/drawing/2014/main" id="{868B11CA-6AD9-4828-86B7-C3F5CCB47B85}"/>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Viewport에서 /World/Camera를 선택합니다.</a:t>
            </a:r>
          </a:p>
        </p:txBody>
      </p:sp>
      <p:sp>
        <p:nvSpPr>
          <p:cNvPr id="9" name="03">
            <a:extLst xmlns:a="http://schemas.openxmlformats.org/drawingml/2006/main">
              <a:ext uri="{FF2B5EF4-FFF2-40B4-BE49-F238E27FC236}">
                <a16:creationId xmlns:a16="http://schemas.microsoft.com/office/drawing/2014/main" id="{9D67A46D-AC6C-4CB4-A1FE-A16AD22EF6CB}"/>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각 객체가 형상·물리·상태 중 무엇을 담당하는지 적습니">
            <a:extLst xmlns:a="http://schemas.openxmlformats.org/drawingml/2006/main">
              <a:ext uri="{FF2B5EF4-FFF2-40B4-BE49-F238E27FC236}">
                <a16:creationId xmlns:a16="http://schemas.microsoft.com/office/drawing/2014/main" id="{3A4639E2-1380-4839-8985-41AA8944ED4F}"/>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각 객체가 형상·물리·상태 중 무엇을 담당하는지 적습니다.</a:t>
            </a:r>
          </a:p>
        </p:txBody>
      </p:sp>
    </p:spTree>
    <p:extLst>
      <p:ext uri="{BB962C8B-B14F-4D97-AF65-F5344CB8AC3E}">
        <p14:creationId xmlns:p14="http://schemas.microsoft.com/office/powerpoint/2010/main" val="102305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2     UI 조작과 좌표 읽">
            <a:extLst xmlns:a="http://schemas.openxmlformats.org/drawingml/2006/main">
              <a:ext uri="{FF2B5EF4-FFF2-40B4-BE49-F238E27FC236}">
                <a16:creationId xmlns:a16="http://schemas.microsoft.com/office/drawing/2014/main" id="{B62D6E07-385B-4CFE-A1CB-000215E69361}"/>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2     UI 조작과 좌표 읽기</a:t>
            </a:r>
          </a:p>
        </p:txBody>
      </p:sp>
      <p:sp>
        <p:nvSpPr>
          <p:cNvPr id="2" name="Title">
            <a:extLst xmlns:a="http://schemas.openxmlformats.org/drawingml/2006/main">
              <a:ext uri="{FF2B5EF4-FFF2-40B4-BE49-F238E27FC236}">
                <a16:creationId xmlns:a16="http://schemas.microsoft.com/office/drawing/2014/main" id="{A9A27A7D-E655-4111-B41C-77EA65638430}"/>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화면에서 확인하는 세 영역</a:t>
            </a:r>
          </a:p>
        </p:txBody>
      </p:sp>
      <p:sp>
        <p:nvSpPr>
          <p:cNvPr id="3" name="05   /   CBNU Omniverse Worksh">
            <a:extLst xmlns:a="http://schemas.openxmlformats.org/drawingml/2006/main">
              <a:ext uri="{FF2B5EF4-FFF2-40B4-BE49-F238E27FC236}">
                <a16:creationId xmlns:a16="http://schemas.microsoft.com/office/drawing/2014/main" id="{65579FF8-70C3-4846-BA89-A79E990C91B1}"/>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05   /   CBNU Omniverse Workshop</a:t>
            </a:r>
          </a:p>
        </p:txBody>
      </p:sp>
      <p:pic>
        <p:nvPicPr>
          <p:cNvPr id="4" name="">
            <a:extLst xmlns:a="http://schemas.openxmlformats.org/drawingml/2006/main">
              <a:ext uri="{FF2B5EF4-FFF2-40B4-BE49-F238E27FC236}">
                <a16:creationId xmlns:a16="http://schemas.microsoft.com/office/drawing/2014/main" id="{B860089B-D266-47B9-B388-BEDE91D26E6F}"/>
              </a:ext>
            </a:extLst>
          </p:cNvPr>
          <p:cNvPicPr>
            <a:picLocks xmlns:a="http://schemas.openxmlformats.org/drawingml/2006/main" noChangeAspect="1"/>
          </p:cNvPicPr>
          <p:nvPr/>
        </p:nvPicPr>
        <p:blipFill>
          <a:blip xmlns:r="http://schemas.openxmlformats.org/officeDocument/2006/relationships" xmlns:a="http://schemas.openxmlformats.org/drawingml/2006/main" r:embed="R583f4d01224d4a86"/>
          <a:stretch xmlns:a="http://schemas.openxmlformats.org/drawingml/2006/main"/>
        </p:blipFill>
        <p:spPr>
          <a:xfrm xmlns:a="http://schemas.openxmlformats.org/drawingml/2006/main">
            <a:off x="838200" y="2240214"/>
            <a:ext cx="8953500" cy="4758822"/>
          </a:xfrm>
          <a:prstGeom xmlns:a="http://schemas.openxmlformats.org/drawingml/2006/main" prst="rect">
            <a:avLst/>
          </a:prstGeom>
        </p:spPr>
      </p:pic>
      <p:sp>
        <p:nvSpPr>
          <p:cNvPr id="5" name="Viewport: 장면을 보고 선택합니다.">
            <a:extLst xmlns:a="http://schemas.openxmlformats.org/drawingml/2006/main">
              <a:ext uri="{FF2B5EF4-FFF2-40B4-BE49-F238E27FC236}">
                <a16:creationId xmlns:a16="http://schemas.microsoft.com/office/drawing/2014/main" id="{41DD089A-0FAF-472B-8E51-6BE5BFC8F52E}"/>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Viewport: 장면을 보고 선택합니다.</a:t>
            </a:r>
          </a:p>
        </p:txBody>
      </p:sp>
      <p:sp>
        <p:nvSpPr>
          <p:cNvPr id="6" name="Stage: 객체와 계층을 찾습니다.">
            <a:extLst xmlns:a="http://schemas.openxmlformats.org/drawingml/2006/main">
              <a:ext uri="{FF2B5EF4-FFF2-40B4-BE49-F238E27FC236}">
                <a16:creationId xmlns:a16="http://schemas.microsoft.com/office/drawing/2014/main" id="{F6A76229-093B-46FF-83D2-6DC31E7769ED}"/>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Stage: 객체와 계층을 찾습니다.</a:t>
            </a:r>
          </a:p>
        </p:txBody>
      </p:sp>
      <p:sp>
        <p:nvSpPr>
          <p:cNvPr id="7" name="Property: 선택 객체의 값을 읽고 바꿉니다.">
            <a:extLst xmlns:a="http://schemas.openxmlformats.org/drawingml/2006/main">
              <a:ext uri="{FF2B5EF4-FFF2-40B4-BE49-F238E27FC236}">
                <a16:creationId xmlns:a16="http://schemas.microsoft.com/office/drawing/2014/main" id="{B2C1F432-9CCA-4D0C-8E0E-B775DC1F1B1E}"/>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Property: 선택 객체의 값을 읽고 바꿉니다.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41892BA2-5DCA-40DF-845E-BE622FD173C5}"/>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9594641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2     UI 조작과 좌표 읽">
            <a:extLst xmlns:a="http://schemas.openxmlformats.org/drawingml/2006/main">
              <a:ext uri="{FF2B5EF4-FFF2-40B4-BE49-F238E27FC236}">
                <a16:creationId xmlns:a16="http://schemas.microsoft.com/office/drawing/2014/main" id="{25A908CC-F203-44BD-AC69-20B9D89B2504}"/>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2     UI 조작과 좌표 읽기</a:t>
            </a:r>
          </a:p>
        </p:txBody>
      </p:sp>
      <p:sp>
        <p:nvSpPr>
          <p:cNvPr id="2" name="Title">
            <a:extLst xmlns:a="http://schemas.openxmlformats.org/drawingml/2006/main">
              <a:ext uri="{FF2B5EF4-FFF2-40B4-BE49-F238E27FC236}">
                <a16:creationId xmlns:a16="http://schemas.microsoft.com/office/drawing/2014/main" id="{2F7B7FAA-16C7-4465-A1F4-9039A20EB49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선택한 객체와 Prim 경로</a:t>
            </a:r>
          </a:p>
        </p:txBody>
      </p:sp>
      <p:sp>
        <p:nvSpPr>
          <p:cNvPr id="3" name="06   /   CBNU Omniverse Worksh">
            <a:extLst xmlns:a="http://schemas.openxmlformats.org/drawingml/2006/main">
              <a:ext uri="{FF2B5EF4-FFF2-40B4-BE49-F238E27FC236}">
                <a16:creationId xmlns:a16="http://schemas.microsoft.com/office/drawing/2014/main" id="{05A63C4F-1F76-4A79-A216-4DF7A89187F7}"/>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06   /   CBNU Omniverse Workshop</a:t>
            </a:r>
          </a:p>
        </p:txBody>
      </p:sp>
      <p:pic>
        <p:nvPicPr>
          <p:cNvPr id="4" name="">
            <a:extLst xmlns:a="http://schemas.openxmlformats.org/drawingml/2006/main">
              <a:ext uri="{FF2B5EF4-FFF2-40B4-BE49-F238E27FC236}">
                <a16:creationId xmlns:a16="http://schemas.microsoft.com/office/drawing/2014/main" id="{F9318424-1931-4532-8458-202208029499}"/>
              </a:ext>
            </a:extLst>
          </p:cNvPr>
          <p:cNvPicPr>
            <a:picLocks xmlns:a="http://schemas.openxmlformats.org/drawingml/2006/main" noChangeAspect="1"/>
          </p:cNvPicPr>
          <p:nvPr/>
        </p:nvPicPr>
        <p:blipFill>
          <a:blip xmlns:r="http://schemas.openxmlformats.org/officeDocument/2006/relationships" xmlns:a="http://schemas.openxmlformats.org/drawingml/2006/main" r:embed="Rcf2031c0619d4dbb"/>
          <a:stretch xmlns:a="http://schemas.openxmlformats.org/drawingml/2006/main"/>
        </p:blipFill>
        <p:spPr>
          <a:xfrm xmlns:a="http://schemas.openxmlformats.org/drawingml/2006/main">
            <a:off x="2341033" y="2143125"/>
            <a:ext cx="5947833" cy="4953000"/>
          </a:xfrm>
          <a:prstGeom xmlns:a="http://schemas.openxmlformats.org/drawingml/2006/main" prst="rect">
            <a:avLst/>
          </a:prstGeom>
        </p:spPr>
      </p:pic>
      <p:sp>
        <p:nvSpPr>
          <p:cNvPr id="5" name="이름이 비슷해도 전체 경로는 다를 수 있습니다.">
            <a:extLst xmlns:a="http://schemas.openxmlformats.org/drawingml/2006/main">
              <a:ext uri="{FF2B5EF4-FFF2-40B4-BE49-F238E27FC236}">
                <a16:creationId xmlns:a16="http://schemas.microsoft.com/office/drawing/2014/main" id="{1990ECDB-C394-4A5D-976C-439B36CAA79E}"/>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이름이 비슷해도 전체 경로는 다를 수 있습니다.</a:t>
            </a:r>
          </a:p>
        </p:txBody>
      </p:sp>
      <p:sp>
        <p:nvSpPr>
          <p:cNvPr id="6" name="/World/Workpiece를 선택합니다.">
            <a:extLst xmlns:a="http://schemas.openxmlformats.org/drawingml/2006/main">
              <a:ext uri="{FF2B5EF4-FFF2-40B4-BE49-F238E27FC236}">
                <a16:creationId xmlns:a16="http://schemas.microsoft.com/office/drawing/2014/main" id="{B38BAD08-A012-4AEC-893C-C89EB8776C63}"/>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/World/Workpiece를 선택합니다.</a:t>
            </a:r>
          </a:p>
        </p:txBody>
      </p:sp>
      <p:sp>
        <p:nvSpPr>
          <p:cNvPr id="7" name="선택 표시와 Property 대상이 같은지 확인합니다.">
            <a:extLst xmlns:a="http://schemas.openxmlformats.org/drawingml/2006/main">
              <a:ext uri="{FF2B5EF4-FFF2-40B4-BE49-F238E27FC236}">
                <a16:creationId xmlns:a16="http://schemas.microsoft.com/office/drawing/2014/main" id="{79501DEC-51BC-4F53-AB31-CEE6A953C471}"/>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선택 표시와 Property 대상이 같은지 확인합니다.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EF5F3DD4-763A-40B9-8930-C284013231EB}"/>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20269852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2     UI 조작과 좌표 읽">
            <a:extLst xmlns:a="http://schemas.openxmlformats.org/drawingml/2006/main">
              <a:ext uri="{FF2B5EF4-FFF2-40B4-BE49-F238E27FC236}">
                <a16:creationId xmlns:a16="http://schemas.microsoft.com/office/drawing/2014/main" id="{7C92AE88-5966-44A7-9262-E74D732F1B8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2     UI 조작과 좌표 읽기</a:t>
            </a:r>
          </a:p>
        </p:txBody>
      </p:sp>
      <p:sp>
        <p:nvSpPr>
          <p:cNvPr id="2" name="Title">
            <a:extLst xmlns:a="http://schemas.openxmlformats.org/drawingml/2006/main">
              <a:ext uri="{FF2B5EF4-FFF2-40B4-BE49-F238E27FC236}">
                <a16:creationId xmlns:a16="http://schemas.microsoft.com/office/drawing/2014/main" id="{56AD85FE-EADA-47F6-9039-9AF6DC91C88F}"/>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이동·회전·크기 변경</a:t>
            </a:r>
          </a:p>
        </p:txBody>
      </p:sp>
      <p:sp>
        <p:nvSpPr>
          <p:cNvPr id="3" name="07   /   CBNU Omniverse Worksh">
            <a:extLst xmlns:a="http://schemas.openxmlformats.org/drawingml/2006/main">
              <a:ext uri="{FF2B5EF4-FFF2-40B4-BE49-F238E27FC236}">
                <a16:creationId xmlns:a16="http://schemas.microsoft.com/office/drawing/2014/main" id="{70EC5D1B-9936-4C37-9E75-8C730638C5D1}"/>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07   /   CBNU Omniverse Workshop</a:t>
            </a:r>
          </a:p>
        </p:txBody>
      </p:sp>
      <p:pic>
        <p:nvPicPr>
          <p:cNvPr id="4" name="">
            <a:extLst xmlns:a="http://schemas.openxmlformats.org/drawingml/2006/main">
              <a:ext uri="{FF2B5EF4-FFF2-40B4-BE49-F238E27FC236}">
                <a16:creationId xmlns:a16="http://schemas.microsoft.com/office/drawing/2014/main" id="{5A3F97D8-BABA-490E-8093-62D84DDB2D2A}"/>
              </a:ext>
            </a:extLst>
          </p:cNvPr>
          <p:cNvPicPr>
            <a:picLocks xmlns:a="http://schemas.openxmlformats.org/drawingml/2006/main" noChangeAspect="1"/>
          </p:cNvPicPr>
          <p:nvPr/>
        </p:nvPicPr>
        <p:blipFill>
          <a:blip xmlns:r="http://schemas.openxmlformats.org/officeDocument/2006/relationships" xmlns:a="http://schemas.openxmlformats.org/drawingml/2006/main" r:embed="Rb4b2d88da26d41f2"/>
          <a:stretch xmlns:a="http://schemas.openxmlformats.org/drawingml/2006/main"/>
        </p:blipFill>
        <p:spPr>
          <a:xfrm xmlns:a="http://schemas.openxmlformats.org/drawingml/2006/main">
            <a:off x="838200" y="2513729"/>
            <a:ext cx="8953500" cy="4211792"/>
          </a:xfrm>
          <a:prstGeom xmlns:a="http://schemas.openxmlformats.org/drawingml/2006/main" prst="rect">
            <a:avLst/>
          </a:prstGeom>
        </p:spPr>
      </p:pic>
      <p:sp>
        <p:nvSpPr>
          <p:cNvPr id="5" name="이동은 Translate를 바꿉니다.">
            <a:extLst xmlns:a="http://schemas.openxmlformats.org/drawingml/2006/main">
              <a:ext uri="{FF2B5EF4-FFF2-40B4-BE49-F238E27FC236}">
                <a16:creationId xmlns:a16="http://schemas.microsoft.com/office/drawing/2014/main" id="{57FF8CFA-5970-4D66-A26C-4F9D6513643C}"/>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이동은 Translate를 바꿉니다.</a:t>
            </a:r>
          </a:p>
        </p:txBody>
      </p:sp>
      <p:sp>
        <p:nvSpPr>
          <p:cNvPr id="6" name="회전은 좌표계와 중심점을 함께 봅니다.">
            <a:extLst xmlns:a="http://schemas.openxmlformats.org/drawingml/2006/main">
              <a:ext uri="{FF2B5EF4-FFF2-40B4-BE49-F238E27FC236}">
                <a16:creationId xmlns:a16="http://schemas.microsoft.com/office/drawing/2014/main" id="{052C33C6-53AC-42BE-9844-E2A85AB3504F}"/>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회전은 좌표계와 중심점을 함께 봅니다.</a:t>
            </a:r>
          </a:p>
        </p:txBody>
      </p:sp>
      <p:sp>
        <p:nvSpPr>
          <p:cNvPr id="7" name="Scale과 카메라 확대는 다릅니다.">
            <a:extLst xmlns:a="http://schemas.openxmlformats.org/drawingml/2006/main">
              <a:ext uri="{FF2B5EF4-FFF2-40B4-BE49-F238E27FC236}">
                <a16:creationId xmlns:a16="http://schemas.microsoft.com/office/drawing/2014/main" id="{BD3ABC24-30A9-4D80-AF45-3B1FAC871E46}"/>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Scale과 카메라 확대는 다릅니다.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81E6299D-FD20-4F3A-BD9D-8E8BED020C0B}"/>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15782513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1   PART 2     UI 조작과 좌표 읽">
            <a:extLst xmlns:a="http://schemas.openxmlformats.org/drawingml/2006/main">
              <a:ext uri="{FF2B5EF4-FFF2-40B4-BE49-F238E27FC236}">
                <a16:creationId xmlns:a16="http://schemas.microsoft.com/office/drawing/2014/main" id="{FBD0FFB6-543A-448F-8918-ED237CE99830}"/>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2     UI 조작과 좌표 읽기</a:t>
            </a:r>
          </a:p>
        </p:txBody>
      </p:sp>
      <p:sp>
        <p:nvSpPr>
          <p:cNvPr id="2" name="Title">
            <a:extLst xmlns:a="http://schemas.openxmlformats.org/drawingml/2006/main">
              <a:ext uri="{FF2B5EF4-FFF2-40B4-BE49-F238E27FC236}">
                <a16:creationId xmlns:a16="http://schemas.microsoft.com/office/drawing/2014/main" id="{55A4FF64-1588-4EE6-B308-C62FE2AB1854}"/>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카메라 이동과 객체 이동 비교</a:t>
            </a:r>
          </a:p>
        </p:txBody>
      </p:sp>
      <p:sp>
        <p:nvSpPr>
          <p:cNvPr id="3" name="08   /   CBNU Omniverse Worksh">
            <a:extLst xmlns:a="http://schemas.openxmlformats.org/drawingml/2006/main">
              <a:ext uri="{FF2B5EF4-FFF2-40B4-BE49-F238E27FC236}">
                <a16:creationId xmlns:a16="http://schemas.microsoft.com/office/drawing/2014/main" id="{A714BB0C-0F2C-49B9-98CB-B1FE69F9A2CC}"/>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08   /   CBNU Omniverse Workshop</a:t>
            </a:r>
          </a:p>
        </p:txBody>
      </p:sp>
      <p:sp>
        <p:nvSpPr>
          <p:cNvPr id="4" name="checkpoints/01_layout.usda">
            <a:extLst xmlns:a="http://schemas.openxmlformats.org/drawingml/2006/main">
              <a:ext uri="{FF2B5EF4-FFF2-40B4-BE49-F238E27FC236}">
                <a16:creationId xmlns:a16="http://schemas.microsoft.com/office/drawing/2014/main" id="{32CA5CC9-A22E-4894-B2F1-31E277E5FA4C}"/>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checkpoints/01_layout.usda</a:t>
            </a:r>
          </a:p>
        </p:txBody>
      </p:sp>
      <p:sp>
        <p:nvSpPr>
          <p:cNvPr id="5" name="01">
            <a:extLst xmlns:a="http://schemas.openxmlformats.org/drawingml/2006/main">
              <a:ext uri="{FF2B5EF4-FFF2-40B4-BE49-F238E27FC236}">
                <a16:creationId xmlns:a16="http://schemas.microsoft.com/office/drawing/2014/main" id="{0B492D87-0E87-4231-8290-246F325CBF45}"/>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Workpiece의 초기 위치 (1, 0, 1.5)를 ">
            <a:extLst xmlns:a="http://schemas.openxmlformats.org/drawingml/2006/main">
              <a:ext uri="{FF2B5EF4-FFF2-40B4-BE49-F238E27FC236}">
                <a16:creationId xmlns:a16="http://schemas.microsoft.com/office/drawing/2014/main" id="{28B2BFA9-9515-409D-BFBA-5655836393EF}"/>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Workpiece의 초기 위치 (1, 0, 1.5)를 기록합니다.</a:t>
            </a:r>
          </a:p>
        </p:txBody>
      </p:sp>
      <p:sp>
        <p:nvSpPr>
          <p:cNvPr id="7" name="02">
            <a:extLst xmlns:a="http://schemas.openxmlformats.org/drawingml/2006/main">
              <a:ext uri="{FF2B5EF4-FFF2-40B4-BE49-F238E27FC236}">
                <a16:creationId xmlns:a16="http://schemas.microsoft.com/office/drawing/2014/main" id="{C4B25308-25CD-4894-AB13-5FFD9575CE1D}"/>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카메라만 움직인 뒤 위치 값이 같은지 확인합니다.">
            <a:extLst xmlns:a="http://schemas.openxmlformats.org/drawingml/2006/main">
              <a:ext uri="{FF2B5EF4-FFF2-40B4-BE49-F238E27FC236}">
                <a16:creationId xmlns:a16="http://schemas.microsoft.com/office/drawing/2014/main" id="{AD361668-98BE-456B-A89A-FB768B3E0FDE}"/>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카메라만 움직인 뒤 위치 값이 같은지 확인합니다.</a:t>
            </a:r>
          </a:p>
        </p:txBody>
      </p:sp>
      <p:sp>
        <p:nvSpPr>
          <p:cNvPr id="9" name="03">
            <a:extLst xmlns:a="http://schemas.openxmlformats.org/drawingml/2006/main">
              <a:ext uri="{FF2B5EF4-FFF2-40B4-BE49-F238E27FC236}">
                <a16:creationId xmlns:a16="http://schemas.microsoft.com/office/drawing/2014/main" id="{9BABA1C7-7B24-4F76-9E10-EAD06B5D59D9}"/>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Translate X를 1.5로 바꾸고 Undo합니다.">
            <a:extLst xmlns:a="http://schemas.openxmlformats.org/drawingml/2006/main">
              <a:ext uri="{FF2B5EF4-FFF2-40B4-BE49-F238E27FC236}">
                <a16:creationId xmlns:a16="http://schemas.microsoft.com/office/drawing/2014/main" id="{C9F0F4F3-C802-41EF-A80A-FE7C4916A05B}"/>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Translate X를 1.5로 바꾸고 Undo합니다.</a:t>
            </a:r>
          </a:p>
        </p:txBody>
      </p:sp>
      <p:sp>
        <p:nvSpPr>
          <p:cNvPr id="11" name="04">
            <a:extLst xmlns:a="http://schemas.openxmlformats.org/drawingml/2006/main">
              <a:ext uri="{FF2B5EF4-FFF2-40B4-BE49-F238E27FC236}">
                <a16:creationId xmlns:a16="http://schemas.microsoft.com/office/drawing/2014/main" id="{7C5BCE55-B7E0-4B82-9DD1-C016DBC1C48C}"/>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Size=1, Scale=0.2에서 한 변의 길이를 계">
            <a:extLst xmlns:a="http://schemas.openxmlformats.org/drawingml/2006/main">
              <a:ext uri="{FF2B5EF4-FFF2-40B4-BE49-F238E27FC236}">
                <a16:creationId xmlns:a16="http://schemas.microsoft.com/office/drawing/2014/main" id="{3DB6AA00-7EA9-43D7-B24A-7E9F34046C18}"/>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Size=1, Scale=0.2에서 한 변의 길이를 계산합니다.</a:t>
            </a:r>
          </a:p>
        </p:txBody>
      </p:sp>
    </p:spTree>
    <p:extLst>
      <p:ext uri="{BB962C8B-B14F-4D97-AF65-F5344CB8AC3E}">
        <p14:creationId xmlns:p14="http://schemas.microsoft.com/office/powerpoint/2010/main" val="20366990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3     USD 경로와 데이터">
            <a:extLst xmlns:a="http://schemas.openxmlformats.org/drawingml/2006/main">
              <a:ext uri="{FF2B5EF4-FFF2-40B4-BE49-F238E27FC236}">
                <a16:creationId xmlns:a16="http://schemas.microsoft.com/office/drawing/2014/main" id="{101962A1-FE63-4E1E-845F-875ED7A199BF}"/>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3     USD 경로와 데이터 구조</a:t>
            </a:r>
          </a:p>
        </p:txBody>
      </p:sp>
      <p:sp>
        <p:nvSpPr>
          <p:cNvPr id="2" name="Title">
            <a:extLst xmlns:a="http://schemas.openxmlformats.org/drawingml/2006/main">
              <a:ext uri="{FF2B5EF4-FFF2-40B4-BE49-F238E27FC236}">
                <a16:creationId xmlns:a16="http://schemas.microsoft.com/office/drawing/2014/main" id="{FAF74A0C-B9E6-4BE4-A6E9-7ED489BA39B8}"/>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Stage, Layer, Prim</a:t>
            </a:r>
          </a:p>
        </p:txBody>
      </p:sp>
      <p:sp>
        <p:nvSpPr>
          <p:cNvPr id="3" name="09   /   CBNU Omniverse Worksh">
            <a:extLst xmlns:a="http://schemas.openxmlformats.org/drawingml/2006/main">
              <a:ext uri="{FF2B5EF4-FFF2-40B4-BE49-F238E27FC236}">
                <a16:creationId xmlns:a16="http://schemas.microsoft.com/office/drawing/2014/main" id="{B9B07AB7-C2EE-4C43-90D0-221017DD5DC9}"/>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09   /   CBNU Omniverse Workshop</a:t>
            </a:r>
          </a:p>
        </p:txBody>
      </p:sp>
      <p:graphicFrame>
        <p:nvGraphicFramePr>
          <p:cNvPr id="4" name="">
            <a:extLst xmlns:a="http://schemas.openxmlformats.org/drawingml/2006/main">
              <a:ext uri="{FF2B5EF4-FFF2-40B4-BE49-F238E27FC236}">
                <a16:creationId xmlns:a16="http://schemas.microsoft.com/office/drawing/2014/main" id="{9121B4A0-BB74-4931-8CB1-90BFECD0B95B}"/>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3345860"/>
                <a:gridCol w="5585012"/>
                <a:gridCol w="4632729"/>
              </a:tblGrid>
              <a:tr h="857250">
                <a:tc>
                  <a:txBody>
                    <a:bodyPr/>
                    <a:lstStyle/>
                    <a:p>
                      <a:r>
                        <a:rPr sz="2100" b="1">
                          <a:solidFill>
                            <a:srgbClr val="202322"/>
                          </a:solidFill>
                          <a:latin typeface="Malgun Gothic"/>
                          <a:ea typeface="Malgun Gothic"/>
                          <a:cs typeface="Malgun Gothic"/>
                        </a:rPr>
                        <a:t>용어</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담당하는 것</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예</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Stage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합성된 장면에 접근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현재 열린 교육 장면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Layer</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의견을 저장하는 파일·단위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02_structured.usda</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Prim</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장면 내부의 객체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/World/Workpiece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Attribute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객체의 값</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physics:mass = 1</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3688402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1   PART 3     USD 경로와 데이터">
            <a:extLst xmlns:a="http://schemas.openxmlformats.org/drawingml/2006/main">
              <a:ext uri="{FF2B5EF4-FFF2-40B4-BE49-F238E27FC236}">
                <a16:creationId xmlns:a16="http://schemas.microsoft.com/office/drawing/2014/main" id="{81087D30-DD03-43E9-939E-9C133A3411EB}"/>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3     USD 경로와 데이터 구조</a:t>
            </a:r>
          </a:p>
        </p:txBody>
      </p:sp>
      <p:sp>
        <p:nvSpPr>
          <p:cNvPr id="2" name="Title">
            <a:extLst xmlns:a="http://schemas.openxmlformats.org/drawingml/2006/main">
              <a:ext uri="{FF2B5EF4-FFF2-40B4-BE49-F238E27FC236}">
                <a16:creationId xmlns:a16="http://schemas.microsoft.com/office/drawing/2014/main" id="{0EF39F48-AD3F-4FAB-AAD2-20F9E6CB2865}"/>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공통 장면의 계층</a:t>
            </a:r>
          </a:p>
        </p:txBody>
      </p:sp>
      <p:sp>
        <p:nvSpPr>
          <p:cNvPr id="3" name="10   /   CBNU Omniverse Worksh">
            <a:extLst xmlns:a="http://schemas.openxmlformats.org/drawingml/2006/main">
              <a:ext uri="{FF2B5EF4-FFF2-40B4-BE49-F238E27FC236}">
                <a16:creationId xmlns:a16="http://schemas.microsoft.com/office/drawing/2014/main" id="{1817E76B-B3BD-4111-B5CF-E1F74EE23A55}"/>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10   /   CBNU Omniverse Workshop</a:t>
            </a:r>
          </a:p>
        </p:txBody>
      </p:sp>
      <p:sp>
        <p:nvSpPr>
          <p:cNvPr id="4" name="Code">
            <a:extLst xmlns:a="http://schemas.openxmlformats.org/drawingml/2006/main">
              <a:ext uri="{FF2B5EF4-FFF2-40B4-BE49-F238E27FC236}">
                <a16:creationId xmlns:a16="http://schemas.microsoft.com/office/drawing/2014/main" id="{B2BB4636-4DDB-4888-8008-1C89D3622BAA}"/>
              </a:ext>
            </a:extLst>
          </p:cNvPr>
          <p:cNvSpPr>
            <a:spLocks xmlns:a="http://schemas.openxmlformats.org/drawingml/2006/main" noGrp="1"/>
          </p:cNvSpPr>
          <p:nvPr/>
        </p:nvSpPr>
        <p:spPr>
          <a:xfrm xmlns:a="http://schemas.openxmlformats.org/drawingml/2006/main">
            <a:off x="1028700" y="2286000"/>
            <a:ext cx="13144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/World</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/Equipment       CAD Reference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/Workpiece       Cube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/Ground          Cube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/StatusLamp      Sphere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/Camera          Camera</a:t>
            </a:r>
          </a:p>
        </p:txBody>
      </p:sp>
      <p:sp>
        <p:nvSpPr>
          <p:cNvPr id="5" name="경로는 계층 안에서 객체를 지정합니다.">
            <a:extLst xmlns:a="http://schemas.openxmlformats.org/drawingml/2006/main">
              <a:ext uri="{FF2B5EF4-FFF2-40B4-BE49-F238E27FC236}">
                <a16:creationId xmlns:a16="http://schemas.microsoft.com/office/drawing/2014/main" id="{94463239-269A-40FD-8F72-E5C4B9418EEB}"/>
              </a:ext>
            </a:extLst>
          </p:cNvPr>
          <p:cNvSpPr>
            <a:spLocks xmlns:a="http://schemas.openxmlformats.org/drawingml/2006/main" noGrp="1"/>
          </p:cNvSpPr>
          <p:nvPr/>
        </p:nvSpPr>
        <p:spPr>
          <a:xfrm xmlns:a="http://schemas.openxmlformats.org/drawingml/2006/main">
            <a:off x="1028700" y="533400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경로는 계층 안에서 객체를 지정합니다.</a:t>
            </a:r>
          </a:p>
        </p:txBody>
      </p:sp>
      <p:sp>
        <p:nvSpPr>
          <p:cNvPr id="6" name="같은 이름도 부모가 다르면 다른 객체입니다.">
            <a:extLst xmlns:a="http://schemas.openxmlformats.org/drawingml/2006/main">
              <a:ext uri="{FF2B5EF4-FFF2-40B4-BE49-F238E27FC236}">
                <a16:creationId xmlns:a16="http://schemas.microsoft.com/office/drawing/2014/main" id="{60D33F85-637B-4F47-B264-74B3FA4D94AB}"/>
              </a:ext>
            </a:extLst>
          </p:cNvPr>
          <p:cNvSpPr>
            <a:spLocks xmlns:a="http://schemas.openxmlformats.org/drawingml/2006/main" noGrp="1"/>
          </p:cNvSpPr>
          <p:nvPr/>
        </p:nvSpPr>
        <p:spPr>
          <a:xfrm xmlns:a="http://schemas.openxmlformats.org/drawingml/2006/main">
            <a:off x="1028700" y="595312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같은 이름도 부모가 다르면 다른 객체입니다.</a:t>
            </a:r>
          </a:p>
        </p:txBody>
      </p:sp>
    </p:spTree>
    <p:extLst>
      <p:ext uri="{BB962C8B-B14F-4D97-AF65-F5344CB8AC3E}">
        <p14:creationId xmlns:p14="http://schemas.microsoft.com/office/powerpoint/2010/main" val="4477447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3     USD 경로와 데이터">
            <a:extLst xmlns:a="http://schemas.openxmlformats.org/drawingml/2006/main">
              <a:ext uri="{FF2B5EF4-FFF2-40B4-BE49-F238E27FC236}">
                <a16:creationId xmlns:a16="http://schemas.microsoft.com/office/drawing/2014/main" id="{EEAF2EB8-22E1-4972-B5B5-99D69C88307A}"/>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3     USD 경로와 데이터 구조</a:t>
            </a:r>
          </a:p>
        </p:txBody>
      </p:sp>
      <p:sp>
        <p:nvSpPr>
          <p:cNvPr id="2" name="Title">
            <a:extLst xmlns:a="http://schemas.openxmlformats.org/drawingml/2006/main">
              <a:ext uri="{FF2B5EF4-FFF2-40B4-BE49-F238E27FC236}">
                <a16:creationId xmlns:a16="http://schemas.microsoft.com/office/drawing/2014/main" id="{E9ECDA42-BE53-4E9D-8E25-90EBB8C3D542}"/>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파일 경로와 Prim 경로</a:t>
            </a:r>
          </a:p>
        </p:txBody>
      </p:sp>
      <p:sp>
        <p:nvSpPr>
          <p:cNvPr id="3" name="11   /   CBNU Omniverse Worksh">
            <a:extLst xmlns:a="http://schemas.openxmlformats.org/drawingml/2006/main">
              <a:ext uri="{FF2B5EF4-FFF2-40B4-BE49-F238E27FC236}">
                <a16:creationId xmlns:a16="http://schemas.microsoft.com/office/drawing/2014/main" id="{1BC86097-56E3-4B69-96C2-8FCAB43C5579}"/>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11   /   CBNU Omniverse Workshop</a:t>
            </a:r>
          </a:p>
        </p:txBody>
      </p:sp>
      <p:graphicFrame>
        <p:nvGraphicFramePr>
          <p:cNvPr id="4" name="">
            <a:extLst xmlns:a="http://schemas.openxmlformats.org/drawingml/2006/main">
              <a:ext uri="{FF2B5EF4-FFF2-40B4-BE49-F238E27FC236}">
                <a16:creationId xmlns:a16="http://schemas.microsoft.com/office/drawing/2014/main" id="{57B44F16-FC6D-44E6-9E0E-70E65A2DEA74}"/>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6812767"/>
                <a:gridCol w="2869620"/>
                <a:gridCol w="3881213"/>
              </a:tblGrid>
              <a:tr h="857250">
                <a:tc>
                  <a:txBody>
                    <a:bodyPr/>
                    <a:lstStyle/>
                    <a:p>
                      <a:r>
                        <a:rPr sz="2100" b="1">
                          <a:solidFill>
                            <a:srgbClr val="202322"/>
                          </a:solidFill>
                          <a:latin typeface="Malgun Gothic"/>
                          <a:ea typeface="Malgun Gothic"/>
                          <a:cs typeface="Malgun Gothic"/>
                        </a:rPr>
                        <a:t>표현</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종류</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사용하는 곳</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shared/assets/cad/BX200L-C001.usd</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파일 경로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파일 열기, Reference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/World/Equipment</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Prim 경로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객체 선택, API 조회</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xformOp:translate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속성 이름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GetAttribute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training:state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사용자 정의 속성</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상태 기록</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3947610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1   PART 3     USD 경로와 데이터">
            <a:extLst xmlns:a="http://schemas.openxmlformats.org/drawingml/2006/main">
              <a:ext uri="{FF2B5EF4-FFF2-40B4-BE49-F238E27FC236}">
                <a16:creationId xmlns:a16="http://schemas.microsoft.com/office/drawing/2014/main" id="{9FB17FBA-98F0-4370-9AA1-1801DA43356D}"/>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3     USD 경로와 데이터 구조</a:t>
            </a:r>
          </a:p>
        </p:txBody>
      </p:sp>
      <p:sp>
        <p:nvSpPr>
          <p:cNvPr id="2" name="Title">
            <a:extLst xmlns:a="http://schemas.openxmlformats.org/drawingml/2006/main">
              <a:ext uri="{FF2B5EF4-FFF2-40B4-BE49-F238E27FC236}">
                <a16:creationId xmlns:a16="http://schemas.microsoft.com/office/drawing/2014/main" id="{22BEF1E1-BDD1-4DBA-B03F-9342D0D0E61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타입과 속성 읽기</a:t>
            </a:r>
          </a:p>
        </p:txBody>
      </p:sp>
      <p:sp>
        <p:nvSpPr>
          <p:cNvPr id="3" name="12   /   CBNU Omniverse Worksh">
            <a:extLst xmlns:a="http://schemas.openxmlformats.org/drawingml/2006/main">
              <a:ext uri="{FF2B5EF4-FFF2-40B4-BE49-F238E27FC236}">
                <a16:creationId xmlns:a16="http://schemas.microsoft.com/office/drawing/2014/main" id="{ECBC941B-5FFD-4D70-87B8-79F3884E70DA}"/>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12   /   CBNU Omniverse Workshop</a:t>
            </a:r>
          </a:p>
        </p:txBody>
      </p:sp>
      <p:pic>
        <p:nvPicPr>
          <p:cNvPr id="4" name="">
            <a:extLst xmlns:a="http://schemas.openxmlformats.org/drawingml/2006/main">
              <a:ext uri="{FF2B5EF4-FFF2-40B4-BE49-F238E27FC236}">
                <a16:creationId xmlns:a16="http://schemas.microsoft.com/office/drawing/2014/main" id="{524783AD-D27E-47BF-B2BB-0E87DF38AD20}"/>
              </a:ext>
            </a:extLst>
          </p:cNvPr>
          <p:cNvPicPr>
            <a:picLocks xmlns:a="http://schemas.openxmlformats.org/drawingml/2006/main" noChangeAspect="1"/>
          </p:cNvPicPr>
          <p:nvPr/>
        </p:nvPicPr>
        <p:blipFill>
          <a:blip xmlns:r="http://schemas.openxmlformats.org/officeDocument/2006/relationships" xmlns:a="http://schemas.openxmlformats.org/drawingml/2006/main" r:embed="R57e025f0556e46b4"/>
          <a:stretch xmlns:a="http://schemas.openxmlformats.org/drawingml/2006/main"/>
        </p:blipFill>
        <p:spPr>
          <a:xfrm xmlns:a="http://schemas.openxmlformats.org/drawingml/2006/main">
            <a:off x="1959809" y="2143125"/>
            <a:ext cx="3852782" cy="5286375"/>
          </a:xfrm>
          <a:prstGeom xmlns:a="http://schemas.openxmlformats.org/drawingml/2006/main" prst="rect">
            <a:avLst/>
          </a:prstGeom>
        </p:spPr>
      </p:pic>
      <p:sp>
        <p:nvSpPr>
          <p:cNvPr id="5" name="Cube는 Prim의 타입입니다.">
            <a:extLst xmlns:a="http://schemas.openxmlformats.org/drawingml/2006/main">
              <a:ext uri="{FF2B5EF4-FFF2-40B4-BE49-F238E27FC236}">
                <a16:creationId xmlns:a16="http://schemas.microsoft.com/office/drawing/2014/main" id="{1778A2DD-6007-4E76-BA84-792DC9D3FAA7}"/>
              </a:ext>
            </a:extLst>
          </p:cNvPr>
          <p:cNvSpPr>
            <a:spLocks xmlns:a="http://schemas.openxmlformats.org/drawingml/2006/main" noGrp="1"/>
          </p:cNvSpPr>
          <p:nvPr/>
        </p:nvSpPr>
        <p:spPr>
          <a:xfrm xmlns:a="http://schemas.openxmlformats.org/drawingml/2006/main">
            <a:off x="7953375" y="23336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Cube는 Prim의 타입입니다.</a:t>
            </a:r>
          </a:p>
        </p:txBody>
      </p:sp>
      <p:sp>
        <p:nvSpPr>
          <p:cNvPr id="6" name="Translate는 위치 속성입니다.">
            <a:extLst xmlns:a="http://schemas.openxmlformats.org/drawingml/2006/main">
              <a:ext uri="{FF2B5EF4-FFF2-40B4-BE49-F238E27FC236}">
                <a16:creationId xmlns:a16="http://schemas.microsoft.com/office/drawing/2014/main" id="{36E3C17E-0220-4BAB-896A-6F17F64C5A12}"/>
              </a:ext>
            </a:extLst>
          </p:cNvPr>
          <p:cNvSpPr>
            <a:spLocks xmlns:a="http://schemas.openxmlformats.org/drawingml/2006/main" noGrp="1"/>
          </p:cNvSpPr>
          <p:nvPr/>
        </p:nvSpPr>
        <p:spPr>
          <a:xfrm xmlns:a="http://schemas.openxmlformats.org/drawingml/2006/main">
            <a:off x="7953375" y="3524250"/>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Translate는 위치 속성입니다.</a:t>
            </a:r>
          </a:p>
        </p:txBody>
      </p:sp>
      <p:sp>
        <p:nvSpPr>
          <p:cNvPr id="7" name="RigidBodyAPI는 물리 기능을 부여합니다.">
            <a:extLst xmlns:a="http://schemas.openxmlformats.org/drawingml/2006/main">
              <a:ext uri="{FF2B5EF4-FFF2-40B4-BE49-F238E27FC236}">
                <a16:creationId xmlns:a16="http://schemas.microsoft.com/office/drawing/2014/main" id="{AEBFD91F-26C5-467C-A4F0-94D07FA40EAB}"/>
              </a:ext>
            </a:extLst>
          </p:cNvPr>
          <p:cNvSpPr>
            <a:spLocks xmlns:a="http://schemas.openxmlformats.org/drawingml/2006/main" noGrp="1"/>
          </p:cNvSpPr>
          <p:nvPr/>
        </p:nvSpPr>
        <p:spPr>
          <a:xfrm xmlns:a="http://schemas.openxmlformats.org/drawingml/2006/main">
            <a:off x="7953375" y="471487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RigidBodyAPI는 물리 기능을 부여합니다.</a:t>
            </a:r>
          </a:p>
        </p:txBody>
      </p:sp>
      <p:sp>
        <p:nvSpPr>
          <p:cNvPr id="8" name="사용자 속성은 상태 값을 기록합니다.">
            <a:extLst xmlns:a="http://schemas.openxmlformats.org/drawingml/2006/main">
              <a:ext uri="{FF2B5EF4-FFF2-40B4-BE49-F238E27FC236}">
                <a16:creationId xmlns:a16="http://schemas.microsoft.com/office/drawing/2014/main" id="{900F64E1-F610-4695-A781-A13B85F3CBDF}"/>
              </a:ext>
            </a:extLst>
          </p:cNvPr>
          <p:cNvSpPr>
            <a:spLocks xmlns:a="http://schemas.openxmlformats.org/drawingml/2006/main" noGrp="1"/>
          </p:cNvSpPr>
          <p:nvPr/>
        </p:nvSpPr>
        <p:spPr>
          <a:xfrm xmlns:a="http://schemas.openxmlformats.org/drawingml/2006/main">
            <a:off x="7953375" y="5905500"/>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사용자 속성은 상태 값을 기록합니다.</a:t>
            </a:r>
          </a:p>
        </p:txBody>
      </p:sp>
      <p:sp>
        <p:nvSpPr>
          <p:cNvPr id="9" name="기존 교재 화면 예시. 앱 버전에 따라 메뉴와 배치가 ">
            <a:extLst xmlns:a="http://schemas.openxmlformats.org/drawingml/2006/main">
              <a:ext uri="{FF2B5EF4-FFF2-40B4-BE49-F238E27FC236}">
                <a16:creationId xmlns:a16="http://schemas.microsoft.com/office/drawing/2014/main" id="{5DA3766F-4423-4E67-82C2-E4C31101C742}"/>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1366413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3     USD 경로와 데이터">
            <a:extLst xmlns:a="http://schemas.openxmlformats.org/drawingml/2006/main">
              <a:ext uri="{FF2B5EF4-FFF2-40B4-BE49-F238E27FC236}">
                <a16:creationId xmlns:a16="http://schemas.microsoft.com/office/drawing/2014/main" id="{0E7EA299-52DB-4336-ABF3-4EEAF232DEC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3     USD 경로와 데이터 구조</a:t>
            </a:r>
          </a:p>
        </p:txBody>
      </p:sp>
      <p:sp>
        <p:nvSpPr>
          <p:cNvPr id="2" name="Title">
            <a:extLst xmlns:a="http://schemas.openxmlformats.org/drawingml/2006/main">
              <a:ext uri="{FF2B5EF4-FFF2-40B4-BE49-F238E27FC236}">
                <a16:creationId xmlns:a16="http://schemas.microsoft.com/office/drawing/2014/main" id="{8D9C2E8B-2131-47C5-BE77-8F22158CB050}"/>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USD 파일과 자산 전달</a:t>
            </a:r>
          </a:p>
        </p:txBody>
      </p:sp>
      <p:sp>
        <p:nvSpPr>
          <p:cNvPr id="3" name="13   /   CBNU Omniverse Worksh">
            <a:extLst xmlns:a="http://schemas.openxmlformats.org/drawingml/2006/main">
              <a:ext uri="{FF2B5EF4-FFF2-40B4-BE49-F238E27FC236}">
                <a16:creationId xmlns:a16="http://schemas.microsoft.com/office/drawing/2014/main" id="{8F9E3153-CCB2-4F2C-BC68-4541E7578EE3}"/>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13   /   CBNU Omniverse Workshop</a:t>
            </a:r>
          </a:p>
        </p:txBody>
      </p:sp>
      <p:graphicFrame>
        <p:nvGraphicFramePr>
          <p:cNvPr id="4" name="">
            <a:extLst xmlns:a="http://schemas.openxmlformats.org/drawingml/2006/main">
              <a:ext uri="{FF2B5EF4-FFF2-40B4-BE49-F238E27FC236}">
                <a16:creationId xmlns:a16="http://schemas.microsoft.com/office/drawing/2014/main" id="{11F2AE0F-A4DA-4CEE-9542-36368B72B87F}"/>
              </a:ext>
            </a:extLst>
          </p:cNvPr>
          <p:cNvGraphicFramePr/>
          <p:nvPr/>
        </p:nvGraphicFramePr>
        <p:xfrm>
          <a:off xmlns:a="http://schemas.openxmlformats.org/drawingml/2006/main" x="838200" y="2190750"/>
          <a:ext xmlns:a="http://schemas.openxmlformats.org/drawingml/2006/main" cx="13563600" cy="5095875"/>
        </p:xfrm>
        <a:graphic xmlns:a="http://schemas.openxmlformats.org/drawingml/2006/main">
          <a:graphicData uri="http://schemas.openxmlformats.org/drawingml/2006/table">
            <a:tbl>
              <a:tblPr/>
              <a:tblGrid>
                <a:gridCol w="3841542"/>
                <a:gridCol w="9722058"/>
              </a:tblGrid>
              <a:tr h="849313">
                <a:tc>
                  <a:txBody>
                    <a:bodyPr/>
                    <a:lstStyle/>
                    <a:p>
                      <a:r>
                        <a:rPr sz="2100" b="1">
                          <a:solidFill>
                            <a:srgbClr val="202322"/>
                          </a:solidFill>
                          <a:latin typeface="Malgun Gothic"/>
                          <a:ea typeface="Malgun Gothic"/>
                          <a:cs typeface="Malgun Gothic"/>
                        </a:rPr>
                        <a:t>형식·항목</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이해할 점</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49313">
                <a:tc>
                  <a:txBody>
                    <a:bodyPr/>
                    <a:lstStyle/>
                    <a:p>
                      <a:r>
                        <a:rPr sz="2100" b="0">
                          <a:solidFill>
                            <a:srgbClr val="202322"/>
                          </a:solidFill>
                          <a:latin typeface="Malgun Gothic"/>
                          <a:ea typeface="Malgun Gothic"/>
                          <a:cs typeface="Malgun Gothic"/>
                        </a:rPr>
                        <a:t>.usda</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텍스트로 구조를 읽을 수 있음</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.usdc</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바이너리 표현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.usd</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확장자만으로 내부 형식을 단정하지 않음</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defaultPrim</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참조 진입점으로 사용할 Prim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상대 경로</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폴더 구조를 함께 전달해야 유지됨</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208723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4     합성 결과와 배치 V">
            <a:extLst xmlns:a="http://schemas.openxmlformats.org/drawingml/2006/main">
              <a:ext uri="{FF2B5EF4-FFF2-40B4-BE49-F238E27FC236}">
                <a16:creationId xmlns:a16="http://schemas.microsoft.com/office/drawing/2014/main" id="{1E289142-4275-4432-B05F-2867E19492BF}"/>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4     합성 결과와 배치 Variant</a:t>
            </a:r>
          </a:p>
        </p:txBody>
      </p:sp>
      <p:sp>
        <p:nvSpPr>
          <p:cNvPr id="2" name="Title">
            <a:extLst xmlns:a="http://schemas.openxmlformats.org/drawingml/2006/main">
              <a:ext uri="{FF2B5EF4-FFF2-40B4-BE49-F238E27FC236}">
                <a16:creationId xmlns:a16="http://schemas.microsoft.com/office/drawing/2014/main" id="{B35498F4-1CA0-4861-9A98-8F2F2A294EBB}"/>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Layer와 편집 대상</a:t>
            </a:r>
          </a:p>
        </p:txBody>
      </p:sp>
      <p:sp>
        <p:nvSpPr>
          <p:cNvPr id="3" name="14   /   CBNU Omniverse Worksh">
            <a:extLst xmlns:a="http://schemas.openxmlformats.org/drawingml/2006/main">
              <a:ext uri="{FF2B5EF4-FFF2-40B4-BE49-F238E27FC236}">
                <a16:creationId xmlns:a16="http://schemas.microsoft.com/office/drawing/2014/main" id="{94EDE6BF-54CF-4ACB-ADAE-07FA42B40810}"/>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14   /   CBNU Omniverse Workshop</a:t>
            </a:r>
          </a:p>
        </p:txBody>
      </p:sp>
      <p:pic>
        <p:nvPicPr>
          <p:cNvPr id="4" name="">
            <a:extLst xmlns:a="http://schemas.openxmlformats.org/drawingml/2006/main">
              <a:ext uri="{FF2B5EF4-FFF2-40B4-BE49-F238E27FC236}">
                <a16:creationId xmlns:a16="http://schemas.microsoft.com/office/drawing/2014/main" id="{6B155077-5CC7-49EF-8B5F-B76BA9D0EE9C}"/>
              </a:ext>
            </a:extLst>
          </p:cNvPr>
          <p:cNvPicPr>
            <a:picLocks xmlns:a="http://schemas.openxmlformats.org/drawingml/2006/main" noChangeAspect="1"/>
          </p:cNvPicPr>
          <p:nvPr/>
        </p:nvPicPr>
        <p:blipFill>
          <a:blip xmlns:r="http://schemas.openxmlformats.org/officeDocument/2006/relationships" xmlns:a="http://schemas.openxmlformats.org/drawingml/2006/main" r:embed="R683060d0b90a4492"/>
          <a:stretch xmlns:a="http://schemas.openxmlformats.org/drawingml/2006/main"/>
        </p:blipFill>
        <p:spPr>
          <a:xfrm xmlns:a="http://schemas.openxmlformats.org/drawingml/2006/main">
            <a:off x="2621895" y="2143125"/>
            <a:ext cx="5386110" cy="4953000"/>
          </a:xfrm>
          <a:prstGeom xmlns:a="http://schemas.openxmlformats.org/drawingml/2006/main" prst="rect">
            <a:avLst/>
          </a:prstGeom>
        </p:spPr>
      </p:pic>
      <p:sp>
        <p:nvSpPr>
          <p:cNvPr id="5" name="현재 값을 어느 Layer에 기록하는지 확인합니다.">
            <a:extLst xmlns:a="http://schemas.openxmlformats.org/drawingml/2006/main">
              <a:ext uri="{FF2B5EF4-FFF2-40B4-BE49-F238E27FC236}">
                <a16:creationId xmlns:a16="http://schemas.microsoft.com/office/drawing/2014/main" id="{3C26F123-B51F-4B70-BAD3-BB5B7E832D26}"/>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현재 값을 어느 Layer에 기록하는지 확인합니다.</a:t>
            </a:r>
          </a:p>
        </p:txBody>
      </p:sp>
      <p:sp>
        <p:nvSpPr>
          <p:cNvPr id="6" name="원본 형상과 검토 의견을 분리합니다.">
            <a:extLst xmlns:a="http://schemas.openxmlformats.org/drawingml/2006/main">
              <a:ext uri="{FF2B5EF4-FFF2-40B4-BE49-F238E27FC236}">
                <a16:creationId xmlns:a16="http://schemas.microsoft.com/office/drawing/2014/main" id="{9EDE5436-C13A-4B1B-8241-FE7FFCBB2577}"/>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원본 형상과 검토 의견을 분리합니다.</a:t>
            </a:r>
          </a:p>
        </p:txBody>
      </p:sp>
      <p:sp>
        <p:nvSpPr>
          <p:cNvPr id="7" name="보이는 결과는 합성된 값입니다.">
            <a:extLst xmlns:a="http://schemas.openxmlformats.org/drawingml/2006/main">
              <a:ext uri="{FF2B5EF4-FFF2-40B4-BE49-F238E27FC236}">
                <a16:creationId xmlns:a16="http://schemas.microsoft.com/office/drawing/2014/main" id="{2AA68E6A-9EE4-483E-9D29-0F295058B8A8}"/>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보이는 결과는 합성된 값입니다.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F4134E10-0EC4-4F20-BFE9-C477B387BCA6}"/>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12682926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4     합성 결과와 배치 V">
            <a:extLst xmlns:a="http://schemas.openxmlformats.org/drawingml/2006/main">
              <a:ext uri="{FF2B5EF4-FFF2-40B4-BE49-F238E27FC236}">
                <a16:creationId xmlns:a16="http://schemas.microsoft.com/office/drawing/2014/main" id="{77F64AD9-40A4-4F6A-825A-D2A297ECE749}"/>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4     합성 결과와 배치 Variant</a:t>
            </a:r>
          </a:p>
        </p:txBody>
      </p:sp>
      <p:sp>
        <p:nvSpPr>
          <p:cNvPr id="2" name="Title">
            <a:extLst xmlns:a="http://schemas.openxmlformats.org/drawingml/2006/main">
              <a:ext uri="{FF2B5EF4-FFF2-40B4-BE49-F238E27FC236}">
                <a16:creationId xmlns:a16="http://schemas.microsoft.com/office/drawing/2014/main" id="{50C10019-18B1-49D1-8646-3C5243D4F683}"/>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원본 색과 검토 색</a:t>
            </a:r>
          </a:p>
        </p:txBody>
      </p:sp>
      <p:sp>
        <p:nvSpPr>
          <p:cNvPr id="3" name="15   /   CBNU Omniverse Worksh">
            <a:extLst xmlns:a="http://schemas.openxmlformats.org/drawingml/2006/main">
              <a:ext uri="{FF2B5EF4-FFF2-40B4-BE49-F238E27FC236}">
                <a16:creationId xmlns:a16="http://schemas.microsoft.com/office/drawing/2014/main" id="{5CB41C77-F1C0-4C4D-9080-74755A61D78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15   /   CBNU Omniverse Workshop</a:t>
            </a:r>
          </a:p>
        </p:txBody>
      </p:sp>
      <p:graphicFrame>
        <p:nvGraphicFramePr>
          <p:cNvPr id="4" name="">
            <a:extLst xmlns:a="http://schemas.openxmlformats.org/drawingml/2006/main">
              <a:ext uri="{FF2B5EF4-FFF2-40B4-BE49-F238E27FC236}">
                <a16:creationId xmlns:a16="http://schemas.microsoft.com/office/drawing/2014/main" id="{42241135-C3EE-408E-8E67-0A14CF5E86B3}"/>
              </a:ext>
            </a:extLst>
          </p:cNvPr>
          <p:cNvGraphicFramePr/>
          <p:nvPr/>
        </p:nvGraphicFramePr>
        <p:xfrm>
          <a:off xmlns:a="http://schemas.openxmlformats.org/drawingml/2006/main" x="838200" y="2190750"/>
          <a:ext xmlns:a="http://schemas.openxmlformats.org/drawingml/2006/main" cx="13563600" cy="3429000"/>
        </p:xfrm>
        <a:graphic xmlns:a="http://schemas.openxmlformats.org/drawingml/2006/main">
          <a:graphicData uri="http://schemas.openxmlformats.org/drawingml/2006/table">
            <a:tbl>
              <a:tblPr/>
              <a:tblGrid>
                <a:gridCol w="4056693"/>
                <a:gridCol w="5357312"/>
                <a:gridCol w="4149595"/>
              </a:tblGrid>
              <a:tr h="857250">
                <a:tc>
                  <a:txBody>
                    <a:bodyPr/>
                    <a:lstStyle/>
                    <a:p>
                      <a:r>
                        <a:rPr sz="2100" b="1">
                          <a:solidFill>
                            <a:srgbClr val="202322"/>
                          </a:solidFill>
                          <a:latin typeface="Malgun Gothic"/>
                          <a:ea typeface="Malgun Gothic"/>
                          <a:cs typeface="Malgun Gothic"/>
                        </a:rPr>
                        <a:t>열 파일</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ReferencePart</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원본 part.usda</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assembly.usda</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청록색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청록색 유지</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review.usda</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빨간색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청록색 유지</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review 색 수정</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보라색으로 변경 가능</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원본 수정 없음</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6981310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4     합성 결과와 배치 V">
            <a:extLst xmlns:a="http://schemas.openxmlformats.org/drawingml/2006/main">
              <a:ext uri="{FF2B5EF4-FFF2-40B4-BE49-F238E27FC236}">
                <a16:creationId xmlns:a16="http://schemas.microsoft.com/office/drawing/2014/main" id="{FC87307D-6B48-4BEC-9801-94CDA737CC7A}"/>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4     합성 결과와 배치 Variant</a:t>
            </a:r>
          </a:p>
        </p:txBody>
      </p:sp>
      <p:sp>
        <p:nvSpPr>
          <p:cNvPr id="2" name="Title">
            <a:extLst xmlns:a="http://schemas.openxmlformats.org/drawingml/2006/main">
              <a:ext uri="{FF2B5EF4-FFF2-40B4-BE49-F238E27FC236}">
                <a16:creationId xmlns:a16="http://schemas.microsoft.com/office/drawing/2014/main" id="{10930113-B261-4930-91CD-F6079466856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Reference로 자산 재사용</a:t>
            </a:r>
          </a:p>
        </p:txBody>
      </p:sp>
      <p:sp>
        <p:nvSpPr>
          <p:cNvPr id="3" name="16   /   CBNU Omniverse Worksh">
            <a:extLst xmlns:a="http://schemas.openxmlformats.org/drawingml/2006/main">
              <a:ext uri="{FF2B5EF4-FFF2-40B4-BE49-F238E27FC236}">
                <a16:creationId xmlns:a16="http://schemas.microsoft.com/office/drawing/2014/main" id="{42A3BE9E-65D0-40DD-B91B-B4BB1F467FF2}"/>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16   /   CBNU Omniverse Workshop</a:t>
            </a:r>
          </a:p>
        </p:txBody>
      </p:sp>
      <p:pic>
        <p:nvPicPr>
          <p:cNvPr id="4" name="">
            <a:extLst xmlns:a="http://schemas.openxmlformats.org/drawingml/2006/main">
              <a:ext uri="{FF2B5EF4-FFF2-40B4-BE49-F238E27FC236}">
                <a16:creationId xmlns:a16="http://schemas.microsoft.com/office/drawing/2014/main" id="{26A31F18-0E6E-4CA3-A638-B8E5A585A858}"/>
              </a:ext>
            </a:extLst>
          </p:cNvPr>
          <p:cNvPicPr>
            <a:picLocks xmlns:a="http://schemas.openxmlformats.org/drawingml/2006/main" noChangeAspect="1"/>
          </p:cNvPicPr>
          <p:nvPr/>
        </p:nvPicPr>
        <p:blipFill>
          <a:blip xmlns:r="http://schemas.openxmlformats.org/officeDocument/2006/relationships" xmlns:a="http://schemas.openxmlformats.org/drawingml/2006/main" r:embed="Rd7218d99648a44d8"/>
          <a:stretch xmlns:a="http://schemas.openxmlformats.org/drawingml/2006/main"/>
        </p:blipFill>
        <p:spPr>
          <a:xfrm xmlns:a="http://schemas.openxmlformats.org/drawingml/2006/main">
            <a:off x="838200" y="2703157"/>
            <a:ext cx="8953500" cy="3832936"/>
          </a:xfrm>
          <a:prstGeom xmlns:a="http://schemas.openxmlformats.org/drawingml/2006/main" prst="rect">
            <a:avLst/>
          </a:prstGeom>
        </p:spPr>
      </p:pic>
      <p:sp>
        <p:nvSpPr>
          <p:cNvPr id="5" name="대상 Prim에 외부 USD를 연결합니다.">
            <a:extLst xmlns:a="http://schemas.openxmlformats.org/drawingml/2006/main">
              <a:ext uri="{FF2B5EF4-FFF2-40B4-BE49-F238E27FC236}">
                <a16:creationId xmlns:a16="http://schemas.microsoft.com/office/drawing/2014/main" id="{64BEB360-6B4B-4456-A723-6EBF7F37D479}"/>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대상 Prim에 외부 USD를 연결합니다.</a:t>
            </a:r>
          </a:p>
        </p:txBody>
      </p:sp>
      <p:sp>
        <p:nvSpPr>
          <p:cNvPr id="6" name="원본 형상과 재질을 재사용합니다.">
            <a:extLst xmlns:a="http://schemas.openxmlformats.org/drawingml/2006/main">
              <a:ext uri="{FF2B5EF4-FFF2-40B4-BE49-F238E27FC236}">
                <a16:creationId xmlns:a16="http://schemas.microsoft.com/office/drawing/2014/main" id="{8B014C1A-22CF-498F-9B76-CF2363E05C51}"/>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원본 형상과 재질을 재사용합니다.</a:t>
            </a:r>
          </a:p>
        </p:txBody>
      </p:sp>
      <p:sp>
        <p:nvSpPr>
          <p:cNvPr id="7" name="배치와 검토 값은 상위에서 작성합니다.">
            <a:extLst xmlns:a="http://schemas.openxmlformats.org/drawingml/2006/main">
              <a:ext uri="{FF2B5EF4-FFF2-40B4-BE49-F238E27FC236}">
                <a16:creationId xmlns:a16="http://schemas.microsoft.com/office/drawing/2014/main" id="{BA692750-2061-4D5B-B2F2-182AAECF097F}"/>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배치와 검토 값은 상위에서 작성합니다.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8D8AC9A6-21C2-4D20-A056-91FB5C1936BD}"/>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21298182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4     합성 결과와 배치 V">
            <a:extLst xmlns:a="http://schemas.openxmlformats.org/drawingml/2006/main">
              <a:ext uri="{FF2B5EF4-FFF2-40B4-BE49-F238E27FC236}">
                <a16:creationId xmlns:a16="http://schemas.microsoft.com/office/drawing/2014/main" id="{63E84EDD-7142-49FC-B5CA-5AAA1A556AFB}"/>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4     합성 결과와 배치 Variant</a:t>
            </a:r>
          </a:p>
        </p:txBody>
      </p:sp>
      <p:sp>
        <p:nvSpPr>
          <p:cNvPr id="2" name="Title">
            <a:extLst xmlns:a="http://schemas.openxmlformats.org/drawingml/2006/main">
              <a:ext uri="{FF2B5EF4-FFF2-40B4-BE49-F238E27FC236}">
                <a16:creationId xmlns:a16="http://schemas.microsoft.com/office/drawing/2014/main" id="{4BBF0545-4CAA-4E01-8288-D88E3C4C83D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Payload의 로드와 언로드</a:t>
            </a:r>
          </a:p>
        </p:txBody>
      </p:sp>
      <p:sp>
        <p:nvSpPr>
          <p:cNvPr id="3" name="17   /   CBNU Omniverse Worksh">
            <a:extLst xmlns:a="http://schemas.openxmlformats.org/drawingml/2006/main">
              <a:ext uri="{FF2B5EF4-FFF2-40B4-BE49-F238E27FC236}">
                <a16:creationId xmlns:a16="http://schemas.microsoft.com/office/drawing/2014/main" id="{B10E3CC8-15C2-4E1F-A373-9E5D7EE5DE3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17   /   CBNU Omniverse Workshop</a:t>
            </a:r>
          </a:p>
        </p:txBody>
      </p:sp>
      <p:pic>
        <p:nvPicPr>
          <p:cNvPr id="4" name="">
            <a:extLst xmlns:a="http://schemas.openxmlformats.org/drawingml/2006/main">
              <a:ext uri="{FF2B5EF4-FFF2-40B4-BE49-F238E27FC236}">
                <a16:creationId xmlns:a16="http://schemas.microsoft.com/office/drawing/2014/main" id="{092658FE-6643-4FF7-92B7-0C9B7B17D21E}"/>
              </a:ext>
            </a:extLst>
          </p:cNvPr>
          <p:cNvPicPr>
            <a:picLocks xmlns:a="http://schemas.openxmlformats.org/drawingml/2006/main" noChangeAspect="1"/>
          </p:cNvPicPr>
          <p:nvPr/>
        </p:nvPicPr>
        <p:blipFill>
          <a:blip xmlns:r="http://schemas.openxmlformats.org/officeDocument/2006/relationships" xmlns:a="http://schemas.openxmlformats.org/drawingml/2006/main" r:embed="R3798b020c3bb4f56"/>
          <a:stretch xmlns:a="http://schemas.openxmlformats.org/drawingml/2006/main"/>
        </p:blipFill>
        <p:spPr>
          <a:xfrm xmlns:a="http://schemas.openxmlformats.org/drawingml/2006/main">
            <a:off x="838200" y="2286382"/>
            <a:ext cx="8953500" cy="4666486"/>
          </a:xfrm>
          <a:prstGeom xmlns:a="http://schemas.openxmlformats.org/drawingml/2006/main" prst="rect">
            <a:avLst/>
          </a:prstGeom>
        </p:spPr>
      </p:pic>
      <p:sp>
        <p:nvSpPr>
          <p:cNvPr id="5" name="로드 여부를 명시적으로 바꿉니다.">
            <a:extLst xmlns:a="http://schemas.openxmlformats.org/drawingml/2006/main">
              <a:ext uri="{FF2B5EF4-FFF2-40B4-BE49-F238E27FC236}">
                <a16:creationId xmlns:a16="http://schemas.microsoft.com/office/drawing/2014/main" id="{379D17E6-0A1F-465E-AB66-7B73802A59D2}"/>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로드 여부를 명시적으로 바꿉니다.</a:t>
            </a:r>
          </a:p>
        </p:txBody>
      </p:sp>
      <p:sp>
        <p:nvSpPr>
          <p:cNvPr id="6" name="언로드는 원본 파일 삭제가 아닙니다.">
            <a:extLst xmlns:a="http://schemas.openxmlformats.org/drawingml/2006/main">
              <a:ext uri="{FF2B5EF4-FFF2-40B4-BE49-F238E27FC236}">
                <a16:creationId xmlns:a16="http://schemas.microsoft.com/office/drawing/2014/main" id="{8ED3514F-2B61-4264-8138-3BB19F188574}"/>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언로드는 원본 파일 삭제가 아닙니다.</a:t>
            </a:r>
          </a:p>
        </p:txBody>
      </p:sp>
      <p:sp>
        <p:nvSpPr>
          <p:cNvPr id="7" name="현재 장면의 데이터 로드를 조절합니다.">
            <a:extLst xmlns:a="http://schemas.openxmlformats.org/drawingml/2006/main">
              <a:ext uri="{FF2B5EF4-FFF2-40B4-BE49-F238E27FC236}">
                <a16:creationId xmlns:a16="http://schemas.microsoft.com/office/drawing/2014/main" id="{8B85A3E9-4526-48B0-8576-09BFD862A914}"/>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현재 장면의 데이터 로드를 조절합니다.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6C9C0C6B-B035-4F1F-837C-9282BF935403}"/>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19668914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4     합성 결과와 배치 V">
            <a:extLst xmlns:a="http://schemas.openxmlformats.org/drawingml/2006/main">
              <a:ext uri="{FF2B5EF4-FFF2-40B4-BE49-F238E27FC236}">
                <a16:creationId xmlns:a16="http://schemas.microsoft.com/office/drawing/2014/main" id="{0CC4A39B-4CF9-4C03-9F3B-871667B96FAF}"/>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4     합성 결과와 배치 Variant</a:t>
            </a:r>
          </a:p>
        </p:txBody>
      </p:sp>
      <p:sp>
        <p:nvSpPr>
          <p:cNvPr id="2" name="Title">
            <a:extLst xmlns:a="http://schemas.openxmlformats.org/drawingml/2006/main">
              <a:ext uri="{FF2B5EF4-FFF2-40B4-BE49-F238E27FC236}">
                <a16:creationId xmlns:a16="http://schemas.microsoft.com/office/drawing/2014/main" id="{9987F8BE-C5DB-4667-AE05-D6B7269EAFD7}"/>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배치 대안을 Variant로 보관</a:t>
            </a:r>
          </a:p>
        </p:txBody>
      </p:sp>
      <p:sp>
        <p:nvSpPr>
          <p:cNvPr id="3" name="18   /   CBNU Omniverse Worksh">
            <a:extLst xmlns:a="http://schemas.openxmlformats.org/drawingml/2006/main">
              <a:ext uri="{FF2B5EF4-FFF2-40B4-BE49-F238E27FC236}">
                <a16:creationId xmlns:a16="http://schemas.microsoft.com/office/drawing/2014/main" id="{AB70CCC9-ACDD-49BD-A572-38F5E8FBBE8E}"/>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18   /   CBNU Omniverse Workshop</a:t>
            </a:r>
          </a:p>
        </p:txBody>
      </p:sp>
      <p:graphicFrame>
        <p:nvGraphicFramePr>
          <p:cNvPr id="4" name="">
            <a:extLst xmlns:a="http://schemas.openxmlformats.org/drawingml/2006/main">
              <a:ext uri="{FF2B5EF4-FFF2-40B4-BE49-F238E27FC236}">
                <a16:creationId xmlns:a16="http://schemas.microsoft.com/office/drawing/2014/main" id="{F537B0CE-9A2B-4298-8509-E1058A62CA7F}"/>
              </a:ext>
            </a:extLst>
          </p:cNvPr>
          <p:cNvGraphicFramePr/>
          <p:nvPr/>
        </p:nvGraphicFramePr>
        <p:xfrm>
          <a:off xmlns:a="http://schemas.openxmlformats.org/drawingml/2006/main" x="838200" y="2190750"/>
          <a:ext xmlns:a="http://schemas.openxmlformats.org/drawingml/2006/main" cx="13563600" cy="2571750"/>
        </p:xfrm>
        <a:graphic xmlns:a="http://schemas.openxmlformats.org/drawingml/2006/main">
          <a:graphicData uri="http://schemas.openxmlformats.org/drawingml/2006/table">
            <a:tbl>
              <a:tblPr/>
              <a:tblGrid>
                <a:gridCol w="3390900"/>
                <a:gridCol w="3390900"/>
                <a:gridCol w="3390900"/>
                <a:gridCol w="3390900"/>
              </a:tblGrid>
              <a:tr h="857250">
                <a:tc>
                  <a:txBody>
                    <a:bodyPr/>
                    <a:lstStyle/>
                    <a:p>
                      <a:r>
                        <a:rPr sz="2100" b="1">
                          <a:solidFill>
                            <a:srgbClr val="202322"/>
                          </a:solidFill>
                          <a:latin typeface="Malgun Gothic"/>
                          <a:ea typeface="Malgun Gothic"/>
                          <a:cs typeface="Malgun Gothic"/>
                        </a:rPr>
                        <a:t>layout 선택</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Tray_1 X</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Tray_3 X</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두 중심의 거리</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compact</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0.40m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1.30m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0.90m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wide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0.40m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2.10m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1.70m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4161935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1   PART 4     합성 결과와 배치 V">
            <a:extLst xmlns:a="http://schemas.openxmlformats.org/drawingml/2006/main">
              <a:ext uri="{FF2B5EF4-FFF2-40B4-BE49-F238E27FC236}">
                <a16:creationId xmlns:a16="http://schemas.microsoft.com/office/drawing/2014/main" id="{E001B241-EBC3-49AA-8271-936254540653}"/>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4     합성 결과와 배치 Variant</a:t>
            </a:r>
          </a:p>
        </p:txBody>
      </p:sp>
      <p:sp>
        <p:nvSpPr>
          <p:cNvPr id="2" name="Title">
            <a:extLst xmlns:a="http://schemas.openxmlformats.org/drawingml/2006/main">
              <a:ext uri="{FF2B5EF4-FFF2-40B4-BE49-F238E27FC236}">
                <a16:creationId xmlns:a16="http://schemas.microsoft.com/office/drawing/2014/main" id="{458C5CE7-C7BB-4D3C-B355-9F802A074F2B}"/>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배치 선택과 변경 의견 확인</a:t>
            </a:r>
          </a:p>
        </p:txBody>
      </p:sp>
      <p:sp>
        <p:nvSpPr>
          <p:cNvPr id="3" name="19   /   CBNU Omniverse Worksh">
            <a:extLst xmlns:a="http://schemas.openxmlformats.org/drawingml/2006/main">
              <a:ext uri="{FF2B5EF4-FFF2-40B4-BE49-F238E27FC236}">
                <a16:creationId xmlns:a16="http://schemas.microsoft.com/office/drawing/2014/main" id="{8C53B050-BD92-4D22-A97C-901C4B8BBAE4}"/>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19   /   CBNU Omniverse Workshop</a:t>
            </a:r>
          </a:p>
        </p:txBody>
      </p:sp>
      <p:sp>
        <p:nvSpPr>
          <p:cNvPr id="4" name="05_layout_variants.usda / 07_l">
            <a:extLst xmlns:a="http://schemas.openxmlformats.org/drawingml/2006/main">
              <a:ext uri="{FF2B5EF4-FFF2-40B4-BE49-F238E27FC236}">
                <a16:creationId xmlns:a16="http://schemas.microsoft.com/office/drawing/2014/main" id="{A784B255-C5C5-4602-A26E-D1C47D504B9E}"/>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05_layout_variants.usda / 07_layout_variant.py</a:t>
            </a:r>
          </a:p>
        </p:txBody>
      </p:sp>
      <p:sp>
        <p:nvSpPr>
          <p:cNvPr id="5" name="01">
            <a:extLst xmlns:a="http://schemas.openxmlformats.org/drawingml/2006/main">
              <a:ext uri="{FF2B5EF4-FFF2-40B4-BE49-F238E27FC236}">
                <a16:creationId xmlns:a16="http://schemas.microsoft.com/office/drawing/2014/main" id="{DB7E8861-24B2-4185-B681-399F675D436C}"/>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compact와 wide를 차례로 선택합니다.">
            <a:extLst xmlns:a="http://schemas.openxmlformats.org/drawingml/2006/main">
              <a:ext uri="{FF2B5EF4-FFF2-40B4-BE49-F238E27FC236}">
                <a16:creationId xmlns:a16="http://schemas.microsoft.com/office/drawing/2014/main" id="{DFE17ED2-0770-4058-AC87-A0C535CCF332}"/>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compact와 wide를 차례로 선택합니다.</a:t>
            </a:r>
          </a:p>
        </p:txBody>
      </p:sp>
      <p:sp>
        <p:nvSpPr>
          <p:cNvPr id="7" name="02">
            <a:extLst xmlns:a="http://schemas.openxmlformats.org/drawingml/2006/main">
              <a:ext uri="{FF2B5EF4-FFF2-40B4-BE49-F238E27FC236}">
                <a16:creationId xmlns:a16="http://schemas.microsoft.com/office/drawing/2014/main" id="{AF80323B-6664-471A-8A9A-555D4BDD1CB9}"/>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Tray_1과 Tray_3의 좌표를 비교합니다.">
            <a:extLst xmlns:a="http://schemas.openxmlformats.org/drawingml/2006/main">
              <a:ext uri="{FF2B5EF4-FFF2-40B4-BE49-F238E27FC236}">
                <a16:creationId xmlns:a16="http://schemas.microsoft.com/office/drawing/2014/main" id="{050F5963-6AD7-446F-BD26-D4C0F5ADB3E9}"/>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Tray_1과 Tray_3의 좌표를 비교합니다.</a:t>
            </a:r>
          </a:p>
        </p:txBody>
      </p:sp>
      <p:sp>
        <p:nvSpPr>
          <p:cNvPr id="9" name="03">
            <a:extLst xmlns:a="http://schemas.openxmlformats.org/drawingml/2006/main">
              <a:ext uri="{FF2B5EF4-FFF2-40B4-BE49-F238E27FC236}">
                <a16:creationId xmlns:a16="http://schemas.microsoft.com/office/drawing/2014/main" id="{2A856DC4-A0FC-4478-9E58-324640FFD4F2}"/>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필요한 작업 공간과 배치 밀도를 설명합니다.">
            <a:extLst xmlns:a="http://schemas.openxmlformats.org/drawingml/2006/main">
              <a:ext uri="{FF2B5EF4-FFF2-40B4-BE49-F238E27FC236}">
                <a16:creationId xmlns:a16="http://schemas.microsoft.com/office/drawing/2014/main" id="{A2BCF5AE-81FC-40AC-A2DC-D3A3888FBFEA}"/>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필요한 작업 공간과 배치 밀도를 설명합니다.</a:t>
            </a:r>
          </a:p>
        </p:txBody>
      </p:sp>
      <p:sp>
        <p:nvSpPr>
          <p:cNvPr id="11" name="04">
            <a:extLst xmlns:a="http://schemas.openxmlformats.org/drawingml/2006/main">
              <a:ext uri="{FF2B5EF4-FFF2-40B4-BE49-F238E27FC236}">
                <a16:creationId xmlns:a16="http://schemas.microsoft.com/office/drawing/2014/main" id="{3F4B802B-859E-4833-88D4-057B00DB2954}"/>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원본 파일 복제 없이 두 안을 보관한 방법을 적습니다.">
            <a:extLst xmlns:a="http://schemas.openxmlformats.org/drawingml/2006/main">
              <a:ext uri="{FF2B5EF4-FFF2-40B4-BE49-F238E27FC236}">
                <a16:creationId xmlns:a16="http://schemas.microsoft.com/office/drawing/2014/main" id="{734CA245-F565-45A9-AC65-509F1A9AA8A1}"/>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원본 파일 복제 없이 두 안을 보관한 방법을 적습니다.</a:t>
            </a:r>
          </a:p>
        </p:txBody>
      </p:sp>
    </p:spTree>
    <p:extLst>
      <p:ext uri="{BB962C8B-B14F-4D97-AF65-F5344CB8AC3E}">
        <p14:creationId xmlns:p14="http://schemas.microsoft.com/office/powerpoint/2010/main" val="1061032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5     CAD 크기 검수와 ">
            <a:extLst xmlns:a="http://schemas.openxmlformats.org/drawingml/2006/main">
              <a:ext uri="{FF2B5EF4-FFF2-40B4-BE49-F238E27FC236}">
                <a16:creationId xmlns:a16="http://schemas.microsoft.com/office/drawing/2014/main" id="{3646A453-8278-4E62-A49C-876DA23F2FF3}"/>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5     CAD 크기 검수와 오류 찾기</a:t>
            </a:r>
          </a:p>
        </p:txBody>
      </p:sp>
      <p:sp>
        <p:nvSpPr>
          <p:cNvPr id="2" name="Title">
            <a:extLst xmlns:a="http://schemas.openxmlformats.org/drawingml/2006/main">
              <a:ext uri="{FF2B5EF4-FFF2-40B4-BE49-F238E27FC236}">
                <a16:creationId xmlns:a16="http://schemas.microsoft.com/office/drawing/2014/main" id="{A198CB00-F66C-4B63-913D-DB91AF6D357A}"/>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CAD에서 장면까지</a:t>
            </a:r>
          </a:p>
        </p:txBody>
      </p:sp>
      <p:sp>
        <p:nvSpPr>
          <p:cNvPr id="3" name="20   /   CBNU Omniverse Worksh">
            <a:extLst xmlns:a="http://schemas.openxmlformats.org/drawingml/2006/main">
              <a:ext uri="{FF2B5EF4-FFF2-40B4-BE49-F238E27FC236}">
                <a16:creationId xmlns:a16="http://schemas.microsoft.com/office/drawing/2014/main" id="{0DBF3587-C666-42C3-98E1-F28542823D32}"/>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20   /   CBNU Omniverse Workshop</a:t>
            </a:r>
          </a:p>
        </p:txBody>
      </p:sp>
      <p:graphicFrame>
        <p:nvGraphicFramePr>
          <p:cNvPr id="4" name="">
            <a:extLst xmlns:a="http://schemas.openxmlformats.org/drawingml/2006/main">
              <a:ext uri="{FF2B5EF4-FFF2-40B4-BE49-F238E27FC236}">
                <a16:creationId xmlns:a16="http://schemas.microsoft.com/office/drawing/2014/main" id="{92CC8C62-3871-4F09-9EE0-9297B77CFA2F}"/>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3259275"/>
                <a:gridCol w="5290055"/>
                <a:gridCol w="5014270"/>
              </a:tblGrid>
              <a:tr h="857250">
                <a:tc>
                  <a:txBody>
                    <a:bodyPr/>
                    <a:lstStyle/>
                    <a:p>
                      <a:r>
                        <a:rPr sz="2100" b="1">
                          <a:solidFill>
                            <a:srgbClr val="202322"/>
                          </a:solidFill>
                          <a:latin typeface="Malgun Gothic"/>
                          <a:ea typeface="Malgun Gothic"/>
                          <a:cs typeface="Malgun Gothic"/>
                        </a:rPr>
                        <a:t>단계</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작업</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확인할 결과</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Import</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STP를 USD로 변환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형상과 조립 계층</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검수</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축·단위·크기 비교</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기준 치수와 일치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배치</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래퍼 Xform에 Reference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원본과 배치 분리</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활용</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측정·단면·피벗 조작</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설계 검토 질문에 답하기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6449227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5     CAD 크기 검수와 ">
            <a:extLst xmlns:a="http://schemas.openxmlformats.org/drawingml/2006/main">
              <a:ext uri="{FF2B5EF4-FFF2-40B4-BE49-F238E27FC236}">
                <a16:creationId xmlns:a16="http://schemas.microsoft.com/office/drawing/2014/main" id="{B6F316EC-C74B-4170-AB72-D22749EAC0AB}"/>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5     CAD 크기 검수와 오류 찾기</a:t>
            </a:r>
          </a:p>
        </p:txBody>
      </p:sp>
      <p:sp>
        <p:nvSpPr>
          <p:cNvPr id="2" name="Title">
            <a:extLst xmlns:a="http://schemas.openxmlformats.org/drawingml/2006/main">
              <a:ext uri="{FF2B5EF4-FFF2-40B4-BE49-F238E27FC236}">
                <a16:creationId xmlns:a16="http://schemas.microsoft.com/office/drawing/2014/main" id="{A879FB52-4B63-40B8-9C83-6D96B83972F0}"/>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단위 표기와 실제 크기</a:t>
            </a:r>
          </a:p>
        </p:txBody>
      </p:sp>
      <p:sp>
        <p:nvSpPr>
          <p:cNvPr id="3" name="21   /   CBNU Omniverse Worksh">
            <a:extLst xmlns:a="http://schemas.openxmlformats.org/drawingml/2006/main">
              <a:ext uri="{FF2B5EF4-FFF2-40B4-BE49-F238E27FC236}">
                <a16:creationId xmlns:a16="http://schemas.microsoft.com/office/drawing/2014/main" id="{7B9996C5-15BA-4DFD-A976-1E906FBDFB94}"/>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21   /   CBNU Omniverse Workshop</a:t>
            </a:r>
          </a:p>
        </p:txBody>
      </p:sp>
      <p:graphicFrame>
        <p:nvGraphicFramePr>
          <p:cNvPr id="4" name="">
            <a:extLst xmlns:a="http://schemas.openxmlformats.org/drawingml/2006/main">
              <a:ext uri="{FF2B5EF4-FFF2-40B4-BE49-F238E27FC236}">
                <a16:creationId xmlns:a16="http://schemas.microsoft.com/office/drawing/2014/main" id="{BFC3225A-5C5E-47DE-ADD5-9C10491AD23F}"/>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4247474"/>
                <a:gridCol w="3935992"/>
                <a:gridCol w="5380134"/>
              </a:tblGrid>
              <a:tr h="857250">
                <a:tc>
                  <a:txBody>
                    <a:bodyPr/>
                    <a:lstStyle/>
                    <a:p>
                      <a:r>
                        <a:rPr sz="2100" b="1">
                          <a:solidFill>
                            <a:srgbClr val="202322"/>
                          </a:solidFill>
                          <a:latin typeface="Malgun Gothic"/>
                          <a:ea typeface="Malgun Gothic"/>
                          <a:cs typeface="Malgun Gothic"/>
                        </a:rPr>
                        <a:t>항목</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정상 장면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오류 장면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metersPerUnit</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Equipment Scale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1, 1, 1</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0.001, 0.001, 0.001</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장비 높이</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약 2.108m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약 0.002108m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진단</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기준 크기와 비교</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Scale 원인 확인</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208359058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5     CAD 크기 검수와 ">
            <a:extLst xmlns:a="http://schemas.openxmlformats.org/drawingml/2006/main">
              <a:ext uri="{FF2B5EF4-FFF2-40B4-BE49-F238E27FC236}">
                <a16:creationId xmlns:a16="http://schemas.microsoft.com/office/drawing/2014/main" id="{7A7AE0A1-0951-42F8-BE26-7132D2BC4F4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5     CAD 크기 검수와 오류 찾기</a:t>
            </a:r>
          </a:p>
        </p:txBody>
      </p:sp>
      <p:sp>
        <p:nvSpPr>
          <p:cNvPr id="2" name="Title">
            <a:extLst xmlns:a="http://schemas.openxmlformats.org/drawingml/2006/main">
              <a:ext uri="{FF2B5EF4-FFF2-40B4-BE49-F238E27FC236}">
                <a16:creationId xmlns:a16="http://schemas.microsoft.com/office/drawing/2014/main" id="{A29AE3CB-611B-40AA-BC36-F519C5171041}"/>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Measure로 확인할 값</a:t>
            </a:r>
          </a:p>
        </p:txBody>
      </p:sp>
      <p:sp>
        <p:nvSpPr>
          <p:cNvPr id="3" name="22   /   CBNU Omniverse Worksh">
            <a:extLst xmlns:a="http://schemas.openxmlformats.org/drawingml/2006/main">
              <a:ext uri="{FF2B5EF4-FFF2-40B4-BE49-F238E27FC236}">
                <a16:creationId xmlns:a16="http://schemas.microsoft.com/office/drawing/2014/main" id="{1E2D85BA-53D5-4162-A320-E2A7ED7E0411}"/>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22   /   CBNU Omniverse Workshop</a:t>
            </a:r>
          </a:p>
        </p:txBody>
      </p:sp>
      <p:pic>
        <p:nvPicPr>
          <p:cNvPr id="4" name="">
            <a:extLst xmlns:a="http://schemas.openxmlformats.org/drawingml/2006/main">
              <a:ext uri="{FF2B5EF4-FFF2-40B4-BE49-F238E27FC236}">
                <a16:creationId xmlns:a16="http://schemas.microsoft.com/office/drawing/2014/main" id="{35FCDAD6-DD54-4703-A956-7B5313A02840}"/>
              </a:ext>
            </a:extLst>
          </p:cNvPr>
          <p:cNvPicPr>
            <a:picLocks xmlns:a="http://schemas.openxmlformats.org/drawingml/2006/main" noChangeAspect="1"/>
          </p:cNvPicPr>
          <p:nvPr/>
        </p:nvPicPr>
        <p:blipFill>
          <a:blip xmlns:r="http://schemas.openxmlformats.org/officeDocument/2006/relationships" xmlns:a="http://schemas.openxmlformats.org/drawingml/2006/main" r:embed="R259bf61d966d43da"/>
          <a:stretch xmlns:a="http://schemas.openxmlformats.org/drawingml/2006/main"/>
        </p:blipFill>
        <p:spPr>
          <a:xfrm xmlns:a="http://schemas.openxmlformats.org/drawingml/2006/main">
            <a:off x="1717760" y="2143125"/>
            <a:ext cx="4336880" cy="5286375"/>
          </a:xfrm>
          <a:prstGeom xmlns:a="http://schemas.openxmlformats.org/drawingml/2006/main" prst="rect">
            <a:avLst/>
          </a:prstGeom>
        </p:spPr>
      </p:pic>
      <p:sp>
        <p:nvSpPr>
          <p:cNvPr id="5" name="측정 대상과 방향을 먼저 정합니다.">
            <a:extLst xmlns:a="http://schemas.openxmlformats.org/drawingml/2006/main">
              <a:ext uri="{FF2B5EF4-FFF2-40B4-BE49-F238E27FC236}">
                <a16:creationId xmlns:a16="http://schemas.microsoft.com/office/drawing/2014/main" id="{6DD7191B-7861-4D9C-AF15-46DE86537E66}"/>
              </a:ext>
            </a:extLst>
          </p:cNvPr>
          <p:cNvSpPr>
            <a:spLocks xmlns:a="http://schemas.openxmlformats.org/drawingml/2006/main" noGrp="1"/>
          </p:cNvSpPr>
          <p:nvPr/>
        </p:nvSpPr>
        <p:spPr>
          <a:xfrm xmlns:a="http://schemas.openxmlformats.org/drawingml/2006/main">
            <a:off x="7953375" y="23336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측정 대상과 방향을 먼저 정합니다.</a:t>
            </a:r>
          </a:p>
        </p:txBody>
      </p:sp>
      <p:sp>
        <p:nvSpPr>
          <p:cNvPr id="6" name="화면상 크기 대신 숫자로 비교합니다.">
            <a:extLst xmlns:a="http://schemas.openxmlformats.org/drawingml/2006/main">
              <a:ext uri="{FF2B5EF4-FFF2-40B4-BE49-F238E27FC236}">
                <a16:creationId xmlns:a16="http://schemas.microsoft.com/office/drawing/2014/main" id="{56D17891-AC10-4796-9F88-088F586E5662}"/>
              </a:ext>
            </a:extLst>
          </p:cNvPr>
          <p:cNvSpPr>
            <a:spLocks xmlns:a="http://schemas.openxmlformats.org/drawingml/2006/main" noGrp="1"/>
          </p:cNvSpPr>
          <p:nvPr/>
        </p:nvSpPr>
        <p:spPr>
          <a:xfrm xmlns:a="http://schemas.openxmlformats.org/drawingml/2006/main">
            <a:off x="7953375" y="3524250"/>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화면상 크기 대신 숫자로 비교합니다.</a:t>
            </a:r>
          </a:p>
        </p:txBody>
      </p:sp>
      <p:sp>
        <p:nvSpPr>
          <p:cNvPr id="7" name="기준 치수와 단위를 함께 기록합니다.">
            <a:extLst xmlns:a="http://schemas.openxmlformats.org/drawingml/2006/main">
              <a:ext uri="{FF2B5EF4-FFF2-40B4-BE49-F238E27FC236}">
                <a16:creationId xmlns:a16="http://schemas.microsoft.com/office/drawing/2014/main" id="{F705A0FB-B28B-43F4-B8BE-FBCAC5B5ECEB}"/>
              </a:ext>
            </a:extLst>
          </p:cNvPr>
          <p:cNvSpPr>
            <a:spLocks xmlns:a="http://schemas.openxmlformats.org/drawingml/2006/main" noGrp="1"/>
          </p:cNvSpPr>
          <p:nvPr/>
        </p:nvSpPr>
        <p:spPr>
          <a:xfrm xmlns:a="http://schemas.openxmlformats.org/drawingml/2006/main">
            <a:off x="7953375" y="471487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기준 치수와 단위를 함께 기록합니다.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F0127446-FAFF-4E92-982F-A641768C5136}"/>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40583488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5     CAD 크기 검수와 ">
            <a:extLst xmlns:a="http://schemas.openxmlformats.org/drawingml/2006/main">
              <a:ext uri="{FF2B5EF4-FFF2-40B4-BE49-F238E27FC236}">
                <a16:creationId xmlns:a16="http://schemas.microsoft.com/office/drawing/2014/main" id="{5DB08220-E83E-46C0-AA42-3E579620BD27}"/>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5     CAD 크기 검수와 오류 찾기</a:t>
            </a:r>
          </a:p>
        </p:txBody>
      </p:sp>
      <p:sp>
        <p:nvSpPr>
          <p:cNvPr id="2" name="Title">
            <a:extLst xmlns:a="http://schemas.openxmlformats.org/drawingml/2006/main">
              <a:ext uri="{FF2B5EF4-FFF2-40B4-BE49-F238E27FC236}">
                <a16:creationId xmlns:a16="http://schemas.microsoft.com/office/drawing/2014/main" id="{1F5BC53C-864D-4AC6-88B0-D5DACCC34AB8}"/>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Section으로 내부 구조 보기</a:t>
            </a:r>
          </a:p>
        </p:txBody>
      </p:sp>
      <p:sp>
        <p:nvSpPr>
          <p:cNvPr id="3" name="23   /   CBNU Omniverse Worksh">
            <a:extLst xmlns:a="http://schemas.openxmlformats.org/drawingml/2006/main">
              <a:ext uri="{FF2B5EF4-FFF2-40B4-BE49-F238E27FC236}">
                <a16:creationId xmlns:a16="http://schemas.microsoft.com/office/drawing/2014/main" id="{3A8FBD23-101F-43AB-9CD0-66EB2B0A5C41}"/>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23   /   CBNU Omniverse Workshop</a:t>
            </a:r>
          </a:p>
        </p:txBody>
      </p:sp>
      <p:pic>
        <p:nvPicPr>
          <p:cNvPr id="4" name="">
            <a:extLst xmlns:a="http://schemas.openxmlformats.org/drawingml/2006/main">
              <a:ext uri="{FF2B5EF4-FFF2-40B4-BE49-F238E27FC236}">
                <a16:creationId xmlns:a16="http://schemas.microsoft.com/office/drawing/2014/main" id="{0CD1C6C1-025C-4422-A34E-2CC1242ACC9F}"/>
              </a:ext>
            </a:extLst>
          </p:cNvPr>
          <p:cNvPicPr>
            <a:picLocks xmlns:a="http://schemas.openxmlformats.org/drawingml/2006/main" noChangeAspect="1"/>
          </p:cNvPicPr>
          <p:nvPr/>
        </p:nvPicPr>
        <p:blipFill>
          <a:blip xmlns:r="http://schemas.openxmlformats.org/officeDocument/2006/relationships" xmlns:a="http://schemas.openxmlformats.org/drawingml/2006/main" r:embed="R699c6943bc004e72"/>
          <a:stretch xmlns:a="http://schemas.openxmlformats.org/drawingml/2006/main"/>
        </p:blipFill>
        <p:spPr>
          <a:xfrm xmlns:a="http://schemas.openxmlformats.org/drawingml/2006/main">
            <a:off x="1877251" y="2143125"/>
            <a:ext cx="6875397" cy="4953000"/>
          </a:xfrm>
          <a:prstGeom xmlns:a="http://schemas.openxmlformats.org/drawingml/2006/main" prst="rect">
            <a:avLst/>
          </a:prstGeom>
        </p:spPr>
      </p:pic>
      <p:sp>
        <p:nvSpPr>
          <p:cNvPr id="5" name="단면 위치와 방향을 바꿉니다.">
            <a:extLst xmlns:a="http://schemas.openxmlformats.org/drawingml/2006/main">
              <a:ext uri="{FF2B5EF4-FFF2-40B4-BE49-F238E27FC236}">
                <a16:creationId xmlns:a16="http://schemas.microsoft.com/office/drawing/2014/main" id="{FA2CE4A9-2890-47F7-BFEE-E60F488CEC06}"/>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단면 위치와 방향을 바꿉니다.</a:t>
            </a:r>
          </a:p>
        </p:txBody>
      </p:sp>
      <p:sp>
        <p:nvSpPr>
          <p:cNvPr id="6" name="가려진 내부를 관찰합니다.">
            <a:extLst xmlns:a="http://schemas.openxmlformats.org/drawingml/2006/main">
              <a:ext uri="{FF2B5EF4-FFF2-40B4-BE49-F238E27FC236}">
                <a16:creationId xmlns:a16="http://schemas.microsoft.com/office/drawing/2014/main" id="{4B9BAE1D-A05D-4180-A307-A66B62D92A6C}"/>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가려진 내부를 관찰합니다.</a:t>
            </a:r>
          </a:p>
        </p:txBody>
      </p:sp>
      <p:sp>
        <p:nvSpPr>
          <p:cNvPr id="7" name="표시 효과와 원본 형상 변경을 구별합니다.">
            <a:extLst xmlns:a="http://schemas.openxmlformats.org/drawingml/2006/main">
              <a:ext uri="{FF2B5EF4-FFF2-40B4-BE49-F238E27FC236}">
                <a16:creationId xmlns:a16="http://schemas.microsoft.com/office/drawing/2014/main" id="{685AA823-B315-4F76-9078-B7670652FAC6}"/>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표시 효과와 원본 형상 변경을 구별합니다.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7B095B62-8BEF-46B6-A131-F4BBF1E3E466}"/>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12211651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Y 1   PART 5     CAD 크기 검수와 ">
            <a:extLst xmlns:a="http://schemas.openxmlformats.org/drawingml/2006/main">
              <a:ext uri="{FF2B5EF4-FFF2-40B4-BE49-F238E27FC236}">
                <a16:creationId xmlns:a16="http://schemas.microsoft.com/office/drawing/2014/main" id="{52092247-08A2-4862-B3F3-00891CB2DC5F}"/>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5     CAD 크기 검수와 오류 찾기</a:t>
            </a:r>
          </a:p>
        </p:txBody>
      </p:sp>
      <p:sp>
        <p:nvSpPr>
          <p:cNvPr id="2" name="Title">
            <a:extLst xmlns:a="http://schemas.openxmlformats.org/drawingml/2006/main">
              <a:ext uri="{FF2B5EF4-FFF2-40B4-BE49-F238E27FC236}">
                <a16:creationId xmlns:a16="http://schemas.microsoft.com/office/drawing/2014/main" id="{BB647ADC-AE28-4361-82C6-E0A53660551A}"/>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Pivot과 회전 중심</a:t>
            </a:r>
          </a:p>
        </p:txBody>
      </p:sp>
      <p:sp>
        <p:nvSpPr>
          <p:cNvPr id="3" name="24   /   CBNU Omniverse Worksh">
            <a:extLst xmlns:a="http://schemas.openxmlformats.org/drawingml/2006/main">
              <a:ext uri="{FF2B5EF4-FFF2-40B4-BE49-F238E27FC236}">
                <a16:creationId xmlns:a16="http://schemas.microsoft.com/office/drawing/2014/main" id="{54033184-FECE-49DD-99E7-EA86F58C850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24   /   CBNU Omniverse Workshop</a:t>
            </a:r>
          </a:p>
        </p:txBody>
      </p:sp>
      <p:pic>
        <p:nvPicPr>
          <p:cNvPr id="4" name="">
            <a:extLst xmlns:a="http://schemas.openxmlformats.org/drawingml/2006/main">
              <a:ext uri="{FF2B5EF4-FFF2-40B4-BE49-F238E27FC236}">
                <a16:creationId xmlns:a16="http://schemas.microsoft.com/office/drawing/2014/main" id="{F107828C-344B-43B8-BC44-FA3328F16E2D}"/>
              </a:ext>
            </a:extLst>
          </p:cNvPr>
          <p:cNvPicPr>
            <a:picLocks xmlns:a="http://schemas.openxmlformats.org/drawingml/2006/main" noChangeAspect="1"/>
          </p:cNvPicPr>
          <p:nvPr/>
        </p:nvPicPr>
        <p:blipFill>
          <a:blip xmlns:r="http://schemas.openxmlformats.org/officeDocument/2006/relationships" xmlns:a="http://schemas.openxmlformats.org/drawingml/2006/main" r:embed="R919446d0249b4b9a"/>
          <a:stretch xmlns:a="http://schemas.openxmlformats.org/drawingml/2006/main"/>
        </p:blipFill>
        <p:spPr>
          <a:xfrm xmlns:a="http://schemas.openxmlformats.org/drawingml/2006/main">
            <a:off x="2695100" y="2143125"/>
            <a:ext cx="5239701" cy="4953000"/>
          </a:xfrm>
          <a:prstGeom xmlns:a="http://schemas.openxmlformats.org/drawingml/2006/main" prst="rect">
            <a:avLst/>
          </a:prstGeom>
        </p:spPr>
      </p:pic>
      <p:sp>
        <p:nvSpPr>
          <p:cNvPr id="5" name="회전 전에 중심 위치를 확인합니다.">
            <a:extLst xmlns:a="http://schemas.openxmlformats.org/drawingml/2006/main">
              <a:ext uri="{FF2B5EF4-FFF2-40B4-BE49-F238E27FC236}">
                <a16:creationId xmlns:a16="http://schemas.microsoft.com/office/drawing/2014/main" id="{643780E4-A8D3-462D-B781-A8E32E27BACF}"/>
              </a:ext>
            </a:extLst>
          </p:cNvPr>
          <p:cNvSpPr>
            <a:spLocks xmlns:a="http://schemas.openxmlformats.org/drawingml/2006/main" noGrp="1"/>
          </p:cNvSpPr>
          <p:nvPr/>
        </p:nvSpPr>
        <p:spPr>
          <a:xfrm xmlns:a="http://schemas.openxmlformats.org/drawingml/2006/main">
            <a:off x="10382250" y="23336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회전 전에 중심 위치를 확인합니다.</a:t>
            </a:r>
          </a:p>
        </p:txBody>
      </p:sp>
      <p:sp>
        <p:nvSpPr>
          <p:cNvPr id="6" name="복사본에서 회전 차이를 관찰합니다.">
            <a:extLst xmlns:a="http://schemas.openxmlformats.org/drawingml/2006/main">
              <a:ext uri="{FF2B5EF4-FFF2-40B4-BE49-F238E27FC236}">
                <a16:creationId xmlns:a16="http://schemas.microsoft.com/office/drawing/2014/main" id="{CB98F613-78FB-434B-BC54-19C6B9668FA2}"/>
              </a:ext>
            </a:extLst>
          </p:cNvPr>
          <p:cNvSpPr>
            <a:spLocks xmlns:a="http://schemas.openxmlformats.org/drawingml/2006/main" noGrp="1"/>
          </p:cNvSpPr>
          <p:nvPr/>
        </p:nvSpPr>
        <p:spPr>
          <a:xfrm xmlns:a="http://schemas.openxmlformats.org/drawingml/2006/main">
            <a:off x="10382250" y="35242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복사본에서 회전 차이를 관찰합니다.</a:t>
            </a:r>
          </a:p>
        </p:txBody>
      </p:sp>
      <p:sp>
        <p:nvSpPr>
          <p:cNvPr id="7" name="실습 후 Undo로 초기 상태를 복구합니다.">
            <a:extLst xmlns:a="http://schemas.openxmlformats.org/drawingml/2006/main">
              <a:ext uri="{FF2B5EF4-FFF2-40B4-BE49-F238E27FC236}">
                <a16:creationId xmlns:a16="http://schemas.microsoft.com/office/drawing/2014/main" id="{BB0B7098-EC68-4136-A4E7-00BF2675CC54}"/>
              </a:ext>
            </a:extLst>
          </p:cNvPr>
          <p:cNvSpPr>
            <a:spLocks xmlns:a="http://schemas.openxmlformats.org/drawingml/2006/main" noGrp="1"/>
          </p:cNvSpPr>
          <p:nvPr/>
        </p:nvSpPr>
        <p:spPr>
          <a:xfrm xmlns:a="http://schemas.openxmlformats.org/drawingml/2006/main">
            <a:off x="10382250" y="471487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실습 후 Undo로 초기 상태를 복구합니다.</a:t>
            </a:r>
          </a:p>
        </p:txBody>
      </p:sp>
      <p:sp>
        <p:nvSpPr>
          <p:cNvPr id="8" name="기존 교재 화면 예시. 앱 버전에 따라 메뉴와 배치가 ">
            <a:extLst xmlns:a="http://schemas.openxmlformats.org/drawingml/2006/main">
              <a:ext uri="{FF2B5EF4-FFF2-40B4-BE49-F238E27FC236}">
                <a16:creationId xmlns:a16="http://schemas.microsoft.com/office/drawing/2014/main" id="{9DC94052-5F8A-45FF-A05C-552559D4F148}"/>
              </a:ext>
            </a:extLst>
          </p:cNvPr>
          <p:cNvSpPr>
            <a:spLocks xmlns:a="http://schemas.openxmlformats.org/drawingml/2006/main" noGrp="1"/>
          </p:cNvSpPr>
          <p:nvPr/>
        </p:nvSpPr>
        <p:spPr>
          <a:xfrm xmlns:a="http://schemas.openxmlformats.org/drawingml/2006/main">
            <a:off x="838200" y="7572375"/>
            <a:ext cx="1343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15C"/>
                </a:solidFill>
                <a:latin typeface="Malgun Gothic"/>
                <a:ea typeface="Malgun Gothic"/>
                <a:cs typeface="Malgun Gothic"/>
              </a:defRPr>
            </a:defPPr>
            <a:lvl1pPr>
              <a:defRPr sz="1425" b="0">
                <a:solidFill>
                  <a:srgbClr val="58615C"/>
                </a:solidFill>
                <a:latin typeface="Malgun Gothic"/>
                <a:ea typeface="Malgun Gothic"/>
                <a:cs typeface="Malgun Gothic"/>
              </a:defRPr>
            </a:lvl1pPr>
            <a:lvl2pPr>
              <a:defRPr sz="1425" b="0">
                <a:solidFill>
                  <a:srgbClr val="58615C"/>
                </a:solidFill>
                <a:latin typeface="Malgun Gothic"/>
                <a:ea typeface="Malgun Gothic"/>
                <a:cs typeface="Malgun Gothic"/>
              </a:defRPr>
            </a:lvl2pPr>
            <a:lvl3pPr>
              <a:defRPr sz="1425" b="0">
                <a:solidFill>
                  <a:srgbClr val="58615C"/>
                </a:solidFill>
                <a:latin typeface="Malgun Gothic"/>
                <a:ea typeface="Malgun Gothic"/>
                <a:cs typeface="Malgun Gothic"/>
              </a:defRPr>
            </a:lvl3pPr>
            <a:lvl4pPr>
              <a:defRPr sz="1425" b="0">
                <a:solidFill>
                  <a:srgbClr val="58615C"/>
                </a:solidFill>
                <a:latin typeface="Malgun Gothic"/>
                <a:ea typeface="Malgun Gothic"/>
                <a:cs typeface="Malgun Gothic"/>
              </a:defRPr>
            </a:lvl4pPr>
            <a:lvl5pPr>
              <a:defRPr sz="1425" b="0">
                <a:solidFill>
                  <a:srgbClr val="58615C"/>
                </a:solidFill>
                <a:latin typeface="Malgun Gothic"/>
                <a:ea typeface="Malgun Gothic"/>
                <a:cs typeface="Malgun Gothic"/>
              </a:defRPr>
            </a:lvl5pPr>
            <a:lvl6pPr>
              <a:defRPr sz="1425" b="0">
                <a:solidFill>
                  <a:srgbClr val="58615C"/>
                </a:solidFill>
                <a:latin typeface="Malgun Gothic"/>
                <a:ea typeface="Malgun Gothic"/>
                <a:cs typeface="Malgun Gothic"/>
              </a:defRPr>
            </a:lvl6pPr>
            <a:lvl7pPr>
              <a:defRPr sz="1425" b="0">
                <a:solidFill>
                  <a:srgbClr val="58615C"/>
                </a:solidFill>
                <a:latin typeface="Malgun Gothic"/>
                <a:ea typeface="Malgun Gothic"/>
                <a:cs typeface="Malgun Gothic"/>
              </a:defRPr>
            </a:lvl7pPr>
            <a:lvl8pPr>
              <a:defRPr sz="1425" b="0">
                <a:solidFill>
                  <a:srgbClr val="58615C"/>
                </a:solidFill>
                <a:latin typeface="Malgun Gothic"/>
                <a:ea typeface="Malgun Gothic"/>
                <a:cs typeface="Malgun Gothic"/>
              </a:defRPr>
            </a:lvl8pPr>
            <a:lvl9pPr>
              <a:defRPr sz="1425" b="0">
                <a:solidFill>
                  <a:srgbClr val="58615C"/>
                </a:solidFill>
                <a:latin typeface="Malgun Gothic"/>
                <a:ea typeface="Malgun Gothic"/>
                <a:cs typeface="Malgun Gothic"/>
              </a:defRPr>
            </a:lvl9pPr>
          </a:lstStyle>
          <a:p xmlns:a="http://schemas.openxmlformats.org/drawingml/2006/main">
            <a:pPr>
              <a:defRPr sz="1425" b="0">
                <a:solidFill>
                  <a:srgbClr val="58615C"/>
                </a:solidFill>
                <a:latin typeface="Malgun Gothic"/>
                <a:ea typeface="Malgun Gothic"/>
                <a:cs typeface="Malgun Gothic"/>
              </a:defRPr>
            </a:pPr>
            <a:r>
              <a:rPr sz="1425" b="0">
                <a:solidFill>
                  <a:srgbClr val="58615C"/>
                </a:solidFill>
                <a:latin typeface="Malgun Gothic"/>
                <a:ea typeface="Malgun Gothic"/>
                <a:cs typeface="Malgun Gothic"/>
              </a:rPr>
              <a:t>기존 교재 화면 예시. 앱 버전에 따라 메뉴와 배치가 다를 수 있습니다.</a:t>
            </a:r>
          </a:p>
        </p:txBody>
      </p:sp>
    </p:spTree>
    <p:extLst>
      <p:ext uri="{BB962C8B-B14F-4D97-AF65-F5344CB8AC3E}">
        <p14:creationId xmlns:p14="http://schemas.microsoft.com/office/powerpoint/2010/main" val="21207599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6     설계팀과 검토팀의 L">
            <a:extLst xmlns:a="http://schemas.openxmlformats.org/drawingml/2006/main">
              <a:ext uri="{FF2B5EF4-FFF2-40B4-BE49-F238E27FC236}">
                <a16:creationId xmlns:a16="http://schemas.microsoft.com/office/drawing/2014/main" id="{3A5529A6-AE33-447B-AFEB-CAD5B3FBBDDB}"/>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6     설계팀과 검토팀의 Layer 분업</a:t>
            </a:r>
          </a:p>
        </p:txBody>
      </p:sp>
      <p:sp>
        <p:nvSpPr>
          <p:cNvPr id="2" name="Title">
            <a:extLst xmlns:a="http://schemas.openxmlformats.org/drawingml/2006/main">
              <a:ext uri="{FF2B5EF4-FFF2-40B4-BE49-F238E27FC236}">
                <a16:creationId xmlns:a16="http://schemas.microsoft.com/office/drawing/2014/main" id="{0282F392-FC73-4229-8F55-15850A1ED9F0}"/>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Layer별 담당 역할</a:t>
            </a:r>
          </a:p>
        </p:txBody>
      </p:sp>
      <p:sp>
        <p:nvSpPr>
          <p:cNvPr id="3" name="25   /   CBNU Omniverse Worksh">
            <a:extLst xmlns:a="http://schemas.openxmlformats.org/drawingml/2006/main">
              <a:ext uri="{FF2B5EF4-FFF2-40B4-BE49-F238E27FC236}">
                <a16:creationId xmlns:a16="http://schemas.microsoft.com/office/drawing/2014/main" id="{FB0CB476-81BB-44B6-AFE6-8876F1AA2B4F}"/>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25   /   CBNU Omniverse Workshop</a:t>
            </a:r>
          </a:p>
        </p:txBody>
      </p:sp>
      <p:graphicFrame>
        <p:nvGraphicFramePr>
          <p:cNvPr id="4" name="">
            <a:extLst xmlns:a="http://schemas.openxmlformats.org/drawingml/2006/main">
              <a:ext uri="{FF2B5EF4-FFF2-40B4-BE49-F238E27FC236}">
                <a16:creationId xmlns:a16="http://schemas.microsoft.com/office/drawing/2014/main" id="{A2D764E8-F521-4CC0-84B8-6A09E93C2515}"/>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4148866"/>
                <a:gridCol w="5265868"/>
                <a:gridCol w="4148866"/>
              </a:tblGrid>
              <a:tr h="857250">
                <a:tc>
                  <a:txBody>
                    <a:bodyPr/>
                    <a:lstStyle/>
                    <a:p>
                      <a:r>
                        <a:rPr sz="2100" b="1">
                          <a:solidFill>
                            <a:srgbClr val="202322"/>
                          </a:solidFill>
                          <a:latin typeface="Malgun Gothic"/>
                          <a:ea typeface="Malgun Gothic"/>
                          <a:cs typeface="Malgun Gothic"/>
                        </a:rPr>
                        <a:t>담당</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수정할 파일</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책임 범위</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자산 담당</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part.usda</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형상과 기본 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배치 담당 A</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assembly.usda</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객체 배치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검토 담당 B</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review.usda</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검토 색과 의견</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공동 확인</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review를 다시 열기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최종 합성 결과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25431384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AY 1   PART 6     설계팀과 검토팀의 L">
            <a:extLst xmlns:a="http://schemas.openxmlformats.org/drawingml/2006/main">
              <a:ext uri="{FF2B5EF4-FFF2-40B4-BE49-F238E27FC236}">
                <a16:creationId xmlns:a16="http://schemas.microsoft.com/office/drawing/2014/main" id="{4B1A5300-2F3E-4A94-A793-D092690D11DF}"/>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6     설계팀과 검토팀의 Layer 분업</a:t>
            </a:r>
          </a:p>
        </p:txBody>
      </p:sp>
      <p:sp>
        <p:nvSpPr>
          <p:cNvPr id="2" name="Title">
            <a:extLst xmlns:a="http://schemas.openxmlformats.org/drawingml/2006/main">
              <a:ext uri="{FF2B5EF4-FFF2-40B4-BE49-F238E27FC236}">
                <a16:creationId xmlns:a16="http://schemas.microsoft.com/office/drawing/2014/main" id="{DC1B6937-95AB-4701-960A-5CD08BA3D4BA}"/>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Nucleus에서 확인할 것</a:t>
            </a:r>
          </a:p>
        </p:txBody>
      </p:sp>
      <p:sp>
        <p:nvSpPr>
          <p:cNvPr id="3" name="26   /   CBNU Omniverse Worksh">
            <a:extLst xmlns:a="http://schemas.openxmlformats.org/drawingml/2006/main">
              <a:ext uri="{FF2B5EF4-FFF2-40B4-BE49-F238E27FC236}">
                <a16:creationId xmlns:a16="http://schemas.microsoft.com/office/drawing/2014/main" id="{D0AFD195-9380-405C-A38C-91220614862A}"/>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26   /   CBNU Omniverse Workshop</a:t>
            </a:r>
          </a:p>
        </p:txBody>
      </p:sp>
      <p:sp>
        <p:nvSpPr>
          <p:cNvPr id="4" name="연결">
            <a:extLst xmlns:a="http://schemas.openxmlformats.org/drawingml/2006/main">
              <a:ext uri="{FF2B5EF4-FFF2-40B4-BE49-F238E27FC236}">
                <a16:creationId xmlns:a16="http://schemas.microsoft.com/office/drawing/2014/main" id="{EE46ECDA-BEB7-4DD7-878E-320EE8200B6C}"/>
              </a:ext>
            </a:extLst>
          </p:cNvPr>
          <p:cNvSpPr>
            <a:spLocks xmlns:a="http://schemas.openxmlformats.org/drawingml/2006/main" noGrp="1"/>
          </p:cNvSpPr>
          <p:nvPr/>
        </p:nvSpPr>
        <p:spPr>
          <a:xfrm xmlns:a="http://schemas.openxmlformats.org/drawingml/2006/main">
            <a:off x="838200" y="222885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연결</a:t>
            </a:r>
          </a:p>
        </p:txBody>
      </p:sp>
      <p:sp>
        <p:nvSpPr>
          <p:cNvPr id="5" name="기관이 준비한 서버 주소와 개인 계정">
            <a:extLst xmlns:a="http://schemas.openxmlformats.org/drawingml/2006/main">
              <a:ext uri="{FF2B5EF4-FFF2-40B4-BE49-F238E27FC236}">
                <a16:creationId xmlns:a16="http://schemas.microsoft.com/office/drawing/2014/main" id="{630CFFC8-0931-4E75-961C-253B0BFDBD44}"/>
              </a:ext>
            </a:extLst>
          </p:cNvPr>
          <p:cNvSpPr>
            <a:spLocks xmlns:a="http://schemas.openxmlformats.org/drawingml/2006/main" noGrp="1"/>
          </p:cNvSpPr>
          <p:nvPr/>
        </p:nvSpPr>
        <p:spPr>
          <a:xfrm xmlns:a="http://schemas.openxmlformats.org/drawingml/2006/main">
            <a:off x="3619500" y="22288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기관이 준비한 서버 주소와 개인 계정</a:t>
            </a:r>
          </a:p>
        </p:txBody>
      </p:sp>
      <p:sp>
        <p:nvSpPr>
          <p:cNvPr id="6" name="권한">
            <a:extLst xmlns:a="http://schemas.openxmlformats.org/drawingml/2006/main">
              <a:ext uri="{FF2B5EF4-FFF2-40B4-BE49-F238E27FC236}">
                <a16:creationId xmlns:a16="http://schemas.microsoft.com/office/drawing/2014/main" id="{52F63E4B-7708-4776-BA42-627944FA57DB}"/>
              </a:ext>
            </a:extLst>
          </p:cNvPr>
          <p:cNvSpPr>
            <a:spLocks xmlns:a="http://schemas.openxmlformats.org/drawingml/2006/main" noGrp="1"/>
          </p:cNvSpPr>
          <p:nvPr/>
        </p:nvSpPr>
        <p:spPr>
          <a:xfrm xmlns:a="http://schemas.openxmlformats.org/drawingml/2006/main">
            <a:off x="838200" y="35147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권한</a:t>
            </a:r>
          </a:p>
        </p:txBody>
      </p:sp>
      <p:sp>
        <p:nvSpPr>
          <p:cNvPr id="7" name="교육용 경로의 읽기·쓰기 범위">
            <a:extLst xmlns:a="http://schemas.openxmlformats.org/drawingml/2006/main">
              <a:ext uri="{FF2B5EF4-FFF2-40B4-BE49-F238E27FC236}">
                <a16:creationId xmlns:a16="http://schemas.microsoft.com/office/drawing/2014/main" id="{F5013955-4B5E-4526-A7BA-B8BCAF0D18B2}"/>
              </a:ext>
            </a:extLst>
          </p:cNvPr>
          <p:cNvSpPr>
            <a:spLocks xmlns:a="http://schemas.openxmlformats.org/drawingml/2006/main" noGrp="1"/>
          </p:cNvSpPr>
          <p:nvPr/>
        </p:nvSpPr>
        <p:spPr>
          <a:xfrm xmlns:a="http://schemas.openxmlformats.org/drawingml/2006/main">
            <a:off x="3619500" y="3514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교육용 경로의 읽기·쓰기 범위</a:t>
            </a:r>
          </a:p>
        </p:txBody>
      </p:sp>
      <p:sp>
        <p:nvSpPr>
          <p:cNvPr id="8" name="공유">
            <a:extLst xmlns:a="http://schemas.openxmlformats.org/drawingml/2006/main">
              <a:ext uri="{FF2B5EF4-FFF2-40B4-BE49-F238E27FC236}">
                <a16:creationId xmlns:a16="http://schemas.microsoft.com/office/drawing/2014/main" id="{AE84D32F-5860-4516-A13A-9089F16DCC04}"/>
              </a:ext>
            </a:extLst>
          </p:cNvPr>
          <p:cNvSpPr>
            <a:spLocks xmlns:a="http://schemas.openxmlformats.org/drawingml/2006/main" noGrp="1"/>
          </p:cNvSpPr>
          <p:nvPr/>
        </p:nvSpPr>
        <p:spPr>
          <a:xfrm xmlns:a="http://schemas.openxmlformats.org/drawingml/2006/main">
            <a:off x="838200" y="480060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공유</a:t>
            </a:r>
          </a:p>
        </p:txBody>
      </p:sp>
      <p:sp>
        <p:nvSpPr>
          <p:cNvPr id="9" name="의존 폴더 전체 업로드와 다른 계정의 재열기">
            <a:extLst xmlns:a="http://schemas.openxmlformats.org/drawingml/2006/main">
              <a:ext uri="{FF2B5EF4-FFF2-40B4-BE49-F238E27FC236}">
                <a16:creationId xmlns:a16="http://schemas.microsoft.com/office/drawing/2014/main" id="{F51206E6-1254-4207-AC25-9B3F562C27DB}"/>
              </a:ext>
            </a:extLst>
          </p:cNvPr>
          <p:cNvSpPr>
            <a:spLocks xmlns:a="http://schemas.openxmlformats.org/drawingml/2006/main" noGrp="1"/>
          </p:cNvSpPr>
          <p:nvPr/>
        </p:nvSpPr>
        <p:spPr>
          <a:xfrm xmlns:a="http://schemas.openxmlformats.org/drawingml/2006/main">
            <a:off x="3619500" y="48006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의존 폴더 전체 업로드와 다른 계정의 재열기</a:t>
            </a:r>
          </a:p>
        </p:txBody>
      </p:sp>
      <p:sp>
        <p:nvSpPr>
          <p:cNvPr id="10" name="Live">
            <a:extLst xmlns:a="http://schemas.openxmlformats.org/drawingml/2006/main">
              <a:ext uri="{FF2B5EF4-FFF2-40B4-BE49-F238E27FC236}">
                <a16:creationId xmlns:a16="http://schemas.microsoft.com/office/drawing/2014/main" id="{8394CC87-0B8E-48C1-B572-5FF9914CFD02}"/>
              </a:ext>
            </a:extLst>
          </p:cNvPr>
          <p:cNvSpPr>
            <a:spLocks xmlns:a="http://schemas.openxmlformats.org/drawingml/2006/main" noGrp="1"/>
          </p:cNvSpPr>
          <p:nvPr/>
        </p:nvSpPr>
        <p:spPr>
          <a:xfrm xmlns:a="http://schemas.openxmlformats.org/drawingml/2006/main">
            <a:off x="838200" y="60864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Live</a:t>
            </a:r>
          </a:p>
        </p:txBody>
      </p:sp>
      <p:sp>
        <p:nvSpPr>
          <p:cNvPr id="11" name="앱과 서버에서 검증한 경우에만 시연">
            <a:extLst xmlns:a="http://schemas.openxmlformats.org/drawingml/2006/main">
              <a:ext uri="{FF2B5EF4-FFF2-40B4-BE49-F238E27FC236}">
                <a16:creationId xmlns:a16="http://schemas.microsoft.com/office/drawing/2014/main" id="{03526D83-B65B-4FE9-AF16-7E4AF1A2C2CA}"/>
              </a:ext>
            </a:extLst>
          </p:cNvPr>
          <p:cNvSpPr>
            <a:spLocks xmlns:a="http://schemas.openxmlformats.org/drawingml/2006/main" noGrp="1"/>
          </p:cNvSpPr>
          <p:nvPr/>
        </p:nvSpPr>
        <p:spPr>
          <a:xfrm xmlns:a="http://schemas.openxmlformats.org/drawingml/2006/main">
            <a:off x="3619500" y="60864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앱과 서버에서 검증한 경우에만 시연</a:t>
            </a:r>
          </a:p>
        </p:txBody>
      </p:sp>
    </p:spTree>
    <p:extLst>
      <p:ext uri="{BB962C8B-B14F-4D97-AF65-F5344CB8AC3E}">
        <p14:creationId xmlns:p14="http://schemas.microsoft.com/office/powerpoint/2010/main" val="10162213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1   PART 6     설계팀과 검토팀의 L">
            <a:extLst xmlns:a="http://schemas.openxmlformats.org/drawingml/2006/main">
              <a:ext uri="{FF2B5EF4-FFF2-40B4-BE49-F238E27FC236}">
                <a16:creationId xmlns:a16="http://schemas.microsoft.com/office/drawing/2014/main" id="{FDECFCE1-9F13-4EC1-A8E1-103709661F13}"/>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6     설계팀과 검토팀의 Layer 분업</a:t>
            </a:r>
          </a:p>
        </p:txBody>
      </p:sp>
      <p:sp>
        <p:nvSpPr>
          <p:cNvPr id="2" name="Title">
            <a:extLst xmlns:a="http://schemas.openxmlformats.org/drawingml/2006/main">
              <a:ext uri="{FF2B5EF4-FFF2-40B4-BE49-F238E27FC236}">
                <a16:creationId xmlns:a16="http://schemas.microsoft.com/office/drawing/2014/main" id="{38B701A6-F168-4292-B071-195D4514BCCD}"/>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두 사람이 하나의 장면 검토</a:t>
            </a:r>
          </a:p>
        </p:txBody>
      </p:sp>
      <p:sp>
        <p:nvSpPr>
          <p:cNvPr id="3" name="27   /   CBNU Omniverse Worksh">
            <a:extLst xmlns:a="http://schemas.openxmlformats.org/drawingml/2006/main">
              <a:ext uri="{FF2B5EF4-FFF2-40B4-BE49-F238E27FC236}">
                <a16:creationId xmlns:a16="http://schemas.microsoft.com/office/drawing/2014/main" id="{D35AD26C-ACFE-4D6F-86D5-05E50E4B44CA}"/>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27   /   CBNU Omniverse Workshop</a:t>
            </a:r>
          </a:p>
        </p:txBody>
      </p:sp>
      <p:sp>
        <p:nvSpPr>
          <p:cNvPr id="4" name="shared/assets/usd_basics 폴더 전체">
            <a:extLst xmlns:a="http://schemas.openxmlformats.org/drawingml/2006/main">
              <a:ext uri="{FF2B5EF4-FFF2-40B4-BE49-F238E27FC236}">
                <a16:creationId xmlns:a16="http://schemas.microsoft.com/office/drawing/2014/main" id="{C1841B3A-1E86-4791-B394-37CD7C627AED}"/>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shared/assets/usd_basics 폴더 전체 복사</a:t>
            </a:r>
          </a:p>
        </p:txBody>
      </p:sp>
      <p:sp>
        <p:nvSpPr>
          <p:cNvPr id="5" name="01">
            <a:extLst xmlns:a="http://schemas.openxmlformats.org/drawingml/2006/main">
              <a:ext uri="{FF2B5EF4-FFF2-40B4-BE49-F238E27FC236}">
                <a16:creationId xmlns:a16="http://schemas.microsoft.com/office/drawing/2014/main" id="{088C1E9F-1E0E-43A7-9DF7-C0EC3DFD4443}"/>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A는 assembly에서 ReferencePart의 위">
            <a:extLst xmlns:a="http://schemas.openxmlformats.org/drawingml/2006/main">
              <a:ext uri="{FF2B5EF4-FFF2-40B4-BE49-F238E27FC236}">
                <a16:creationId xmlns:a16="http://schemas.microsoft.com/office/drawing/2014/main" id="{1F66CC84-07BC-4C46-B1C4-C7C2FF419D61}"/>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A는 assembly에서 ReferencePart의 위치를 바꿉니다.</a:t>
            </a:r>
          </a:p>
        </p:txBody>
      </p:sp>
      <p:sp>
        <p:nvSpPr>
          <p:cNvPr id="7" name="02">
            <a:extLst xmlns:a="http://schemas.openxmlformats.org/drawingml/2006/main">
              <a:ext uri="{FF2B5EF4-FFF2-40B4-BE49-F238E27FC236}">
                <a16:creationId xmlns:a16="http://schemas.microsoft.com/office/drawing/2014/main" id="{22A4A599-A214-453C-B1C6-9A44B399592B}"/>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B는 review에서 색을 바꿉니다.">
            <a:extLst xmlns:a="http://schemas.openxmlformats.org/drawingml/2006/main">
              <a:ext uri="{FF2B5EF4-FFF2-40B4-BE49-F238E27FC236}">
                <a16:creationId xmlns:a16="http://schemas.microsoft.com/office/drawing/2014/main" id="{9D50DB53-C8E7-47BE-B502-E2FB0FAA37F0}"/>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B는 review에서 색을 바꿉니다.</a:t>
            </a:r>
          </a:p>
        </p:txBody>
      </p:sp>
      <p:sp>
        <p:nvSpPr>
          <p:cNvPr id="9" name="03">
            <a:extLst xmlns:a="http://schemas.openxmlformats.org/drawingml/2006/main">
              <a:ext uri="{FF2B5EF4-FFF2-40B4-BE49-F238E27FC236}">
                <a16:creationId xmlns:a16="http://schemas.microsoft.com/office/drawing/2014/main" id="{8286E8BB-0CE9-4442-A2B5-D0CB8F2C07B4}"/>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review를 다시 열어 두 변경을 확인합니다.">
            <a:extLst xmlns:a="http://schemas.openxmlformats.org/drawingml/2006/main">
              <a:ext uri="{FF2B5EF4-FFF2-40B4-BE49-F238E27FC236}">
                <a16:creationId xmlns:a16="http://schemas.microsoft.com/office/drawing/2014/main" id="{C0B356BE-511D-4653-9D3C-180CF43D3EEA}"/>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review를 다시 열어 두 변경을 확인합니다.</a:t>
            </a:r>
          </a:p>
        </p:txBody>
      </p:sp>
      <p:sp>
        <p:nvSpPr>
          <p:cNvPr id="11" name="04">
            <a:extLst xmlns:a="http://schemas.openxmlformats.org/drawingml/2006/main">
              <a:ext uri="{FF2B5EF4-FFF2-40B4-BE49-F238E27FC236}">
                <a16:creationId xmlns:a16="http://schemas.microsoft.com/office/drawing/2014/main" id="{133613A9-03DC-41E7-8465-6C884F04466E}"/>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폴더를 옮긴 뒤 상대 참조가 유지되는지 확인합니다.">
            <a:extLst xmlns:a="http://schemas.openxmlformats.org/drawingml/2006/main">
              <a:ext uri="{FF2B5EF4-FFF2-40B4-BE49-F238E27FC236}">
                <a16:creationId xmlns:a16="http://schemas.microsoft.com/office/drawing/2014/main" id="{DA112DC4-D85D-4D75-8122-3F1118F96A28}"/>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폴더를 옮긴 뒤 상대 참조가 유지되는지 확인합니다.</a:t>
            </a:r>
          </a:p>
        </p:txBody>
      </p:sp>
    </p:spTree>
    <p:extLst>
      <p:ext uri="{BB962C8B-B14F-4D97-AF65-F5344CB8AC3E}">
        <p14:creationId xmlns:p14="http://schemas.microsoft.com/office/powerpoint/2010/main" val="25666981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1   PART 6     설계팀과 검토팀의 L">
            <a:extLst xmlns:a="http://schemas.openxmlformats.org/drawingml/2006/main">
              <a:ext uri="{FF2B5EF4-FFF2-40B4-BE49-F238E27FC236}">
                <a16:creationId xmlns:a16="http://schemas.microsoft.com/office/drawing/2014/main" id="{1F310021-6336-4B38-AA9B-B21DE53D68D0}"/>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1   PART 6     설계팀과 검토팀의 Layer 분업</a:t>
            </a:r>
          </a:p>
        </p:txBody>
      </p:sp>
      <p:sp>
        <p:nvSpPr>
          <p:cNvPr id="2" name="Title">
            <a:extLst xmlns:a="http://schemas.openxmlformats.org/drawingml/2006/main">
              <a:ext uri="{FF2B5EF4-FFF2-40B4-BE49-F238E27FC236}">
                <a16:creationId xmlns:a16="http://schemas.microsoft.com/office/drawing/2014/main" id="{5B3E6833-605F-4047-829E-C4B39604B90D}"/>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첫날 결과 점검</a:t>
            </a:r>
          </a:p>
        </p:txBody>
      </p:sp>
      <p:sp>
        <p:nvSpPr>
          <p:cNvPr id="3" name="28   /   CBNU Omniverse Worksh">
            <a:extLst xmlns:a="http://schemas.openxmlformats.org/drawingml/2006/main">
              <a:ext uri="{FF2B5EF4-FFF2-40B4-BE49-F238E27FC236}">
                <a16:creationId xmlns:a16="http://schemas.microsoft.com/office/drawing/2014/main" id="{A0ADF6C3-7965-4CAA-9ECF-13C04584B78B}"/>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28   /   CBNU Omniverse Workshop</a:t>
            </a:r>
          </a:p>
        </p:txBody>
      </p:sp>
      <p:graphicFrame>
        <p:nvGraphicFramePr>
          <p:cNvPr id="4" name="">
            <a:extLst xmlns:a="http://schemas.openxmlformats.org/drawingml/2006/main">
              <a:ext uri="{FF2B5EF4-FFF2-40B4-BE49-F238E27FC236}">
                <a16:creationId xmlns:a16="http://schemas.microsoft.com/office/drawing/2014/main" id="{22295911-22AA-423B-BF8B-9CA26079F6D6}"/>
              </a:ext>
            </a:extLst>
          </p:cNvPr>
          <p:cNvGraphicFramePr/>
          <p:nvPr/>
        </p:nvGraphicFramePr>
        <p:xfrm>
          <a:off xmlns:a="http://schemas.openxmlformats.org/drawingml/2006/main" x="838200" y="2190750"/>
          <a:ext xmlns:a="http://schemas.openxmlformats.org/drawingml/2006/main" cx="13563600" cy="5095875"/>
        </p:xfrm>
        <a:graphic xmlns:a="http://schemas.openxmlformats.org/drawingml/2006/main">
          <a:graphicData uri="http://schemas.openxmlformats.org/drawingml/2006/table">
            <a:tbl>
              <a:tblPr/>
              <a:tblGrid>
                <a:gridCol w="8492524"/>
                <a:gridCol w="5071076"/>
              </a:tblGrid>
              <a:tr h="849313">
                <a:tc>
                  <a:txBody>
                    <a:bodyPr/>
                    <a:lstStyle/>
                    <a:p>
                      <a:r>
                        <a:rPr sz="2100" b="1">
                          <a:solidFill>
                            <a:srgbClr val="202322"/>
                          </a:solidFill>
                          <a:latin typeface="Malgun Gothic"/>
                          <a:ea typeface="Malgun Gothic"/>
                          <a:cs typeface="Malgun Gothic"/>
                        </a:rPr>
                        <a:t>확인 질문</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통과 증거</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49313">
                <a:tc>
                  <a:txBody>
                    <a:bodyPr/>
                    <a:lstStyle/>
                    <a:p>
                      <a:r>
                        <a:rPr sz="2100" b="0">
                          <a:solidFill>
                            <a:srgbClr val="202322"/>
                          </a:solidFill>
                          <a:latin typeface="Malgun Gothic"/>
                          <a:ea typeface="Malgun Gothic"/>
                          <a:cs typeface="Malgun Gothic"/>
                        </a:rPr>
                        <a:t>카메라와 객체 이동을 구별하는가?</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Property 값 비교</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파일과 Prim 경로를 구별하는가?</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경로 분류표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원본과 override를 구별하는가?</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색·위치 합성 결과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CAD 크기가 적절한가?</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단위·축·바운드 기록</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다른 위치에서도 열리는가?</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폴더 전체 재열기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20852504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DAY 2">
            <a:extLst xmlns:a="http://schemas.openxmlformats.org/drawingml/2006/main">
              <a:ext uri="{FF2B5EF4-FFF2-40B4-BE49-F238E27FC236}">
                <a16:creationId xmlns:a16="http://schemas.microsoft.com/office/drawing/2014/main" id="{E3AB4853-04DB-4066-A479-1882C5143798}"/>
              </a:ext>
            </a:extLst>
          </p:cNvPr>
          <p:cNvSpPr>
            <a:spLocks xmlns:a="http://schemas.openxmlformats.org/drawingml/2006/main" noGrp="1"/>
          </p:cNvSpPr>
          <p:nvPr/>
        </p:nvSpPr>
        <p:spPr>
          <a:xfrm xmlns:a="http://schemas.openxmlformats.org/drawingml/2006/main">
            <a:off x="952500" y="1000125"/>
            <a:ext cx="1238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5634B"/>
                </a:solidFill>
                <a:latin typeface="Malgun Gothic"/>
                <a:ea typeface="Malgun Gothic"/>
                <a:cs typeface="Malgun Gothic"/>
              </a:defRPr>
            </a:defPPr>
            <a:lvl1pPr>
              <a:defRPr sz="2250" b="0">
                <a:solidFill>
                  <a:srgbClr val="25634B"/>
                </a:solidFill>
                <a:latin typeface="Malgun Gothic"/>
                <a:ea typeface="Malgun Gothic"/>
                <a:cs typeface="Malgun Gothic"/>
              </a:defRPr>
            </a:lvl1pPr>
            <a:lvl2pPr>
              <a:defRPr sz="2250" b="0">
                <a:solidFill>
                  <a:srgbClr val="25634B"/>
                </a:solidFill>
                <a:latin typeface="Malgun Gothic"/>
                <a:ea typeface="Malgun Gothic"/>
                <a:cs typeface="Malgun Gothic"/>
              </a:defRPr>
            </a:lvl2pPr>
            <a:lvl3pPr>
              <a:defRPr sz="2250" b="0">
                <a:solidFill>
                  <a:srgbClr val="25634B"/>
                </a:solidFill>
                <a:latin typeface="Malgun Gothic"/>
                <a:ea typeface="Malgun Gothic"/>
                <a:cs typeface="Malgun Gothic"/>
              </a:defRPr>
            </a:lvl3pPr>
            <a:lvl4pPr>
              <a:defRPr sz="2250" b="0">
                <a:solidFill>
                  <a:srgbClr val="25634B"/>
                </a:solidFill>
                <a:latin typeface="Malgun Gothic"/>
                <a:ea typeface="Malgun Gothic"/>
                <a:cs typeface="Malgun Gothic"/>
              </a:defRPr>
            </a:lvl4pPr>
            <a:lvl5pPr>
              <a:defRPr sz="2250" b="0">
                <a:solidFill>
                  <a:srgbClr val="25634B"/>
                </a:solidFill>
                <a:latin typeface="Malgun Gothic"/>
                <a:ea typeface="Malgun Gothic"/>
                <a:cs typeface="Malgun Gothic"/>
              </a:defRPr>
            </a:lvl5pPr>
            <a:lvl6pPr>
              <a:defRPr sz="2250" b="0">
                <a:solidFill>
                  <a:srgbClr val="25634B"/>
                </a:solidFill>
                <a:latin typeface="Malgun Gothic"/>
                <a:ea typeface="Malgun Gothic"/>
                <a:cs typeface="Malgun Gothic"/>
              </a:defRPr>
            </a:lvl6pPr>
            <a:lvl7pPr>
              <a:defRPr sz="2250" b="0">
                <a:solidFill>
                  <a:srgbClr val="25634B"/>
                </a:solidFill>
                <a:latin typeface="Malgun Gothic"/>
                <a:ea typeface="Malgun Gothic"/>
                <a:cs typeface="Malgun Gothic"/>
              </a:defRPr>
            </a:lvl7pPr>
            <a:lvl8pPr>
              <a:defRPr sz="2250" b="0">
                <a:solidFill>
                  <a:srgbClr val="25634B"/>
                </a:solidFill>
                <a:latin typeface="Malgun Gothic"/>
                <a:ea typeface="Malgun Gothic"/>
                <a:cs typeface="Malgun Gothic"/>
              </a:defRPr>
            </a:lvl8pPr>
            <a:lvl9pPr>
              <a:defRPr sz="2250" b="0">
                <a:solidFill>
                  <a:srgbClr val="25634B"/>
                </a:solidFill>
                <a:latin typeface="Malgun Gothic"/>
                <a:ea typeface="Malgun Gothic"/>
                <a:cs typeface="Malgun Gothic"/>
              </a:defRPr>
            </a:lvl9pPr>
          </a:lstStyle>
          <a:p xmlns:a="http://schemas.openxmlformats.org/drawingml/2006/main">
            <a:pPr>
              <a:defRPr sz="2250" b="0">
                <a:solidFill>
                  <a:srgbClr val="25634B"/>
                </a:solidFill>
                <a:latin typeface="Malgun Gothic"/>
                <a:ea typeface="Malgun Gothic"/>
                <a:cs typeface="Malgun Gothic"/>
              </a:defRPr>
            </a:pPr>
            <a:r>
              <a:rPr sz="2250" b="0">
                <a:solidFill>
                  <a:srgbClr val="25634B"/>
                </a:solidFill>
                <a:latin typeface="Malgun Gothic"/>
                <a:ea typeface="Malgun Gothic"/>
                <a:cs typeface="Malgun Gothic"/>
              </a:rPr>
              <a:t>DAY 2</a:t>
            </a:r>
          </a:p>
        </p:txBody>
      </p:sp>
      <p:sp>
        <p:nvSpPr>
          <p:cNvPr id="2" name="Title">
            <a:extLst xmlns:a="http://schemas.openxmlformats.org/drawingml/2006/main">
              <a:ext uri="{FF2B5EF4-FFF2-40B4-BE49-F238E27FC236}">
                <a16:creationId xmlns:a16="http://schemas.microsoft.com/office/drawing/2014/main" id="{C1AA3D69-ECBA-47D8-86EC-E09A294A37D8}"/>
              </a:ext>
            </a:extLst>
          </p:cNvPr>
          <p:cNvSpPr>
            <a:spLocks xmlns:a="http://schemas.openxmlformats.org/drawingml/2006/main" noGrp="1"/>
          </p:cNvSpPr>
          <p:nvPr/>
        </p:nvSpPr>
        <p:spPr>
          <a:xfrm xmlns:a="http://schemas.openxmlformats.org/drawingml/2006/main">
            <a:off x="952500" y="2571750"/>
            <a:ext cx="1323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202322"/>
                </a:solidFill>
                <a:latin typeface="Malgun Gothic"/>
                <a:ea typeface="Malgun Gothic"/>
                <a:cs typeface="Malgun Gothic"/>
              </a:defRPr>
            </a:defPPr>
            <a:lvl1pPr>
              <a:defRPr sz="5400" b="1">
                <a:solidFill>
                  <a:srgbClr val="202322"/>
                </a:solidFill>
                <a:latin typeface="Malgun Gothic"/>
                <a:ea typeface="Malgun Gothic"/>
                <a:cs typeface="Malgun Gothic"/>
              </a:defRPr>
            </a:lvl1pPr>
            <a:lvl2pPr>
              <a:defRPr sz="5400" b="1">
                <a:solidFill>
                  <a:srgbClr val="202322"/>
                </a:solidFill>
                <a:latin typeface="Malgun Gothic"/>
                <a:ea typeface="Malgun Gothic"/>
                <a:cs typeface="Malgun Gothic"/>
              </a:defRPr>
            </a:lvl2pPr>
            <a:lvl3pPr>
              <a:defRPr sz="5400" b="1">
                <a:solidFill>
                  <a:srgbClr val="202322"/>
                </a:solidFill>
                <a:latin typeface="Malgun Gothic"/>
                <a:ea typeface="Malgun Gothic"/>
                <a:cs typeface="Malgun Gothic"/>
              </a:defRPr>
            </a:lvl3pPr>
            <a:lvl4pPr>
              <a:defRPr sz="5400" b="1">
                <a:solidFill>
                  <a:srgbClr val="202322"/>
                </a:solidFill>
                <a:latin typeface="Malgun Gothic"/>
                <a:ea typeface="Malgun Gothic"/>
                <a:cs typeface="Malgun Gothic"/>
              </a:defRPr>
            </a:lvl4pPr>
            <a:lvl5pPr>
              <a:defRPr sz="5400" b="1">
                <a:solidFill>
                  <a:srgbClr val="202322"/>
                </a:solidFill>
                <a:latin typeface="Malgun Gothic"/>
                <a:ea typeface="Malgun Gothic"/>
                <a:cs typeface="Malgun Gothic"/>
              </a:defRPr>
            </a:lvl5pPr>
            <a:lvl6pPr>
              <a:defRPr sz="5400" b="1">
                <a:solidFill>
                  <a:srgbClr val="202322"/>
                </a:solidFill>
                <a:latin typeface="Malgun Gothic"/>
                <a:ea typeface="Malgun Gothic"/>
                <a:cs typeface="Malgun Gothic"/>
              </a:defRPr>
            </a:lvl6pPr>
            <a:lvl7pPr>
              <a:defRPr sz="5400" b="1">
                <a:solidFill>
                  <a:srgbClr val="202322"/>
                </a:solidFill>
                <a:latin typeface="Malgun Gothic"/>
                <a:ea typeface="Malgun Gothic"/>
                <a:cs typeface="Malgun Gothic"/>
              </a:defRPr>
            </a:lvl7pPr>
            <a:lvl8pPr>
              <a:defRPr sz="5400" b="1">
                <a:solidFill>
                  <a:srgbClr val="202322"/>
                </a:solidFill>
                <a:latin typeface="Malgun Gothic"/>
                <a:ea typeface="Malgun Gothic"/>
                <a:cs typeface="Malgun Gothic"/>
              </a:defRPr>
            </a:lvl8pPr>
            <a:lvl9pPr>
              <a:defRPr sz="5400" b="1">
                <a:solidFill>
                  <a:srgbClr val="202322"/>
                </a:solidFill>
                <a:latin typeface="Malgun Gothic"/>
                <a:ea typeface="Malgun Gothic"/>
                <a:cs typeface="Malgun Gothic"/>
              </a:defRPr>
            </a:lvl9pPr>
          </a:lstStyle>
          <a:p xmlns:a="http://schemas.openxmlformats.org/drawingml/2006/main">
            <a:pPr>
              <a:defRPr sz="5400" b="1">
                <a:solidFill>
                  <a:srgbClr val="202322"/>
                </a:solidFill>
                <a:latin typeface="Malgun Gothic"/>
                <a:ea typeface="Malgun Gothic"/>
                <a:cs typeface="Malgun Gothic"/>
              </a:defRPr>
            </a:pPr>
            <a:r>
              <a:rPr sz="5400" b="1">
                <a:solidFill>
                  <a:srgbClr val="202322"/>
                </a:solidFill>
                <a:latin typeface="Malgun Gothic"/>
                <a:ea typeface="Malgun Gothic"/>
                <a:cs typeface="Malgun Gothic"/>
              </a:rPr>
              <a:t>물리 설정과 Python 자동화</a:t>
            </a:r>
          </a:p>
        </p:txBody>
      </p:sp>
      <p:sp>
        <p:nvSpPr>
          <p:cNvPr id="3" name="작업물 낙하를 준비하고 조건을 비교합니다.&#10;Python">
            <a:extLst xmlns:a="http://schemas.openxmlformats.org/drawingml/2006/main">
              <a:ext uri="{FF2B5EF4-FFF2-40B4-BE49-F238E27FC236}">
                <a16:creationId xmlns:a16="http://schemas.microsoft.com/office/drawing/2014/main" id="{BFAE0073-5581-4F1C-AE1D-40DB2C07DF2D}"/>
              </a:ext>
            </a:extLst>
          </p:cNvPr>
          <p:cNvSpPr>
            <a:spLocks xmlns:a="http://schemas.openxmlformats.org/drawingml/2006/main" noGrp="1"/>
          </p:cNvSpPr>
          <p:nvPr/>
        </p:nvSpPr>
        <p:spPr>
          <a:xfrm xmlns:a="http://schemas.openxmlformats.org/drawingml/2006/main">
            <a:off x="1000125" y="5286375"/>
            <a:ext cx="12954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02322"/>
                </a:solidFill>
                <a:latin typeface="Malgun Gothic"/>
                <a:ea typeface="Malgun Gothic"/>
                <a:cs typeface="Malgun Gothic"/>
              </a:defRPr>
            </a:defPPr>
            <a:lvl1pPr>
              <a:defRPr sz="2550" b="0">
                <a:solidFill>
                  <a:srgbClr val="202322"/>
                </a:solidFill>
                <a:latin typeface="Malgun Gothic"/>
                <a:ea typeface="Malgun Gothic"/>
                <a:cs typeface="Malgun Gothic"/>
              </a:defRPr>
            </a:lvl1pPr>
            <a:lvl2pPr>
              <a:defRPr sz="2550" b="0">
                <a:solidFill>
                  <a:srgbClr val="202322"/>
                </a:solidFill>
                <a:latin typeface="Malgun Gothic"/>
                <a:ea typeface="Malgun Gothic"/>
                <a:cs typeface="Malgun Gothic"/>
              </a:defRPr>
            </a:lvl2pPr>
            <a:lvl3pPr>
              <a:defRPr sz="2550" b="0">
                <a:solidFill>
                  <a:srgbClr val="202322"/>
                </a:solidFill>
                <a:latin typeface="Malgun Gothic"/>
                <a:ea typeface="Malgun Gothic"/>
                <a:cs typeface="Malgun Gothic"/>
              </a:defRPr>
            </a:lvl3pPr>
            <a:lvl4pPr>
              <a:defRPr sz="2550" b="0">
                <a:solidFill>
                  <a:srgbClr val="202322"/>
                </a:solidFill>
                <a:latin typeface="Malgun Gothic"/>
                <a:ea typeface="Malgun Gothic"/>
                <a:cs typeface="Malgun Gothic"/>
              </a:defRPr>
            </a:lvl4pPr>
            <a:lvl5pPr>
              <a:defRPr sz="2550" b="0">
                <a:solidFill>
                  <a:srgbClr val="202322"/>
                </a:solidFill>
                <a:latin typeface="Malgun Gothic"/>
                <a:ea typeface="Malgun Gothic"/>
                <a:cs typeface="Malgun Gothic"/>
              </a:defRPr>
            </a:lvl5pPr>
            <a:lvl6pPr>
              <a:defRPr sz="2550" b="0">
                <a:solidFill>
                  <a:srgbClr val="202322"/>
                </a:solidFill>
                <a:latin typeface="Malgun Gothic"/>
                <a:ea typeface="Malgun Gothic"/>
                <a:cs typeface="Malgun Gothic"/>
              </a:defRPr>
            </a:lvl6pPr>
            <a:lvl7pPr>
              <a:defRPr sz="2550" b="0">
                <a:solidFill>
                  <a:srgbClr val="202322"/>
                </a:solidFill>
                <a:latin typeface="Malgun Gothic"/>
                <a:ea typeface="Malgun Gothic"/>
                <a:cs typeface="Malgun Gothic"/>
              </a:defRPr>
            </a:lvl7pPr>
            <a:lvl8pPr>
              <a:defRPr sz="2550" b="0">
                <a:solidFill>
                  <a:srgbClr val="202322"/>
                </a:solidFill>
                <a:latin typeface="Malgun Gothic"/>
                <a:ea typeface="Malgun Gothic"/>
                <a:cs typeface="Malgun Gothic"/>
              </a:defRPr>
            </a:lvl8pPr>
            <a:lvl9pPr>
              <a:defRPr sz="2550" b="0">
                <a:solidFill>
                  <a:srgbClr val="202322"/>
                </a:solidFill>
                <a:latin typeface="Malgun Gothic"/>
                <a:ea typeface="Malgun Gothic"/>
                <a:cs typeface="Malgun Gothic"/>
              </a:defRPr>
            </a:lvl9pPr>
          </a:lstStyle>
          <a:p xmlns:a="http://schemas.openxmlformats.org/drawingml/2006/main">
            <a:pPr>
              <a:defRPr sz="2550" b="0">
                <a:solidFill>
                  <a:srgbClr val="202322"/>
                </a:solidFill>
                <a:latin typeface="Malgun Gothic"/>
                <a:ea typeface="Malgun Gothic"/>
                <a:cs typeface="Malgun Gothic"/>
              </a:defRPr>
            </a:pPr>
            <a:r>
              <a:rPr sz="2550" b="0">
                <a:solidFill>
                  <a:srgbClr val="202322"/>
                </a:solidFill>
                <a:latin typeface="Malgun Gothic"/>
                <a:ea typeface="Malgun Gothic"/>
                <a:cs typeface="Malgun Gothic"/>
              </a:rPr>
              <a:t>작업물 낙하를 준비하고 조건을 비교합니다.</a:t>
            </a:r>
          </a:p>
          <a:p xmlns:a="http://schemas.openxmlformats.org/drawingml/2006/main">
            <a:pPr>
              <a:defRPr sz="2550" b="0">
                <a:solidFill>
                  <a:srgbClr val="202322"/>
                </a:solidFill>
                <a:latin typeface="Malgun Gothic"/>
                <a:ea typeface="Malgun Gothic"/>
                <a:cs typeface="Malgun Gothic"/>
              </a:defRPr>
            </a:pPr>
            <a:r>
              <a:rPr sz="2550" b="0">
                <a:solidFill>
                  <a:srgbClr val="202322"/>
                </a:solidFill>
                <a:latin typeface="Malgun Gothic"/>
                <a:ea typeface="Malgun Gothic"/>
                <a:cs typeface="Malgun Gothic"/>
              </a:rPr>
              <a:t>Python으로 반복 작업을 실행합니다.</a:t>
            </a:r>
          </a:p>
          <a:p xmlns:a="http://schemas.openxmlformats.org/drawingml/2006/main">
            <a:pPr>
              <a:defRPr sz="2550" b="0">
                <a:solidFill>
                  <a:srgbClr val="202322"/>
                </a:solidFill>
                <a:latin typeface="Malgun Gothic"/>
                <a:ea typeface="Malgun Gothic"/>
                <a:cs typeface="Malgun Gothic"/>
              </a:defRPr>
            </a:pPr>
            <a:r>
              <a:rPr sz="2550" b="0">
                <a:solidFill>
                  <a:srgbClr val="202322"/>
                </a:solidFill>
                <a:latin typeface="Malgun Gothic"/>
                <a:ea typeface="Malgun Gothic"/>
                <a:cs typeface="Malgun Gothic"/>
              </a:rPr>
              <a:t>가상 데이터로 장비 상태를 표시합니다.</a:t>
            </a:r>
          </a:p>
        </p:txBody>
      </p:sp>
    </p:spTree>
    <p:extLst>
      <p:ext uri="{BB962C8B-B14F-4D97-AF65-F5344CB8AC3E}">
        <p14:creationId xmlns:p14="http://schemas.microsoft.com/office/powerpoint/2010/main" val="130478210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1     실습 목적에 맞는 준">
            <a:extLst xmlns:a="http://schemas.openxmlformats.org/drawingml/2006/main">
              <a:ext uri="{FF2B5EF4-FFF2-40B4-BE49-F238E27FC236}">
                <a16:creationId xmlns:a16="http://schemas.microsoft.com/office/drawing/2014/main" id="{78456835-BB7C-4B4C-B982-4924ECFBB54D}"/>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1     실습 목적에 맞는 준비도 검사</a:t>
            </a:r>
          </a:p>
        </p:txBody>
      </p:sp>
      <p:sp>
        <p:nvSpPr>
          <p:cNvPr id="2" name="Title">
            <a:extLst xmlns:a="http://schemas.openxmlformats.org/drawingml/2006/main">
              <a:ext uri="{FF2B5EF4-FFF2-40B4-BE49-F238E27FC236}">
                <a16:creationId xmlns:a16="http://schemas.microsoft.com/office/drawing/2014/main" id="{C80B35A0-E516-4C96-B844-4553D3A7D4D7}"/>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이번 실험의 준비 조건</a:t>
            </a:r>
          </a:p>
        </p:txBody>
      </p:sp>
      <p:sp>
        <p:nvSpPr>
          <p:cNvPr id="3" name="30   /   CBNU Omniverse Worksh">
            <a:extLst xmlns:a="http://schemas.openxmlformats.org/drawingml/2006/main">
              <a:ext uri="{FF2B5EF4-FFF2-40B4-BE49-F238E27FC236}">
                <a16:creationId xmlns:a16="http://schemas.microsoft.com/office/drawing/2014/main" id="{0944F2BF-D0BF-4E2C-A9BD-3203B3206E43}"/>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30   /   CBNU Omniverse Workshop</a:t>
            </a:r>
          </a:p>
        </p:txBody>
      </p:sp>
      <p:graphicFrame>
        <p:nvGraphicFramePr>
          <p:cNvPr id="4" name="">
            <a:extLst xmlns:a="http://schemas.openxmlformats.org/drawingml/2006/main">
              <a:ext uri="{FF2B5EF4-FFF2-40B4-BE49-F238E27FC236}">
                <a16:creationId xmlns:a16="http://schemas.microsoft.com/office/drawing/2014/main" id="{16D618B5-E41A-4DAF-A750-B3086FE2F7B0}"/>
              </a:ext>
            </a:extLst>
          </p:cNvPr>
          <p:cNvGraphicFramePr/>
          <p:nvPr/>
        </p:nvGraphicFramePr>
        <p:xfrm>
          <a:off xmlns:a="http://schemas.openxmlformats.org/drawingml/2006/main" x="838200" y="2190750"/>
          <a:ext xmlns:a="http://schemas.openxmlformats.org/drawingml/2006/main" cx="13563600" cy="5095875"/>
        </p:xfrm>
        <a:graphic xmlns:a="http://schemas.openxmlformats.org/drawingml/2006/main">
          <a:graphicData uri="http://schemas.openxmlformats.org/drawingml/2006/table">
            <a:tbl>
              <a:tblPr/>
              <a:tblGrid>
                <a:gridCol w="4739968"/>
                <a:gridCol w="8823632"/>
              </a:tblGrid>
              <a:tr h="849313">
                <a:tc>
                  <a:txBody>
                    <a:bodyPr/>
                    <a:lstStyle/>
                    <a:p>
                      <a:r>
                        <a:rPr sz="2100" b="1">
                          <a:solidFill>
                            <a:srgbClr val="202322"/>
                          </a:solidFill>
                          <a:latin typeface="Malgun Gothic"/>
                          <a:ea typeface="Malgun Gothic"/>
                          <a:cs typeface="Malgun Gothic"/>
                        </a:rPr>
                        <a:t>항목</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기준</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49313">
                <a:tc>
                  <a:txBody>
                    <a:bodyPr/>
                    <a:lstStyle/>
                    <a:p>
                      <a:r>
                        <a:rPr sz="2100" b="0">
                          <a:solidFill>
                            <a:srgbClr val="202322"/>
                          </a:solidFill>
                          <a:latin typeface="Malgun Gothic"/>
                          <a:ea typeface="Malgun Gothic"/>
                          <a:cs typeface="Malgun Gothic"/>
                        </a:rPr>
                        <a:t>단위 / 축</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meter / Z-up</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작업물</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한 변 0.2m, 중심 높이 1.5m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질량 / 중력</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1kg / 9.81m/s², -Z</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바닥</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윗면 z=0, 정적 Collider</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CAD 장비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형상 참조, 기존 물리 비활성</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3686209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1     실습 목적에 맞는 준">
            <a:extLst xmlns:a="http://schemas.openxmlformats.org/drawingml/2006/main">
              <a:ext uri="{FF2B5EF4-FFF2-40B4-BE49-F238E27FC236}">
                <a16:creationId xmlns:a16="http://schemas.microsoft.com/office/drawing/2014/main" id="{3EA6C3EB-C7F3-4EEA-AE9A-8622FD404202}"/>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1     실습 목적에 맞는 준비도 검사</a:t>
            </a:r>
          </a:p>
        </p:txBody>
      </p:sp>
      <p:sp>
        <p:nvSpPr>
          <p:cNvPr id="2" name="Title">
            <a:extLst xmlns:a="http://schemas.openxmlformats.org/drawingml/2006/main">
              <a:ext uri="{FF2B5EF4-FFF2-40B4-BE49-F238E27FC236}">
                <a16:creationId xmlns:a16="http://schemas.microsoft.com/office/drawing/2014/main" id="{002BB8BC-B57C-445E-B80E-B0D8DB03A2A3}"/>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준비도 결과 읽기</a:t>
            </a:r>
          </a:p>
        </p:txBody>
      </p:sp>
      <p:sp>
        <p:nvSpPr>
          <p:cNvPr id="3" name="31   /   CBNU Omniverse Worksh">
            <a:extLst xmlns:a="http://schemas.openxmlformats.org/drawingml/2006/main">
              <a:ext uri="{FF2B5EF4-FFF2-40B4-BE49-F238E27FC236}">
                <a16:creationId xmlns:a16="http://schemas.microsoft.com/office/drawing/2014/main" id="{2FC70CF5-98AE-4AEE-AE99-D0CA4533F3C9}"/>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31   /   CBNU Omniverse Workshop</a:t>
            </a:r>
          </a:p>
        </p:txBody>
      </p:sp>
      <p:sp>
        <p:nvSpPr>
          <p:cNvPr id="4" name="Code">
            <a:extLst xmlns:a="http://schemas.openxmlformats.org/drawingml/2006/main">
              <a:ext uri="{FF2B5EF4-FFF2-40B4-BE49-F238E27FC236}">
                <a16:creationId xmlns:a16="http://schemas.microsoft.com/office/drawing/2014/main" id="{7B28B4CB-8CF0-4B10-A4FA-A54D2392DA50}"/>
              </a:ext>
            </a:extLst>
          </p:cNvPr>
          <p:cNvSpPr>
            <a:spLocks xmlns:a="http://schemas.openxmlformats.org/drawingml/2006/main" noGrp="1"/>
          </p:cNvSpPr>
          <p:nvPr/>
        </p:nvSpPr>
        <p:spPr>
          <a:xfrm xmlns:a="http://schemas.openxmlformats.org/drawingml/2006/main">
            <a:off x="1028700" y="2286000"/>
            <a:ext cx="1314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PASS   meter/Z-up</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PASS   equipment_height_1_to_3m</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CHECK  physics_scene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CHECK  workpiece_collider</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CHECK  workpiece_rigid_body</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CHECK  positive_mass</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CHECK  ground_collider</a:t>
            </a:r>
          </a:p>
        </p:txBody>
      </p:sp>
      <p:sp>
        <p:nvSpPr>
          <p:cNvPr id="5" name="02_structured의 예상 정적 검사 결과입니다.">
            <a:extLst xmlns:a="http://schemas.openxmlformats.org/drawingml/2006/main">
              <a:ext uri="{FF2B5EF4-FFF2-40B4-BE49-F238E27FC236}">
                <a16:creationId xmlns:a16="http://schemas.microsoft.com/office/drawing/2014/main" id="{4B1CC545-5D98-4C66-BDD3-8020E5818A23}"/>
              </a:ext>
            </a:extLst>
          </p:cNvPr>
          <p:cNvSpPr>
            <a:spLocks xmlns:a="http://schemas.openxmlformats.org/drawingml/2006/main" noGrp="1"/>
          </p:cNvSpPr>
          <p:nvPr/>
        </p:nvSpPr>
        <p:spPr>
          <a:xfrm xmlns:a="http://schemas.openxmlformats.org/drawingml/2006/main">
            <a:off x="1028700" y="581025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02_structured의 예상 정적 검사 결과입니다.</a:t>
            </a:r>
          </a:p>
        </p:txBody>
      </p:sp>
      <p:sp>
        <p:nvSpPr>
          <p:cNvPr id="6" name="03_physics에서는 같은 항목을 다시 확인합니다.">
            <a:extLst xmlns:a="http://schemas.openxmlformats.org/drawingml/2006/main">
              <a:ext uri="{FF2B5EF4-FFF2-40B4-BE49-F238E27FC236}">
                <a16:creationId xmlns:a16="http://schemas.microsoft.com/office/drawing/2014/main" id="{CF1C6A53-3492-4F07-93FC-37E2A58AE25C}"/>
              </a:ext>
            </a:extLst>
          </p:cNvPr>
          <p:cNvSpPr>
            <a:spLocks xmlns:a="http://schemas.openxmlformats.org/drawingml/2006/main" noGrp="1"/>
          </p:cNvSpPr>
          <p:nvPr/>
        </p:nvSpPr>
        <p:spPr>
          <a:xfrm xmlns:a="http://schemas.openxmlformats.org/drawingml/2006/main">
            <a:off x="1028700" y="642937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03_physics에서는 같은 항목을 다시 확인합니다.</a:t>
            </a:r>
          </a:p>
        </p:txBody>
      </p:sp>
    </p:spTree>
    <p:extLst>
      <p:ext uri="{BB962C8B-B14F-4D97-AF65-F5344CB8AC3E}">
        <p14:creationId xmlns:p14="http://schemas.microsoft.com/office/powerpoint/2010/main" val="93857314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AY 2   PART 1     실습 목적에 맞는 준">
            <a:extLst xmlns:a="http://schemas.openxmlformats.org/drawingml/2006/main">
              <a:ext uri="{FF2B5EF4-FFF2-40B4-BE49-F238E27FC236}">
                <a16:creationId xmlns:a16="http://schemas.microsoft.com/office/drawing/2014/main" id="{F948E9DC-A3D7-4CF8-AC32-6676F3051A6B}"/>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1     실습 목적에 맞는 준비도 검사</a:t>
            </a:r>
          </a:p>
        </p:txBody>
      </p:sp>
      <p:sp>
        <p:nvSpPr>
          <p:cNvPr id="2" name="Title">
            <a:extLst xmlns:a="http://schemas.openxmlformats.org/drawingml/2006/main">
              <a:ext uri="{FF2B5EF4-FFF2-40B4-BE49-F238E27FC236}">
                <a16:creationId xmlns:a16="http://schemas.microsoft.com/office/drawing/2014/main" id="{5DD5C93E-AA3C-492D-9A61-F44FD6084CAB}"/>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설정 전후를 진단표로 비교</a:t>
            </a:r>
          </a:p>
        </p:txBody>
      </p:sp>
      <p:sp>
        <p:nvSpPr>
          <p:cNvPr id="3" name="32   /   CBNU Omniverse Worksh">
            <a:extLst xmlns:a="http://schemas.openxmlformats.org/drawingml/2006/main">
              <a:ext uri="{FF2B5EF4-FFF2-40B4-BE49-F238E27FC236}">
                <a16:creationId xmlns:a16="http://schemas.microsoft.com/office/drawing/2014/main" id="{5A727550-619D-4C47-98B4-38BC6FAC77C0}"/>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32   /   CBNU Omniverse Workshop</a:t>
            </a:r>
          </a:p>
        </p:txBody>
      </p:sp>
      <p:sp>
        <p:nvSpPr>
          <p:cNvPr id="4" name="02_structured.usda / 03_physic">
            <a:extLst xmlns:a="http://schemas.openxmlformats.org/drawingml/2006/main">
              <a:ext uri="{FF2B5EF4-FFF2-40B4-BE49-F238E27FC236}">
                <a16:creationId xmlns:a16="http://schemas.microsoft.com/office/drawing/2014/main" id="{62758EA1-298D-49D0-9875-2E574BC9A8C1}"/>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02_structured.usda / 03_physics.usda</a:t>
            </a:r>
          </a:p>
        </p:txBody>
      </p:sp>
      <p:sp>
        <p:nvSpPr>
          <p:cNvPr id="5" name="01">
            <a:extLst xmlns:a="http://schemas.openxmlformats.org/drawingml/2006/main">
              <a:ext uri="{FF2B5EF4-FFF2-40B4-BE49-F238E27FC236}">
                <a16:creationId xmlns:a16="http://schemas.microsoft.com/office/drawing/2014/main" id="{2FD8DE45-6137-4010-99A7-67EF21DC7AEF}"/>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각 장면에서 08_check_readiness.py를 ">
            <a:extLst xmlns:a="http://schemas.openxmlformats.org/drawingml/2006/main">
              <a:ext uri="{FF2B5EF4-FFF2-40B4-BE49-F238E27FC236}">
                <a16:creationId xmlns:a16="http://schemas.microsoft.com/office/drawing/2014/main" id="{229E37FC-ED5B-43C2-9C5C-83C6AD4FA3E8}"/>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각 장면에서 08_check_readiness.py를 실행합니다.</a:t>
            </a:r>
          </a:p>
        </p:txBody>
      </p:sp>
      <p:sp>
        <p:nvSpPr>
          <p:cNvPr id="7" name="02">
            <a:extLst xmlns:a="http://schemas.openxmlformats.org/drawingml/2006/main">
              <a:ext uri="{FF2B5EF4-FFF2-40B4-BE49-F238E27FC236}">
                <a16:creationId xmlns:a16="http://schemas.microsoft.com/office/drawing/2014/main" id="{1F17C6C4-83A7-4410-B73A-5C52D659B73F}"/>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CHECK가 PASS로 바뀐 항목을 찾습니다.">
            <a:extLst xmlns:a="http://schemas.openxmlformats.org/drawingml/2006/main">
              <a:ext uri="{FF2B5EF4-FFF2-40B4-BE49-F238E27FC236}">
                <a16:creationId xmlns:a16="http://schemas.microsoft.com/office/drawing/2014/main" id="{D7ECDF2B-623A-4D58-B1B6-A6E7DF32F95B}"/>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CHECK가 PASS로 바뀐 항목을 찾습니다.</a:t>
            </a:r>
          </a:p>
        </p:txBody>
      </p:sp>
      <p:sp>
        <p:nvSpPr>
          <p:cNvPr id="9" name="03">
            <a:extLst xmlns:a="http://schemas.openxmlformats.org/drawingml/2006/main">
              <a:ext uri="{FF2B5EF4-FFF2-40B4-BE49-F238E27FC236}">
                <a16:creationId xmlns:a16="http://schemas.microsoft.com/office/drawing/2014/main" id="{B64A1693-5C21-4DA8-8038-A6C00C46C7B3}"/>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추가된 물리 속성과 진단 결과를 연결합니다.">
            <a:extLst xmlns:a="http://schemas.openxmlformats.org/drawingml/2006/main">
              <a:ext uri="{FF2B5EF4-FFF2-40B4-BE49-F238E27FC236}">
                <a16:creationId xmlns:a16="http://schemas.microsoft.com/office/drawing/2014/main" id="{C978BFD0-8E88-43F6-9116-18317B145DF9}"/>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추가된 물리 속성과 진단 결과를 연결합니다.</a:t>
            </a:r>
          </a:p>
        </p:txBody>
      </p:sp>
    </p:spTree>
    <p:extLst>
      <p:ext uri="{BB962C8B-B14F-4D97-AF65-F5344CB8AC3E}">
        <p14:creationId xmlns:p14="http://schemas.microsoft.com/office/powerpoint/2010/main" val="9129978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2     원본 CAD와 시뮬레">
            <a:extLst xmlns:a="http://schemas.openxmlformats.org/drawingml/2006/main">
              <a:ext uri="{FF2B5EF4-FFF2-40B4-BE49-F238E27FC236}">
                <a16:creationId xmlns:a16="http://schemas.microsoft.com/office/drawing/2014/main" id="{C481AA3C-6846-4CE7-9B2B-D7D1190AB53D}"/>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2     원본 CAD와 시뮬레이션 역할 분리</a:t>
            </a:r>
          </a:p>
        </p:txBody>
      </p:sp>
      <p:sp>
        <p:nvSpPr>
          <p:cNvPr id="2" name="Title">
            <a:extLst xmlns:a="http://schemas.openxmlformats.org/drawingml/2006/main">
              <a:ext uri="{FF2B5EF4-FFF2-40B4-BE49-F238E27FC236}">
                <a16:creationId xmlns:a16="http://schemas.microsoft.com/office/drawing/2014/main" id="{E72EE240-E146-4E98-85A9-75C4BE32A656}"/>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시각 장비와 동적 작업물</a:t>
            </a:r>
          </a:p>
        </p:txBody>
      </p:sp>
      <p:sp>
        <p:nvSpPr>
          <p:cNvPr id="3" name="33   /   CBNU Omniverse Worksh">
            <a:extLst xmlns:a="http://schemas.openxmlformats.org/drawingml/2006/main">
              <a:ext uri="{FF2B5EF4-FFF2-40B4-BE49-F238E27FC236}">
                <a16:creationId xmlns:a16="http://schemas.microsoft.com/office/drawing/2014/main" id="{D6931163-0DBA-4D51-B8D1-66ED38C2ED27}"/>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33   /   CBNU Omniverse Workshop</a:t>
            </a:r>
          </a:p>
        </p:txBody>
      </p:sp>
      <p:sp>
        <p:nvSpPr>
          <p:cNvPr id="4" name="Code">
            <a:extLst xmlns:a="http://schemas.openxmlformats.org/drawingml/2006/main">
              <a:ext uri="{FF2B5EF4-FFF2-40B4-BE49-F238E27FC236}">
                <a16:creationId xmlns:a16="http://schemas.microsoft.com/office/drawing/2014/main" id="{E6C9C6F8-5EC0-4002-80D4-628BEE794214}"/>
              </a:ext>
            </a:extLst>
          </p:cNvPr>
          <p:cNvSpPr>
            <a:spLocks xmlns:a="http://schemas.openxmlformats.org/drawingml/2006/main" noGrp="1"/>
          </p:cNvSpPr>
          <p:nvPr/>
        </p:nvSpPr>
        <p:spPr>
          <a:xfrm xmlns:a="http://schemas.openxmlformats.org/drawingml/2006/main">
            <a:off x="1028700" y="2286000"/>
            <a:ext cx="13144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/World</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/Equipment       시각 참조</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/link0 ...   CAD 원본 계층</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/Workpiece       동적 강체</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/Ground          정적 충돌</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/StatusLamp      상태 표시</a:t>
            </a:r>
          </a:p>
        </p:txBody>
      </p:sp>
      <p:sp>
        <p:nvSpPr>
          <p:cNvPr id="5" name="물리 기능은 역할을 정한 대상에 적용합니다.">
            <a:extLst xmlns:a="http://schemas.openxmlformats.org/drawingml/2006/main">
              <a:ext uri="{FF2B5EF4-FFF2-40B4-BE49-F238E27FC236}">
                <a16:creationId xmlns:a16="http://schemas.microsoft.com/office/drawing/2014/main" id="{2865E8D2-B42D-4102-A6B9-D7EFBC4D227E}"/>
              </a:ext>
            </a:extLst>
          </p:cNvPr>
          <p:cNvSpPr>
            <a:spLocks xmlns:a="http://schemas.openxmlformats.org/drawingml/2006/main" noGrp="1"/>
          </p:cNvSpPr>
          <p:nvPr/>
        </p:nvSpPr>
        <p:spPr>
          <a:xfrm xmlns:a="http://schemas.openxmlformats.org/drawingml/2006/main">
            <a:off x="1028700" y="533400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물리 기능은 역할을 정한 대상에 적용합니다.</a:t>
            </a:r>
          </a:p>
        </p:txBody>
      </p:sp>
      <p:sp>
        <p:nvSpPr>
          <p:cNvPr id="6" name="CAD 내부 계층은 원본과 함께 관리합니다.">
            <a:extLst xmlns:a="http://schemas.openxmlformats.org/drawingml/2006/main">
              <a:ext uri="{FF2B5EF4-FFF2-40B4-BE49-F238E27FC236}">
                <a16:creationId xmlns:a16="http://schemas.microsoft.com/office/drawing/2014/main" id="{A99DF21E-A1C3-4FFE-A9E5-E4FEC2030FEE}"/>
              </a:ext>
            </a:extLst>
          </p:cNvPr>
          <p:cNvSpPr>
            <a:spLocks xmlns:a="http://schemas.openxmlformats.org/drawingml/2006/main" noGrp="1"/>
          </p:cNvSpPr>
          <p:nvPr/>
        </p:nvSpPr>
        <p:spPr>
          <a:xfrm xmlns:a="http://schemas.openxmlformats.org/drawingml/2006/main">
            <a:off x="1028700" y="595312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CAD 내부 계층은 원본과 함께 관리합니다.</a:t>
            </a:r>
          </a:p>
        </p:txBody>
      </p:sp>
    </p:spTree>
    <p:extLst>
      <p:ext uri="{BB962C8B-B14F-4D97-AF65-F5344CB8AC3E}">
        <p14:creationId xmlns:p14="http://schemas.microsoft.com/office/powerpoint/2010/main" val="133517618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2     원본 CAD와 시뮬레">
            <a:extLst xmlns:a="http://schemas.openxmlformats.org/drawingml/2006/main">
              <a:ext uri="{FF2B5EF4-FFF2-40B4-BE49-F238E27FC236}">
                <a16:creationId xmlns:a16="http://schemas.microsoft.com/office/drawing/2014/main" id="{CA7B80C2-75AF-4A2F-ADF4-53ED3FA0E5CA}"/>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2     원본 CAD와 시뮬레이션 역할 분리</a:t>
            </a:r>
          </a:p>
        </p:txBody>
      </p:sp>
      <p:sp>
        <p:nvSpPr>
          <p:cNvPr id="2" name="Title">
            <a:extLst xmlns:a="http://schemas.openxmlformats.org/drawingml/2006/main">
              <a:ext uri="{FF2B5EF4-FFF2-40B4-BE49-F238E27FC236}">
                <a16:creationId xmlns:a16="http://schemas.microsoft.com/office/drawing/2014/main" id="{2CAAE499-DC2A-41A2-87BF-D7AF3FFDCD52}"/>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원본과 수업 장면의 차이</a:t>
            </a:r>
          </a:p>
        </p:txBody>
      </p:sp>
      <p:sp>
        <p:nvSpPr>
          <p:cNvPr id="3" name="34   /   CBNU Omniverse Worksh">
            <a:extLst xmlns:a="http://schemas.openxmlformats.org/drawingml/2006/main">
              <a:ext uri="{FF2B5EF4-FFF2-40B4-BE49-F238E27FC236}">
                <a16:creationId xmlns:a16="http://schemas.microsoft.com/office/drawing/2014/main" id="{8EE58C81-4BA1-4233-8D3B-30643C52CE8E}"/>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34   /   CBNU Omniverse Workshop</a:t>
            </a:r>
          </a:p>
        </p:txBody>
      </p:sp>
      <p:graphicFrame>
        <p:nvGraphicFramePr>
          <p:cNvPr id="4" name="">
            <a:extLst xmlns:a="http://schemas.openxmlformats.org/drawingml/2006/main">
              <a:ext uri="{FF2B5EF4-FFF2-40B4-BE49-F238E27FC236}">
                <a16:creationId xmlns:a16="http://schemas.microsoft.com/office/drawing/2014/main" id="{35D102CC-8CE1-47AB-BA10-8F60B2F4F246}"/>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3505503"/>
                <a:gridCol w="4934670"/>
                <a:gridCol w="5123427"/>
              </a:tblGrid>
              <a:tr h="857250">
                <a:tc>
                  <a:txBody>
                    <a:bodyPr/>
                    <a:lstStyle/>
                    <a:p>
                      <a:r>
                        <a:rPr sz="2100" b="1">
                          <a:solidFill>
                            <a:srgbClr val="202322"/>
                          </a:solidFill>
                          <a:latin typeface="Malgun Gothic"/>
                          <a:ea typeface="Malgun Gothic"/>
                          <a:cs typeface="Malgun Gothic"/>
                        </a:rPr>
                        <a:t>구분</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제공 CAD USD</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공통 수업 장면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기계 형상</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원본 메시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Reference로 재사용</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로봇 강체·관절</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기존 설정 포함</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상위 의견으로 비활성화</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낙하 대상</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로봇 제어 범위와 연관</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별도 Workpiece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편집 위치</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원본 보존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수업용 Layer</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88090712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AY 2   PART 2     원본 CAD와 시뮬레">
            <a:extLst xmlns:a="http://schemas.openxmlformats.org/drawingml/2006/main">
              <a:ext uri="{FF2B5EF4-FFF2-40B4-BE49-F238E27FC236}">
                <a16:creationId xmlns:a16="http://schemas.microsoft.com/office/drawing/2014/main" id="{07AFA454-4557-4430-9585-7842D6501C04}"/>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2     원본 CAD와 시뮬레이션 역할 분리</a:t>
            </a:r>
          </a:p>
        </p:txBody>
      </p:sp>
      <p:sp>
        <p:nvSpPr>
          <p:cNvPr id="2" name="Title">
            <a:extLst xmlns:a="http://schemas.openxmlformats.org/drawingml/2006/main">
              <a:ext uri="{FF2B5EF4-FFF2-40B4-BE49-F238E27FC236}">
                <a16:creationId xmlns:a16="http://schemas.microsoft.com/office/drawing/2014/main" id="{88FB3EAE-4C94-4CAF-BDCB-644DB4EEFE66}"/>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역할별 Hierarchy 검토</a:t>
            </a:r>
          </a:p>
        </p:txBody>
      </p:sp>
      <p:sp>
        <p:nvSpPr>
          <p:cNvPr id="3" name="35   /   CBNU Omniverse Worksh">
            <a:extLst xmlns:a="http://schemas.openxmlformats.org/drawingml/2006/main">
              <a:ext uri="{FF2B5EF4-FFF2-40B4-BE49-F238E27FC236}">
                <a16:creationId xmlns:a16="http://schemas.microsoft.com/office/drawing/2014/main" id="{7435A27D-E5A9-425C-B548-6E6D686515C5}"/>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35   /   CBNU Omniverse Workshop</a:t>
            </a:r>
          </a:p>
        </p:txBody>
      </p:sp>
      <p:sp>
        <p:nvSpPr>
          <p:cNvPr id="4" name="checkpoints/03_physics.usda">
            <a:extLst xmlns:a="http://schemas.openxmlformats.org/drawingml/2006/main">
              <a:ext uri="{FF2B5EF4-FFF2-40B4-BE49-F238E27FC236}">
                <a16:creationId xmlns:a16="http://schemas.microsoft.com/office/drawing/2014/main" id="{DFF59708-D1F1-49FF-8312-F0DB6C6E3752}"/>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checkpoints/03_physics.usda</a:t>
            </a:r>
          </a:p>
        </p:txBody>
      </p:sp>
      <p:sp>
        <p:nvSpPr>
          <p:cNvPr id="5" name="01">
            <a:extLst xmlns:a="http://schemas.openxmlformats.org/drawingml/2006/main">
              <a:ext uri="{FF2B5EF4-FFF2-40B4-BE49-F238E27FC236}">
                <a16:creationId xmlns:a16="http://schemas.microsoft.com/office/drawing/2014/main" id="{5EC6C041-7DA6-46F9-89E1-018FADDA60D5}"/>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Equipment의 Reference 경로를 확인합니다">
            <a:extLst xmlns:a="http://schemas.openxmlformats.org/drawingml/2006/main">
              <a:ext uri="{FF2B5EF4-FFF2-40B4-BE49-F238E27FC236}">
                <a16:creationId xmlns:a16="http://schemas.microsoft.com/office/drawing/2014/main" id="{064839E6-F9D1-457B-9CB5-34DFB067FA85}"/>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Equipment의 Reference 경로를 확인합니다.</a:t>
            </a:r>
          </a:p>
        </p:txBody>
      </p:sp>
      <p:sp>
        <p:nvSpPr>
          <p:cNvPr id="7" name="02">
            <a:extLst xmlns:a="http://schemas.openxmlformats.org/drawingml/2006/main">
              <a:ext uri="{FF2B5EF4-FFF2-40B4-BE49-F238E27FC236}">
                <a16:creationId xmlns:a16="http://schemas.microsoft.com/office/drawing/2014/main" id="{E0C140CD-E25B-4854-93DA-B72F11123B72}"/>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Workpiece가 장비의 자식이 아닌 이유를 설명합니">
            <a:extLst xmlns:a="http://schemas.openxmlformats.org/drawingml/2006/main">
              <a:ext uri="{FF2B5EF4-FFF2-40B4-BE49-F238E27FC236}">
                <a16:creationId xmlns:a16="http://schemas.microsoft.com/office/drawing/2014/main" id="{8774A8B0-A633-48B8-9786-7F91FC3C7369}"/>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Workpiece가 장비의 자식이 아닌 이유를 설명합니다.</a:t>
            </a:r>
          </a:p>
        </p:txBody>
      </p:sp>
      <p:sp>
        <p:nvSpPr>
          <p:cNvPr id="9" name="03">
            <a:extLst xmlns:a="http://schemas.openxmlformats.org/drawingml/2006/main">
              <a:ext uri="{FF2B5EF4-FFF2-40B4-BE49-F238E27FC236}">
                <a16:creationId xmlns:a16="http://schemas.microsoft.com/office/drawing/2014/main" id="{AAA73536-1490-49FD-8BEA-6D584355F2A3}"/>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물리 대상과 표시 대상을 구분한 계층도를 적습니다.">
            <a:extLst xmlns:a="http://schemas.openxmlformats.org/drawingml/2006/main">
              <a:ext uri="{FF2B5EF4-FFF2-40B4-BE49-F238E27FC236}">
                <a16:creationId xmlns:a16="http://schemas.microsoft.com/office/drawing/2014/main" id="{1201B783-0145-42FD-884F-DB91C788E13B}"/>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물리 대상과 표시 대상을 구분한 계층도를 적습니다.</a:t>
            </a:r>
          </a:p>
        </p:txBody>
      </p:sp>
    </p:spTree>
    <p:extLst>
      <p:ext uri="{BB962C8B-B14F-4D97-AF65-F5344CB8AC3E}">
        <p14:creationId xmlns:p14="http://schemas.microsoft.com/office/powerpoint/2010/main" val="79345539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3     질량과 높이의 비교 ">
            <a:extLst xmlns:a="http://schemas.openxmlformats.org/drawingml/2006/main">
              <a:ext uri="{FF2B5EF4-FFF2-40B4-BE49-F238E27FC236}">
                <a16:creationId xmlns:a16="http://schemas.microsoft.com/office/drawing/2014/main" id="{37DE4BC6-B424-4676-92B2-B54746A6A45D}"/>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3     질량과 높이의 비교 실험</a:t>
            </a:r>
          </a:p>
        </p:txBody>
      </p:sp>
      <p:sp>
        <p:nvSpPr>
          <p:cNvPr id="2" name="Title">
            <a:extLst xmlns:a="http://schemas.openxmlformats.org/drawingml/2006/main">
              <a:ext uri="{FF2B5EF4-FFF2-40B4-BE49-F238E27FC236}">
                <a16:creationId xmlns:a16="http://schemas.microsoft.com/office/drawing/2014/main" id="{DC0CE9BC-55D0-4B87-BEEB-0337C184C333}"/>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물리 속성의 역할</a:t>
            </a:r>
          </a:p>
        </p:txBody>
      </p:sp>
      <p:sp>
        <p:nvSpPr>
          <p:cNvPr id="3" name="36   /   CBNU Omniverse Worksh">
            <a:extLst xmlns:a="http://schemas.openxmlformats.org/drawingml/2006/main">
              <a:ext uri="{FF2B5EF4-FFF2-40B4-BE49-F238E27FC236}">
                <a16:creationId xmlns:a16="http://schemas.microsoft.com/office/drawing/2014/main" id="{2DEB788A-0B78-44B1-81F3-F276F3CF586B}"/>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36   /   CBNU Omniverse Workshop</a:t>
            </a:r>
          </a:p>
        </p:txBody>
      </p:sp>
      <p:graphicFrame>
        <p:nvGraphicFramePr>
          <p:cNvPr id="4" name="">
            <a:extLst xmlns:a="http://schemas.openxmlformats.org/drawingml/2006/main">
              <a:ext uri="{FF2B5EF4-FFF2-40B4-BE49-F238E27FC236}">
                <a16:creationId xmlns:a16="http://schemas.microsoft.com/office/drawing/2014/main" id="{A9D3CCF2-748E-42D9-8BE8-814B891DE643}"/>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4311169"/>
                <a:gridCol w="4941263"/>
                <a:gridCol w="4311169"/>
              </a:tblGrid>
              <a:tr h="857250">
                <a:tc>
                  <a:txBody>
                    <a:bodyPr/>
                    <a:lstStyle/>
                    <a:p>
                      <a:r>
                        <a:rPr sz="2100" b="1">
                          <a:solidFill>
                            <a:srgbClr val="202322"/>
                          </a:solidFill>
                          <a:latin typeface="Malgun Gothic"/>
                          <a:ea typeface="Malgun Gothic"/>
                          <a:cs typeface="Malgun Gothic"/>
                        </a:rPr>
                        <a:t>설정</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담당하는 것</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이번 장면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Collider</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접촉 형상</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작업물과 바닥</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Rigid Body</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동역학 운동</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작업물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Mass</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질량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1kg 또는 5kg</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PhysicsScene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중력 등 장면 설정</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-Z, 9.81m/s²</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96376007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3     질량과 높이의 비교 ">
            <a:extLst xmlns:a="http://schemas.openxmlformats.org/drawingml/2006/main">
              <a:ext uri="{FF2B5EF4-FFF2-40B4-BE49-F238E27FC236}">
                <a16:creationId xmlns:a16="http://schemas.microsoft.com/office/drawing/2014/main" id="{CC3EAA50-22B4-472B-94D1-635EBFDE8C73}"/>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3     질량과 높이의 비교 실험</a:t>
            </a:r>
          </a:p>
        </p:txBody>
      </p:sp>
      <p:sp>
        <p:nvSpPr>
          <p:cNvPr id="2" name="Title">
            <a:extLst xmlns:a="http://schemas.openxmlformats.org/drawingml/2006/main">
              <a:ext uri="{FF2B5EF4-FFF2-40B4-BE49-F238E27FC236}">
                <a16:creationId xmlns:a16="http://schemas.microsoft.com/office/drawing/2014/main" id="{DB38DF19-5136-40C3-A893-473CAFD566E8}"/>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A, B, C의 초기 조건</a:t>
            </a:r>
          </a:p>
        </p:txBody>
      </p:sp>
      <p:sp>
        <p:nvSpPr>
          <p:cNvPr id="3" name="37   /   CBNU Omniverse Worksh">
            <a:extLst xmlns:a="http://schemas.openxmlformats.org/drawingml/2006/main">
              <a:ext uri="{FF2B5EF4-FFF2-40B4-BE49-F238E27FC236}">
                <a16:creationId xmlns:a16="http://schemas.microsoft.com/office/drawing/2014/main" id="{8F7E3CA4-5E42-455B-8470-745CA4F778C6}"/>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37   /   CBNU Omniverse Workshop</a:t>
            </a:r>
          </a:p>
        </p:txBody>
      </p:sp>
      <p:graphicFrame>
        <p:nvGraphicFramePr>
          <p:cNvPr id="4" name="">
            <a:extLst xmlns:a="http://schemas.openxmlformats.org/drawingml/2006/main">
              <a:ext uri="{FF2B5EF4-FFF2-40B4-BE49-F238E27FC236}">
                <a16:creationId xmlns:a16="http://schemas.microsoft.com/office/drawing/2014/main" id="{69706EA9-4D6F-4B64-AABE-4062B5207C3D}"/>
              </a:ext>
            </a:extLst>
          </p:cNvPr>
          <p:cNvGraphicFramePr/>
          <p:nvPr/>
        </p:nvGraphicFramePr>
        <p:xfrm>
          <a:off xmlns:a="http://schemas.openxmlformats.org/drawingml/2006/main" x="838200" y="2190750"/>
          <a:ext xmlns:a="http://schemas.openxmlformats.org/drawingml/2006/main" cx="13563600" cy="3429000"/>
        </p:xfrm>
        <a:graphic xmlns:a="http://schemas.openxmlformats.org/drawingml/2006/main">
          <a:graphicData uri="http://schemas.openxmlformats.org/drawingml/2006/table">
            <a:tbl>
              <a:tblPr/>
              <a:tblGrid>
                <a:gridCol w="3390900"/>
                <a:gridCol w="3390900"/>
                <a:gridCol w="3390900"/>
                <a:gridCol w="3390900"/>
              </a:tblGrid>
              <a:tr h="857250">
                <a:tc>
                  <a:txBody>
                    <a:bodyPr/>
                    <a:lstStyle/>
                    <a:p>
                      <a:r>
                        <a:rPr sz="2100" b="1">
                          <a:solidFill>
                            <a:srgbClr val="202322"/>
                          </a:solidFill>
                          <a:latin typeface="Malgun Gothic"/>
                          <a:ea typeface="Malgun Gothic"/>
                          <a:cs typeface="Malgun Gothic"/>
                        </a:rPr>
                        <a:t>작업물</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질량</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중심 높이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바꾸는 조건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A</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1kg</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1.5m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기준</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B</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5kg</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1.5m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질량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C</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1kg</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2.5m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초기 높이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85589707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2   PART 3     질량과 높이의 비교 ">
            <a:extLst xmlns:a="http://schemas.openxmlformats.org/drawingml/2006/main">
              <a:ext uri="{FF2B5EF4-FFF2-40B4-BE49-F238E27FC236}">
                <a16:creationId xmlns:a16="http://schemas.microsoft.com/office/drawing/2014/main" id="{1691300B-B3F9-4A80-BF4B-ED68868E0206}"/>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3     질량과 높이의 비교 실험</a:t>
            </a:r>
          </a:p>
        </p:txBody>
      </p:sp>
      <p:sp>
        <p:nvSpPr>
          <p:cNvPr id="2" name="Title">
            <a:extLst xmlns:a="http://schemas.openxmlformats.org/drawingml/2006/main">
              <a:ext uri="{FF2B5EF4-FFF2-40B4-BE49-F238E27FC236}">
                <a16:creationId xmlns:a16="http://schemas.microsoft.com/office/drawing/2014/main" id="{2D717BA8-C63C-43CE-B799-59D868E1B3A9}"/>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자유낙하에서 예상할 결과</a:t>
            </a:r>
          </a:p>
        </p:txBody>
      </p:sp>
      <p:sp>
        <p:nvSpPr>
          <p:cNvPr id="3" name="38   /   CBNU Omniverse Worksh">
            <a:extLst xmlns:a="http://schemas.openxmlformats.org/drawingml/2006/main">
              <a:ext uri="{FF2B5EF4-FFF2-40B4-BE49-F238E27FC236}">
                <a16:creationId xmlns:a16="http://schemas.microsoft.com/office/drawing/2014/main" id="{9318A7A3-B492-4CF6-9EB1-4102C4DF5009}"/>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38   /   CBNU Omniverse Workshop</a:t>
            </a:r>
          </a:p>
        </p:txBody>
      </p:sp>
      <p:sp>
        <p:nvSpPr>
          <p:cNvPr id="4" name="A와 B">
            <a:extLst xmlns:a="http://schemas.openxmlformats.org/drawingml/2006/main">
              <a:ext uri="{FF2B5EF4-FFF2-40B4-BE49-F238E27FC236}">
                <a16:creationId xmlns:a16="http://schemas.microsoft.com/office/drawing/2014/main" id="{EB4C1BA7-A6E2-43C0-859C-12AF64597D67}"/>
              </a:ext>
            </a:extLst>
          </p:cNvPr>
          <p:cNvSpPr>
            <a:spLocks xmlns:a="http://schemas.openxmlformats.org/drawingml/2006/main" noGrp="1"/>
          </p:cNvSpPr>
          <p:nvPr/>
        </p:nvSpPr>
        <p:spPr>
          <a:xfrm xmlns:a="http://schemas.openxmlformats.org/drawingml/2006/main">
            <a:off x="838200" y="222885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A와 B</a:t>
            </a:r>
          </a:p>
        </p:txBody>
      </p:sp>
      <p:sp>
        <p:nvSpPr>
          <p:cNvPr id="5" name="공기 저항 없는 동일 중력에서 가속도는 같습니다.">
            <a:extLst xmlns:a="http://schemas.openxmlformats.org/drawingml/2006/main">
              <a:ext uri="{FF2B5EF4-FFF2-40B4-BE49-F238E27FC236}">
                <a16:creationId xmlns:a16="http://schemas.microsoft.com/office/drawing/2014/main" id="{6D468409-8A0F-4C70-9740-48A5AC20FE30}"/>
              </a:ext>
            </a:extLst>
          </p:cNvPr>
          <p:cNvSpPr>
            <a:spLocks xmlns:a="http://schemas.openxmlformats.org/drawingml/2006/main" noGrp="1"/>
          </p:cNvSpPr>
          <p:nvPr/>
        </p:nvSpPr>
        <p:spPr>
          <a:xfrm xmlns:a="http://schemas.openxmlformats.org/drawingml/2006/main">
            <a:off x="3619500" y="22288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공기 저항 없는 동일 중력에서 가속도는 같습니다.</a:t>
            </a:r>
          </a:p>
        </p:txBody>
      </p:sp>
      <p:sp>
        <p:nvSpPr>
          <p:cNvPr id="6" name="A와 C">
            <a:extLst xmlns:a="http://schemas.openxmlformats.org/drawingml/2006/main">
              <a:ext uri="{FF2B5EF4-FFF2-40B4-BE49-F238E27FC236}">
                <a16:creationId xmlns:a16="http://schemas.microsoft.com/office/drawing/2014/main" id="{37FB3301-C2E1-4191-A1E0-E43F0A60D0C5}"/>
              </a:ext>
            </a:extLst>
          </p:cNvPr>
          <p:cNvSpPr>
            <a:spLocks xmlns:a="http://schemas.openxmlformats.org/drawingml/2006/main" noGrp="1"/>
          </p:cNvSpPr>
          <p:nvPr/>
        </p:nvSpPr>
        <p:spPr>
          <a:xfrm xmlns:a="http://schemas.openxmlformats.org/drawingml/2006/main">
            <a:off x="838200" y="35147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A와 C</a:t>
            </a:r>
          </a:p>
        </p:txBody>
      </p:sp>
      <p:sp>
        <p:nvSpPr>
          <p:cNvPr id="7" name="초기 높이가 높은 C의 낙하 시간이 더 깁니다.">
            <a:extLst xmlns:a="http://schemas.openxmlformats.org/drawingml/2006/main">
              <a:ext uri="{FF2B5EF4-FFF2-40B4-BE49-F238E27FC236}">
                <a16:creationId xmlns:a16="http://schemas.microsoft.com/office/drawing/2014/main" id="{EEBFC828-80BF-4774-9D7C-875298B792ED}"/>
              </a:ext>
            </a:extLst>
          </p:cNvPr>
          <p:cNvSpPr>
            <a:spLocks xmlns:a="http://schemas.openxmlformats.org/drawingml/2006/main" noGrp="1"/>
          </p:cNvSpPr>
          <p:nvPr/>
        </p:nvSpPr>
        <p:spPr>
          <a:xfrm xmlns:a="http://schemas.openxmlformats.org/drawingml/2006/main">
            <a:off x="3619500" y="3514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초기 높이가 높은 C의 낙하 시간이 더 깁니다.</a:t>
            </a:r>
          </a:p>
        </p:txBody>
      </p:sp>
      <p:sp>
        <p:nvSpPr>
          <p:cNvPr id="8" name="관찰 한계">
            <a:extLst xmlns:a="http://schemas.openxmlformats.org/drawingml/2006/main">
              <a:ext uri="{FF2B5EF4-FFF2-40B4-BE49-F238E27FC236}">
                <a16:creationId xmlns:a16="http://schemas.microsoft.com/office/drawing/2014/main" id="{0980A5B7-B444-4C3E-802C-AB901B3091B1}"/>
              </a:ext>
            </a:extLst>
          </p:cNvPr>
          <p:cNvSpPr>
            <a:spLocks xmlns:a="http://schemas.openxmlformats.org/drawingml/2006/main" noGrp="1"/>
          </p:cNvSpPr>
          <p:nvPr/>
        </p:nvSpPr>
        <p:spPr>
          <a:xfrm xmlns:a="http://schemas.openxmlformats.org/drawingml/2006/main">
            <a:off x="838200" y="480060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관찰 한계</a:t>
            </a:r>
          </a:p>
        </p:txBody>
      </p:sp>
      <p:sp>
        <p:nvSpPr>
          <p:cNvPr id="9" name="렌더 프레임만으로 정확한 접촉 시간을 측정하지 않습니다">
            <a:extLst xmlns:a="http://schemas.openxmlformats.org/drawingml/2006/main">
              <a:ext uri="{FF2B5EF4-FFF2-40B4-BE49-F238E27FC236}">
                <a16:creationId xmlns:a16="http://schemas.microsoft.com/office/drawing/2014/main" id="{2F5BB66D-B6FC-4518-9B31-8CD29627FFE5}"/>
              </a:ext>
            </a:extLst>
          </p:cNvPr>
          <p:cNvSpPr>
            <a:spLocks xmlns:a="http://schemas.openxmlformats.org/drawingml/2006/main" noGrp="1"/>
          </p:cNvSpPr>
          <p:nvPr/>
        </p:nvSpPr>
        <p:spPr>
          <a:xfrm xmlns:a="http://schemas.openxmlformats.org/drawingml/2006/main">
            <a:off x="3619500" y="48006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렌더 프레임만으로 정확한 접촉 시간을 측정하지 않습니다.</a:t>
            </a:r>
          </a:p>
        </p:txBody>
      </p:sp>
    </p:spTree>
    <p:extLst>
      <p:ext uri="{BB962C8B-B14F-4D97-AF65-F5344CB8AC3E}">
        <p14:creationId xmlns:p14="http://schemas.microsoft.com/office/powerpoint/2010/main" val="151542940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2   PART 3     질량과 높이의 비교 ">
            <a:extLst xmlns:a="http://schemas.openxmlformats.org/drawingml/2006/main">
              <a:ext uri="{FF2B5EF4-FFF2-40B4-BE49-F238E27FC236}">
                <a16:creationId xmlns:a16="http://schemas.microsoft.com/office/drawing/2014/main" id="{4D2DACDF-2F94-47B1-927D-A2AD36A8633D}"/>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3     질량과 높이의 비교 실험</a:t>
            </a:r>
          </a:p>
        </p:txBody>
      </p:sp>
      <p:sp>
        <p:nvSpPr>
          <p:cNvPr id="2" name="Title">
            <a:extLst xmlns:a="http://schemas.openxmlformats.org/drawingml/2006/main">
              <a:ext uri="{FF2B5EF4-FFF2-40B4-BE49-F238E27FC236}">
                <a16:creationId xmlns:a16="http://schemas.microsoft.com/office/drawing/2014/main" id="{A677047D-8C96-437B-8205-A3EFD09E983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예측한 뒤 Play</a:t>
            </a:r>
          </a:p>
        </p:txBody>
      </p:sp>
      <p:sp>
        <p:nvSpPr>
          <p:cNvPr id="3" name="39   /   CBNU Omniverse Worksh">
            <a:extLst xmlns:a="http://schemas.openxmlformats.org/drawingml/2006/main">
              <a:ext uri="{FF2B5EF4-FFF2-40B4-BE49-F238E27FC236}">
                <a16:creationId xmlns:a16="http://schemas.microsoft.com/office/drawing/2014/main" id="{F2D5D274-B503-4F67-AF05-3F9466DCE26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39   /   CBNU Omniverse Workshop</a:t>
            </a:r>
          </a:p>
        </p:txBody>
      </p:sp>
      <p:sp>
        <p:nvSpPr>
          <p:cNvPr id="4" name="checkpoints/06_physics_compari">
            <a:extLst xmlns:a="http://schemas.openxmlformats.org/drawingml/2006/main">
              <a:ext uri="{FF2B5EF4-FFF2-40B4-BE49-F238E27FC236}">
                <a16:creationId xmlns:a16="http://schemas.microsoft.com/office/drawing/2014/main" id="{2BB41E54-B42F-47A8-B0F8-AE03731D37EA}"/>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checkpoints/06_physics_comparison.usda</a:t>
            </a:r>
          </a:p>
        </p:txBody>
      </p:sp>
      <p:sp>
        <p:nvSpPr>
          <p:cNvPr id="5" name="01">
            <a:extLst xmlns:a="http://schemas.openxmlformats.org/drawingml/2006/main">
              <a:ext uri="{FF2B5EF4-FFF2-40B4-BE49-F238E27FC236}">
                <a16:creationId xmlns:a16="http://schemas.microsoft.com/office/drawing/2014/main" id="{1EE2B1C4-C0C2-462E-9EA9-6621943D0D27}"/>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재생 전에 도착 순서를 적습니다.">
            <a:extLst xmlns:a="http://schemas.openxmlformats.org/drawingml/2006/main">
              <a:ext uri="{FF2B5EF4-FFF2-40B4-BE49-F238E27FC236}">
                <a16:creationId xmlns:a16="http://schemas.microsoft.com/office/drawing/2014/main" id="{31D1DE2D-F9C0-4496-9540-D51DE6B8BEE3}"/>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재생 전에 도착 순서를 적습니다.</a:t>
            </a:r>
          </a:p>
        </p:txBody>
      </p:sp>
      <p:sp>
        <p:nvSpPr>
          <p:cNvPr id="7" name="02">
            <a:extLst xmlns:a="http://schemas.openxmlformats.org/drawingml/2006/main">
              <a:ext uri="{FF2B5EF4-FFF2-40B4-BE49-F238E27FC236}">
                <a16:creationId xmlns:a16="http://schemas.microsoft.com/office/drawing/2014/main" id="{484FBE1D-AAE8-49E3-9C79-2CC44CE6F562}"/>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A/B와 C의 낙하를 비교합니다.">
            <a:extLst xmlns:a="http://schemas.openxmlformats.org/drawingml/2006/main">
              <a:ext uri="{FF2B5EF4-FFF2-40B4-BE49-F238E27FC236}">
                <a16:creationId xmlns:a16="http://schemas.microsoft.com/office/drawing/2014/main" id="{BF8FB188-9F99-447E-B03A-1ADB1A979AF3}"/>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A/B와 C의 낙하를 비교합니다.</a:t>
            </a:r>
          </a:p>
        </p:txBody>
      </p:sp>
      <p:sp>
        <p:nvSpPr>
          <p:cNvPr id="9" name="03">
            <a:extLst xmlns:a="http://schemas.openxmlformats.org/drawingml/2006/main">
              <a:ext uri="{FF2B5EF4-FFF2-40B4-BE49-F238E27FC236}">
                <a16:creationId xmlns:a16="http://schemas.microsoft.com/office/drawing/2014/main" id="{3722F940-2CE7-4630-BF3C-EDDA3A17FC18}"/>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Stop 후 같은 조건으로 다시 확인합니다.">
            <a:extLst xmlns:a="http://schemas.openxmlformats.org/drawingml/2006/main">
              <a:ext uri="{FF2B5EF4-FFF2-40B4-BE49-F238E27FC236}">
                <a16:creationId xmlns:a16="http://schemas.microsoft.com/office/drawing/2014/main" id="{FD723804-E4AE-47D8-BD25-28BB5FB16ED0}"/>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Stop 후 같은 조건으로 다시 확인합니다.</a:t>
            </a:r>
          </a:p>
        </p:txBody>
      </p:sp>
      <p:sp>
        <p:nvSpPr>
          <p:cNvPr id="11" name="04">
            <a:extLst xmlns:a="http://schemas.openxmlformats.org/drawingml/2006/main">
              <a:ext uri="{FF2B5EF4-FFF2-40B4-BE49-F238E27FC236}">
                <a16:creationId xmlns:a16="http://schemas.microsoft.com/office/drawing/2014/main" id="{92DA6F0C-4FDB-4810-8A64-97600B48E36F}"/>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예측과 관찰이 다른 경우 측정 방법부터 검토합니다.">
            <a:extLst xmlns:a="http://schemas.openxmlformats.org/drawingml/2006/main">
              <a:ext uri="{FF2B5EF4-FFF2-40B4-BE49-F238E27FC236}">
                <a16:creationId xmlns:a16="http://schemas.microsoft.com/office/drawing/2014/main" id="{F9FBCD20-46AC-4F9A-A37A-22263F370D48}"/>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예측과 관찰이 다른 경우 측정 방법부터 검토합니다.</a:t>
            </a:r>
          </a:p>
        </p:txBody>
      </p:sp>
    </p:spTree>
    <p:extLst>
      <p:ext uri="{BB962C8B-B14F-4D97-AF65-F5344CB8AC3E}">
        <p14:creationId xmlns:p14="http://schemas.microsoft.com/office/powerpoint/2010/main" val="103448398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4     바닥 통과 오류 복구">
            <a:extLst xmlns:a="http://schemas.openxmlformats.org/drawingml/2006/main">
              <a:ext uri="{FF2B5EF4-FFF2-40B4-BE49-F238E27FC236}">
                <a16:creationId xmlns:a16="http://schemas.microsoft.com/office/drawing/2014/main" id="{AAC3E447-416A-420F-9E1E-5BD910163D3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4     바닥 통과 오류 복구</a:t>
            </a:r>
          </a:p>
        </p:txBody>
      </p:sp>
      <p:sp>
        <p:nvSpPr>
          <p:cNvPr id="2" name="Title">
            <a:extLst xmlns:a="http://schemas.openxmlformats.org/drawingml/2006/main">
              <a:ext uri="{FF2B5EF4-FFF2-40B4-BE49-F238E27FC236}">
                <a16:creationId xmlns:a16="http://schemas.microsoft.com/office/drawing/2014/main" id="{3DDF5ED9-D43A-4CF7-868E-25BCDA50EB75}"/>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강체와 충돌 설정</a:t>
            </a:r>
          </a:p>
        </p:txBody>
      </p:sp>
      <p:sp>
        <p:nvSpPr>
          <p:cNvPr id="3" name="40   /   CBNU Omniverse Worksh">
            <a:extLst xmlns:a="http://schemas.openxmlformats.org/drawingml/2006/main">
              <a:ext uri="{FF2B5EF4-FFF2-40B4-BE49-F238E27FC236}">
                <a16:creationId xmlns:a16="http://schemas.microsoft.com/office/drawing/2014/main" id="{1D02AB03-F4B6-4ABC-946D-3AE51A092B61}"/>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40   /   CBNU Omniverse Workshop</a:t>
            </a:r>
          </a:p>
        </p:txBody>
      </p:sp>
      <p:sp>
        <p:nvSpPr>
          <p:cNvPr id="4" name="Code">
            <a:extLst xmlns:a="http://schemas.openxmlformats.org/drawingml/2006/main">
              <a:ext uri="{FF2B5EF4-FFF2-40B4-BE49-F238E27FC236}">
                <a16:creationId xmlns:a16="http://schemas.microsoft.com/office/drawing/2014/main" id="{FE95FC11-1F23-41A2-979B-F7468C8A3DC0}"/>
              </a:ext>
            </a:extLst>
          </p:cNvPr>
          <p:cNvSpPr>
            <a:spLocks xmlns:a="http://schemas.openxmlformats.org/drawingml/2006/main" noGrp="1"/>
          </p:cNvSpPr>
          <p:nvPr/>
        </p:nvSpPr>
        <p:spPr>
          <a:xfrm xmlns:a="http://schemas.openxmlformats.org/drawingml/2006/main">
            <a:off x="1028700" y="2286000"/>
            <a:ext cx="13144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obj = stage.GetPrimAtPath("/World/Workpiece")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UsdPhysics.CollisionAPI.Apply(obj)</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UsdPhysics.RigidBodyAPI.Apply(obj)</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UsdPhysics.MassAPI.Apply(obj).CreateMassAttr(1.0)</a:t>
            </a:r>
          </a:p>
        </p:txBody>
      </p:sp>
      <p:sp>
        <p:nvSpPr>
          <p:cNvPr id="5" name="02_apply_physics.py의 주요 부분입니다.">
            <a:extLst xmlns:a="http://schemas.openxmlformats.org/drawingml/2006/main">
              <a:ext uri="{FF2B5EF4-FFF2-40B4-BE49-F238E27FC236}">
                <a16:creationId xmlns:a16="http://schemas.microsoft.com/office/drawing/2014/main" id="{00E5AA02-66DB-42E0-B1B1-306F7CA31FFB}"/>
              </a:ext>
            </a:extLst>
          </p:cNvPr>
          <p:cNvSpPr>
            <a:spLocks xmlns:a="http://schemas.openxmlformats.org/drawingml/2006/main" noGrp="1"/>
          </p:cNvSpPr>
          <p:nvPr/>
        </p:nvSpPr>
        <p:spPr>
          <a:xfrm xmlns:a="http://schemas.openxmlformats.org/drawingml/2006/main">
            <a:off x="1028700" y="438150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02_apply_physics.py의 주요 부분입니다.</a:t>
            </a:r>
          </a:p>
        </p:txBody>
      </p:sp>
      <p:sp>
        <p:nvSpPr>
          <p:cNvPr id="6" name="바닥에는 CollisionAPI만 적용합니다.">
            <a:extLst xmlns:a="http://schemas.openxmlformats.org/drawingml/2006/main">
              <a:ext uri="{FF2B5EF4-FFF2-40B4-BE49-F238E27FC236}">
                <a16:creationId xmlns:a16="http://schemas.microsoft.com/office/drawing/2014/main" id="{04122DE5-AD5D-4EC9-A8BF-C2AAF9CF9FBB}"/>
              </a:ext>
            </a:extLst>
          </p:cNvPr>
          <p:cNvSpPr>
            <a:spLocks xmlns:a="http://schemas.openxmlformats.org/drawingml/2006/main" noGrp="1"/>
          </p:cNvSpPr>
          <p:nvPr/>
        </p:nvSpPr>
        <p:spPr>
          <a:xfrm xmlns:a="http://schemas.openxmlformats.org/drawingml/2006/main">
            <a:off x="1028700" y="500062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바닥에는 CollisionAPI만 적용합니다.</a:t>
            </a:r>
          </a:p>
        </p:txBody>
      </p:sp>
    </p:spTree>
    <p:extLst>
      <p:ext uri="{BB962C8B-B14F-4D97-AF65-F5344CB8AC3E}">
        <p14:creationId xmlns:p14="http://schemas.microsoft.com/office/powerpoint/2010/main" val="114750727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4     바닥 통과 오류 복구">
            <a:extLst xmlns:a="http://schemas.openxmlformats.org/drawingml/2006/main">
              <a:ext uri="{FF2B5EF4-FFF2-40B4-BE49-F238E27FC236}">
                <a16:creationId xmlns:a16="http://schemas.microsoft.com/office/drawing/2014/main" id="{C920E633-5126-4750-9615-B47E94AB470C}"/>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4     바닥 통과 오류 복구</a:t>
            </a:r>
          </a:p>
        </p:txBody>
      </p:sp>
      <p:sp>
        <p:nvSpPr>
          <p:cNvPr id="2" name="Title">
            <a:extLst xmlns:a="http://schemas.openxmlformats.org/drawingml/2006/main">
              <a:ext uri="{FF2B5EF4-FFF2-40B4-BE49-F238E27FC236}">
                <a16:creationId xmlns:a16="http://schemas.microsoft.com/office/drawing/2014/main" id="{A1DC176A-CE42-4AE4-AAD7-3D9BFA1ECCFB}"/>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증상에서 설정 찾기</a:t>
            </a:r>
          </a:p>
        </p:txBody>
      </p:sp>
      <p:sp>
        <p:nvSpPr>
          <p:cNvPr id="3" name="41   /   CBNU Omniverse Worksh">
            <a:extLst xmlns:a="http://schemas.openxmlformats.org/drawingml/2006/main">
              <a:ext uri="{FF2B5EF4-FFF2-40B4-BE49-F238E27FC236}">
                <a16:creationId xmlns:a16="http://schemas.microsoft.com/office/drawing/2014/main" id="{E9FA68DF-05F1-4958-BCF8-2C111552899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41   /   CBNU Omniverse Workshop</a:t>
            </a:r>
          </a:p>
        </p:txBody>
      </p:sp>
      <p:graphicFrame>
        <p:nvGraphicFramePr>
          <p:cNvPr id="4" name="">
            <a:extLst xmlns:a="http://schemas.openxmlformats.org/drawingml/2006/main">
              <a:ext uri="{FF2B5EF4-FFF2-40B4-BE49-F238E27FC236}">
                <a16:creationId xmlns:a16="http://schemas.microsoft.com/office/drawing/2014/main" id="{A1C270BE-FF48-4B3A-8979-D8860D71CA7C}"/>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4986618"/>
                <a:gridCol w="8576982"/>
              </a:tblGrid>
              <a:tr h="857250">
                <a:tc>
                  <a:txBody>
                    <a:bodyPr/>
                    <a:lstStyle/>
                    <a:p>
                      <a:r>
                        <a:rPr sz="2100" b="1">
                          <a:solidFill>
                            <a:srgbClr val="202322"/>
                          </a:solidFill>
                          <a:latin typeface="Malgun Gothic"/>
                          <a:ea typeface="Malgun Gothic"/>
                          <a:cs typeface="Malgun Gothic"/>
                        </a:rPr>
                        <a:t>증상</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먼저 확인할 항목</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작업물이 그대로 있음</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Rigid Body 활성, Play, PhysicsScene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작업물이 바닥을 통과함</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Ground Collider와 collisionEnabled</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장비도 움직임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기존 CAD 물리와 활성 대상</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재실행 초기 위치가 다름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Pause와 Stop의 차이, 초기 속성</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58264814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2   PART 4     바닥 통과 오류 복구">
            <a:extLst xmlns:a="http://schemas.openxmlformats.org/drawingml/2006/main">
              <a:ext uri="{FF2B5EF4-FFF2-40B4-BE49-F238E27FC236}">
                <a16:creationId xmlns:a16="http://schemas.microsoft.com/office/drawing/2014/main" id="{08E36CBD-6D89-482B-8CCD-7327E74B27B1}"/>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4     바닥 통과 오류 복구</a:t>
            </a:r>
          </a:p>
        </p:txBody>
      </p:sp>
      <p:sp>
        <p:nvSpPr>
          <p:cNvPr id="2" name="Title">
            <a:extLst xmlns:a="http://schemas.openxmlformats.org/drawingml/2006/main">
              <a:ext uri="{FF2B5EF4-FFF2-40B4-BE49-F238E27FC236}">
                <a16:creationId xmlns:a16="http://schemas.microsoft.com/office/drawing/2014/main" id="{D5F075E3-3A6D-4CE0-AA42-BB8F4920DAA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바닥 통과 오류 복구</a:t>
            </a:r>
          </a:p>
        </p:txBody>
      </p:sp>
      <p:sp>
        <p:nvSpPr>
          <p:cNvPr id="3" name="42   /   CBNU Omniverse Worksh">
            <a:extLst xmlns:a="http://schemas.openxmlformats.org/drawingml/2006/main">
              <a:ext uri="{FF2B5EF4-FFF2-40B4-BE49-F238E27FC236}">
                <a16:creationId xmlns:a16="http://schemas.microsoft.com/office/drawing/2014/main" id="{52D2E4AC-3BFA-4118-8B9A-391C67720970}"/>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42   /   CBNU Omniverse Workshop</a:t>
            </a:r>
          </a:p>
        </p:txBody>
      </p:sp>
      <p:sp>
        <p:nvSpPr>
          <p:cNvPr id="4" name="checkpoints/11_fault_collision">
            <a:extLst xmlns:a="http://schemas.openxmlformats.org/drawingml/2006/main">
              <a:ext uri="{FF2B5EF4-FFF2-40B4-BE49-F238E27FC236}">
                <a16:creationId xmlns:a16="http://schemas.microsoft.com/office/drawing/2014/main" id="{26B60F16-C7F6-4B9D-93A7-F4C0612669D5}"/>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checkpoints/11_fault_collision.usda</a:t>
            </a:r>
          </a:p>
        </p:txBody>
      </p:sp>
      <p:sp>
        <p:nvSpPr>
          <p:cNvPr id="5" name="01">
            <a:extLst xmlns:a="http://schemas.openxmlformats.org/drawingml/2006/main">
              <a:ext uri="{FF2B5EF4-FFF2-40B4-BE49-F238E27FC236}">
                <a16:creationId xmlns:a16="http://schemas.microsoft.com/office/drawing/2014/main" id="{F3455639-0AFB-420C-BAEE-6AB496FC9860}"/>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짧게 재생하고 증상을 관찰한 뒤 Stop합니다.">
            <a:extLst xmlns:a="http://schemas.openxmlformats.org/drawingml/2006/main">
              <a:ext uri="{FF2B5EF4-FFF2-40B4-BE49-F238E27FC236}">
                <a16:creationId xmlns:a16="http://schemas.microsoft.com/office/drawing/2014/main" id="{6D80F405-6B30-425B-BDCA-F9C73D1B43E9}"/>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짧게 재생하고 증상을 관찰한 뒤 Stop합니다.</a:t>
            </a:r>
          </a:p>
        </p:txBody>
      </p:sp>
      <p:sp>
        <p:nvSpPr>
          <p:cNvPr id="7" name="02">
            <a:extLst xmlns:a="http://schemas.openxmlformats.org/drawingml/2006/main">
              <a:ext uri="{FF2B5EF4-FFF2-40B4-BE49-F238E27FC236}">
                <a16:creationId xmlns:a16="http://schemas.microsoft.com/office/drawing/2014/main" id="{A0FC99BB-39BD-4E6F-8B46-E164D60DA80F}"/>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08_check_readiness.py에서 Ground">
            <a:extLst xmlns:a="http://schemas.openxmlformats.org/drawingml/2006/main">
              <a:ext uri="{FF2B5EF4-FFF2-40B4-BE49-F238E27FC236}">
                <a16:creationId xmlns:a16="http://schemas.microsoft.com/office/drawing/2014/main" id="{7CE056D9-258A-40E2-8E73-13995F10B7F7}"/>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08_check_readiness.py에서 Ground 항목을 확인합니다.</a:t>
            </a:r>
          </a:p>
        </p:txBody>
      </p:sp>
      <p:sp>
        <p:nvSpPr>
          <p:cNvPr id="9" name="03">
            <a:extLst xmlns:a="http://schemas.openxmlformats.org/drawingml/2006/main">
              <a:ext uri="{FF2B5EF4-FFF2-40B4-BE49-F238E27FC236}">
                <a16:creationId xmlns:a16="http://schemas.microsoft.com/office/drawing/2014/main" id="{44561957-72F7-46E8-B599-5731A0A89106}"/>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physics:collisionEnabled를 True">
            <a:extLst xmlns:a="http://schemas.openxmlformats.org/drawingml/2006/main">
              <a:ext uri="{FF2B5EF4-FFF2-40B4-BE49-F238E27FC236}">
                <a16:creationId xmlns:a16="http://schemas.microsoft.com/office/drawing/2014/main" id="{EE6590C9-D04F-4A32-A5A2-CC8832314206}"/>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physics:collisionEnabled를 True로 바꿉니다.</a:t>
            </a:r>
          </a:p>
        </p:txBody>
      </p:sp>
      <p:sp>
        <p:nvSpPr>
          <p:cNvPr id="11" name="04">
            <a:extLst xmlns:a="http://schemas.openxmlformats.org/drawingml/2006/main">
              <a:ext uri="{FF2B5EF4-FFF2-40B4-BE49-F238E27FC236}">
                <a16:creationId xmlns:a16="http://schemas.microsoft.com/office/drawing/2014/main" id="{0A461C5B-7136-4AA7-A355-81FBAEB6D9E1}"/>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재생하여 접촉을 다시 확인합니다.">
            <a:extLst xmlns:a="http://schemas.openxmlformats.org/drawingml/2006/main">
              <a:ext uri="{FF2B5EF4-FFF2-40B4-BE49-F238E27FC236}">
                <a16:creationId xmlns:a16="http://schemas.microsoft.com/office/drawing/2014/main" id="{3FA0C905-E7CD-4F34-AD6C-320C21BA4481}"/>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재생하여 접촉을 다시 확인합니다.</a:t>
            </a:r>
          </a:p>
        </p:txBody>
      </p:sp>
    </p:spTree>
    <p:extLst>
      <p:ext uri="{BB962C8B-B14F-4D97-AF65-F5344CB8AC3E}">
        <p14:creationId xmlns:p14="http://schemas.microsoft.com/office/powerpoint/2010/main" val="208008979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5     Python 반복문과">
            <a:extLst xmlns:a="http://schemas.openxmlformats.org/drawingml/2006/main">
              <a:ext uri="{FF2B5EF4-FFF2-40B4-BE49-F238E27FC236}">
                <a16:creationId xmlns:a16="http://schemas.microsoft.com/office/drawing/2014/main" id="{2BAE5833-44D6-4576-8A28-C6F263ABF707}"/>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5     Python 반복문과 일괄 배치</a:t>
            </a:r>
          </a:p>
        </p:txBody>
      </p:sp>
      <p:sp>
        <p:nvSpPr>
          <p:cNvPr id="2" name="Title">
            <a:extLst xmlns:a="http://schemas.openxmlformats.org/drawingml/2006/main">
              <a:ext uri="{FF2B5EF4-FFF2-40B4-BE49-F238E27FC236}">
                <a16:creationId xmlns:a16="http://schemas.microsoft.com/office/drawing/2014/main" id="{745A0B07-94BB-42E5-AB62-4CB84C703D0B}"/>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Python을 읽는 순서</a:t>
            </a:r>
          </a:p>
        </p:txBody>
      </p:sp>
      <p:sp>
        <p:nvSpPr>
          <p:cNvPr id="3" name="43   /   CBNU Omniverse Worksh">
            <a:extLst xmlns:a="http://schemas.openxmlformats.org/drawingml/2006/main">
              <a:ext uri="{FF2B5EF4-FFF2-40B4-BE49-F238E27FC236}">
                <a16:creationId xmlns:a16="http://schemas.microsoft.com/office/drawing/2014/main" id="{E147B629-8AFD-49A7-A6AD-DF3FACE9FBD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43   /   CBNU Omniverse Workshop</a:t>
            </a:r>
          </a:p>
        </p:txBody>
      </p:sp>
      <p:graphicFrame>
        <p:nvGraphicFramePr>
          <p:cNvPr id="4" name="">
            <a:extLst xmlns:a="http://schemas.openxmlformats.org/drawingml/2006/main">
              <a:ext uri="{FF2B5EF4-FFF2-40B4-BE49-F238E27FC236}">
                <a16:creationId xmlns:a16="http://schemas.microsoft.com/office/drawing/2014/main" id="{9E58F595-41D3-4385-B3DC-C41FEE520761}"/>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3605865"/>
                <a:gridCol w="3855502"/>
                <a:gridCol w="6102233"/>
              </a:tblGrid>
              <a:tr h="857250">
                <a:tc>
                  <a:txBody>
                    <a:bodyPr/>
                    <a:lstStyle/>
                    <a:p>
                      <a:r>
                        <a:rPr sz="2100" b="1">
                          <a:solidFill>
                            <a:srgbClr val="202322"/>
                          </a:solidFill>
                          <a:latin typeface="Malgun Gothic"/>
                          <a:ea typeface="Malgun Gothic"/>
                          <a:cs typeface="Malgun Gothic"/>
                        </a:rPr>
                        <a:t>표현</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뜻</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실습 예</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변수</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값에 이름 붙이기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MASS_KG = 1.0</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문자열</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텍스트와 경로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"/World/Workpiece"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함수 호출</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정해진 동작 실행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set_workpiece(...)</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반복문</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목록을 따라 반복</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for mass in (1.0, 5.0)</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53504690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5     Python 반복문과">
            <a:extLst xmlns:a="http://schemas.openxmlformats.org/drawingml/2006/main">
              <a:ext uri="{FF2B5EF4-FFF2-40B4-BE49-F238E27FC236}">
                <a16:creationId xmlns:a16="http://schemas.microsoft.com/office/drawing/2014/main" id="{42891CEF-D9DB-499C-8ED4-6F685CAAC691}"/>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5     Python 반복문과 일괄 배치</a:t>
            </a:r>
          </a:p>
        </p:txBody>
      </p:sp>
      <p:sp>
        <p:nvSpPr>
          <p:cNvPr id="2" name="Title">
            <a:extLst xmlns:a="http://schemas.openxmlformats.org/drawingml/2006/main">
              <a:ext uri="{FF2B5EF4-FFF2-40B4-BE49-F238E27FC236}">
                <a16:creationId xmlns:a16="http://schemas.microsoft.com/office/drawing/2014/main" id="{A7363C96-8E0D-42DA-8BC8-AA3ADFB603A4}"/>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Stage에서 값 읽기</a:t>
            </a:r>
          </a:p>
        </p:txBody>
      </p:sp>
      <p:sp>
        <p:nvSpPr>
          <p:cNvPr id="3" name="44   /   CBNU Omniverse Worksh">
            <a:extLst xmlns:a="http://schemas.openxmlformats.org/drawingml/2006/main">
              <a:ext uri="{FF2B5EF4-FFF2-40B4-BE49-F238E27FC236}">
                <a16:creationId xmlns:a16="http://schemas.microsoft.com/office/drawing/2014/main" id="{4C402BAB-01AB-4F2F-86A7-3031017B2EE8}"/>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44   /   CBNU Omniverse Workshop</a:t>
            </a:r>
          </a:p>
        </p:txBody>
      </p:sp>
      <p:sp>
        <p:nvSpPr>
          <p:cNvPr id="4" name="Code">
            <a:extLst xmlns:a="http://schemas.openxmlformats.org/drawingml/2006/main">
              <a:ext uri="{FF2B5EF4-FFF2-40B4-BE49-F238E27FC236}">
                <a16:creationId xmlns:a16="http://schemas.microsoft.com/office/drawing/2014/main" id="{270B7F80-4148-4C79-8A70-EDF3AA0F318A}"/>
              </a:ext>
            </a:extLst>
          </p:cNvPr>
          <p:cNvSpPr>
            <a:spLocks xmlns:a="http://schemas.openxmlformats.org/drawingml/2006/main" noGrp="1"/>
          </p:cNvSpPr>
          <p:nvPr/>
        </p:nvSpPr>
        <p:spPr>
          <a:xfrm xmlns:a="http://schemas.openxmlformats.org/drawingml/2006/main">
            <a:off x="1028700" y="2286000"/>
            <a:ext cx="13144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from cbnu_lab import current_stage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stage = current_stage()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prim = stage.GetPrimAtPath("/World/Workpiece")</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position = prim.GetAttribute("xformOp:translate").Get()</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print(position)</a:t>
            </a:r>
          </a:p>
        </p:txBody>
      </p:sp>
      <p:sp>
        <p:nvSpPr>
          <p:cNvPr id="5" name="경로로 객체를 찾고 속성을 읽습니다.">
            <a:extLst xmlns:a="http://schemas.openxmlformats.org/drawingml/2006/main">
              <a:ext uri="{FF2B5EF4-FFF2-40B4-BE49-F238E27FC236}">
                <a16:creationId xmlns:a16="http://schemas.microsoft.com/office/drawing/2014/main" id="{F85EBA1E-4EFD-4E6E-AAEC-3CB233A800DB}"/>
              </a:ext>
            </a:extLst>
          </p:cNvPr>
          <p:cNvSpPr>
            <a:spLocks xmlns:a="http://schemas.openxmlformats.org/drawingml/2006/main" noGrp="1"/>
          </p:cNvSpPr>
          <p:nvPr/>
        </p:nvSpPr>
        <p:spPr>
          <a:xfrm xmlns:a="http://schemas.openxmlformats.org/drawingml/2006/main">
            <a:off x="1028700" y="485775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경로로 객체를 찾고 속성을 읽습니다.</a:t>
            </a:r>
          </a:p>
        </p:txBody>
      </p:sp>
      <p:sp>
        <p:nvSpPr>
          <p:cNvPr id="6" name="출력값과 Property의 값을 비교합니다.">
            <a:extLst xmlns:a="http://schemas.openxmlformats.org/drawingml/2006/main">
              <a:ext uri="{FF2B5EF4-FFF2-40B4-BE49-F238E27FC236}">
                <a16:creationId xmlns:a16="http://schemas.microsoft.com/office/drawing/2014/main" id="{C61F3D34-43F5-42C7-BF87-320A61152348}"/>
              </a:ext>
            </a:extLst>
          </p:cNvPr>
          <p:cNvSpPr>
            <a:spLocks xmlns:a="http://schemas.openxmlformats.org/drawingml/2006/main" noGrp="1"/>
          </p:cNvSpPr>
          <p:nvPr/>
        </p:nvSpPr>
        <p:spPr>
          <a:xfrm xmlns:a="http://schemas.openxmlformats.org/drawingml/2006/main">
            <a:off x="1028700" y="547687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출력값과 Property의 값을 비교합니다.</a:t>
            </a:r>
          </a:p>
        </p:txBody>
      </p:sp>
    </p:spTree>
    <p:extLst>
      <p:ext uri="{BB962C8B-B14F-4D97-AF65-F5344CB8AC3E}">
        <p14:creationId xmlns:p14="http://schemas.microsoft.com/office/powerpoint/2010/main" val="75536770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5     Python 반복문과">
            <a:extLst xmlns:a="http://schemas.openxmlformats.org/drawingml/2006/main">
              <a:ext uri="{FF2B5EF4-FFF2-40B4-BE49-F238E27FC236}">
                <a16:creationId xmlns:a16="http://schemas.microsoft.com/office/drawing/2014/main" id="{64204638-10F9-435E-AE41-E0D58B5DB689}"/>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5     Python 반복문과 일괄 배치</a:t>
            </a:r>
          </a:p>
        </p:txBody>
      </p:sp>
      <p:sp>
        <p:nvSpPr>
          <p:cNvPr id="2" name="Title">
            <a:extLst xmlns:a="http://schemas.openxmlformats.org/drawingml/2006/main">
              <a:ext uri="{FF2B5EF4-FFF2-40B4-BE49-F238E27FC236}">
                <a16:creationId xmlns:a16="http://schemas.microsoft.com/office/drawing/2014/main" id="{CE883F8E-DE9C-4409-B083-F73F1F6819DC}"/>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조건을 변수로 바꾸기</a:t>
            </a:r>
          </a:p>
        </p:txBody>
      </p:sp>
      <p:sp>
        <p:nvSpPr>
          <p:cNvPr id="3" name="45   /   CBNU Omniverse Worksh">
            <a:extLst xmlns:a="http://schemas.openxmlformats.org/drawingml/2006/main">
              <a:ext uri="{FF2B5EF4-FFF2-40B4-BE49-F238E27FC236}">
                <a16:creationId xmlns:a16="http://schemas.microsoft.com/office/drawing/2014/main" id="{1150AA54-56D6-4486-A63F-66C5DB4C3279}"/>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45   /   CBNU Omniverse Workshop</a:t>
            </a:r>
          </a:p>
        </p:txBody>
      </p:sp>
      <p:sp>
        <p:nvSpPr>
          <p:cNvPr id="4" name="Code">
            <a:extLst xmlns:a="http://schemas.openxmlformats.org/drawingml/2006/main">
              <a:ext uri="{FF2B5EF4-FFF2-40B4-BE49-F238E27FC236}">
                <a16:creationId xmlns:a16="http://schemas.microsoft.com/office/drawing/2014/main" id="{87C82EF9-1D98-400B-8DB1-5FBCB3724609}"/>
              </a:ext>
            </a:extLst>
          </p:cNvPr>
          <p:cNvSpPr>
            <a:spLocks xmlns:a="http://schemas.openxmlformats.org/drawingml/2006/main" noGrp="1"/>
          </p:cNvSpPr>
          <p:nvPr/>
        </p:nvSpPr>
        <p:spPr>
          <a:xfrm xmlns:a="http://schemas.openxmlformats.org/drawingml/2006/main">
            <a:off x="1028700" y="2286000"/>
            <a:ext cx="13144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HEIGHT_M = 2.0</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MASS_KG = 5.0</a:t>
            </a:r>
          </a:p>
          <a:p xmlns:a="http://schemas.openxmlformats.org/drawingml/2006/main">
            <a:r>
              <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set_workpiece(stage, height=HEIGHT_M, mass=MASS_KG)</a:t>
            </a:r>
          </a:p>
        </p:txBody>
      </p:sp>
      <p:sp>
        <p:nvSpPr>
          <p:cNvPr id="5" name="Stop 상태에서 값을 바꿉니다.">
            <a:extLst xmlns:a="http://schemas.openxmlformats.org/drawingml/2006/main">
              <a:ext uri="{FF2B5EF4-FFF2-40B4-BE49-F238E27FC236}">
                <a16:creationId xmlns:a16="http://schemas.microsoft.com/office/drawing/2014/main" id="{DEA7BBDB-5FEE-4C35-92A3-8D5553CDB90C}"/>
              </a:ext>
            </a:extLst>
          </p:cNvPr>
          <p:cNvSpPr>
            <a:spLocks xmlns:a="http://schemas.openxmlformats.org/drawingml/2006/main" noGrp="1"/>
          </p:cNvSpPr>
          <p:nvPr/>
        </p:nvSpPr>
        <p:spPr>
          <a:xfrm xmlns:a="http://schemas.openxmlformats.org/drawingml/2006/main">
            <a:off x="1028700" y="438150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Stop 상태에서 값을 바꿉니다.</a:t>
            </a:r>
          </a:p>
        </p:txBody>
      </p:sp>
      <p:sp>
        <p:nvSpPr>
          <p:cNvPr id="6" name="GUI에서 높이와 질량을 다시 확인합니다.">
            <a:extLst xmlns:a="http://schemas.openxmlformats.org/drawingml/2006/main">
              <a:ext uri="{FF2B5EF4-FFF2-40B4-BE49-F238E27FC236}">
                <a16:creationId xmlns:a16="http://schemas.microsoft.com/office/drawing/2014/main" id="{750A77D7-023A-4A7D-884C-501325588720}"/>
              </a:ext>
            </a:extLst>
          </p:cNvPr>
          <p:cNvSpPr>
            <a:spLocks xmlns:a="http://schemas.openxmlformats.org/drawingml/2006/main" noGrp="1"/>
          </p:cNvSpPr>
          <p:nvPr/>
        </p:nvSpPr>
        <p:spPr>
          <a:xfrm xmlns:a="http://schemas.openxmlformats.org/drawingml/2006/main">
            <a:off x="1028700" y="500062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GUI에서 높이와 질량을 다시 확인합니다.</a:t>
            </a:r>
          </a:p>
        </p:txBody>
      </p:sp>
    </p:spTree>
    <p:extLst>
      <p:ext uri="{BB962C8B-B14F-4D97-AF65-F5344CB8AC3E}">
        <p14:creationId xmlns:p14="http://schemas.microsoft.com/office/powerpoint/2010/main" val="6914403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5     Python 반복문과">
            <a:extLst xmlns:a="http://schemas.openxmlformats.org/drawingml/2006/main">
              <a:ext uri="{FF2B5EF4-FFF2-40B4-BE49-F238E27FC236}">
                <a16:creationId xmlns:a16="http://schemas.microsoft.com/office/drawing/2014/main" id="{9C7E09DC-99B6-463D-AB3C-8742E4FDCBDA}"/>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5     Python 반복문과 일괄 배치</a:t>
            </a:r>
          </a:p>
        </p:txBody>
      </p:sp>
      <p:sp>
        <p:nvSpPr>
          <p:cNvPr id="2" name="Title">
            <a:extLst xmlns:a="http://schemas.openxmlformats.org/drawingml/2006/main">
              <a:ext uri="{FF2B5EF4-FFF2-40B4-BE49-F238E27FC236}">
                <a16:creationId xmlns:a16="http://schemas.microsoft.com/office/drawing/2014/main" id="{25420FF2-991F-44F1-B131-769B4DD907E7}"/>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반복 배치의 기본 구조</a:t>
            </a:r>
          </a:p>
        </p:txBody>
      </p:sp>
      <p:sp>
        <p:nvSpPr>
          <p:cNvPr id="3" name="46   /   CBNU Omniverse Worksh">
            <a:extLst xmlns:a="http://schemas.openxmlformats.org/drawingml/2006/main">
              <a:ext uri="{FF2B5EF4-FFF2-40B4-BE49-F238E27FC236}">
                <a16:creationId xmlns:a16="http://schemas.microsoft.com/office/drawing/2014/main" id="{81B36DB6-9ACB-4897-8587-F95BBBF8EDCD}"/>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46   /   CBNU Omniverse Workshop</a:t>
            </a:r>
          </a:p>
        </p:txBody>
      </p:sp>
      <p:sp>
        <p:nvSpPr>
          <p:cNvPr id="4" name="Code">
            <a:extLst xmlns:a="http://schemas.openxmlformats.org/drawingml/2006/main">
              <a:ext uri="{FF2B5EF4-FFF2-40B4-BE49-F238E27FC236}">
                <a16:creationId xmlns:a16="http://schemas.microsoft.com/office/drawing/2014/main" id="{CF70DD7B-0FEC-4762-8ACF-42853E9FF6DD}"/>
              </a:ext>
            </a:extLst>
          </p:cNvPr>
          <p:cNvSpPr>
            <a:spLocks xmlns:a="http://schemas.openxmlformats.org/drawingml/2006/main" noGrp="1"/>
          </p:cNvSpPr>
          <p:nvPr/>
        </p:nvSpPr>
        <p:spPr>
          <a:xfrm xmlns:a="http://schemas.openxmlformats.org/drawingml/2006/main">
            <a:off x="1028700" y="2286000"/>
            <a:ext cx="13144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for row in range(ROWS):</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for column in range(COLUMNS):</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x = 0.5 + column * SPACING_M</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y = -1.5 + row * SPACING_M</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 경로와 위치를 정해 작업물 생성</a:t>
            </a:r>
          </a:p>
        </p:txBody>
      </p:sp>
      <p:sp>
        <p:nvSpPr>
          <p:cNvPr id="5" name="행·열·간격을 입력으로 둡니다.">
            <a:extLst xmlns:a="http://schemas.openxmlformats.org/drawingml/2006/main">
              <a:ext uri="{FF2B5EF4-FFF2-40B4-BE49-F238E27FC236}">
                <a16:creationId xmlns:a16="http://schemas.microsoft.com/office/drawing/2014/main" id="{FA4AA691-EF4D-4EE5-B501-8C5573FCABC0}"/>
              </a:ext>
            </a:extLst>
          </p:cNvPr>
          <p:cNvSpPr>
            <a:spLocks xmlns:a="http://schemas.openxmlformats.org/drawingml/2006/main" noGrp="1"/>
          </p:cNvSpPr>
          <p:nvPr/>
        </p:nvSpPr>
        <p:spPr>
          <a:xfrm xmlns:a="http://schemas.openxmlformats.org/drawingml/2006/main">
            <a:off x="1028700" y="485775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행·열·간격을 입력으로 둡니다.</a:t>
            </a:r>
          </a:p>
        </p:txBody>
      </p:sp>
      <p:sp>
        <p:nvSpPr>
          <p:cNvPr id="6" name="Prim 경로와 부품 ID가 중복되지 않게 합니다.">
            <a:extLst xmlns:a="http://schemas.openxmlformats.org/drawingml/2006/main">
              <a:ext uri="{FF2B5EF4-FFF2-40B4-BE49-F238E27FC236}">
                <a16:creationId xmlns:a16="http://schemas.microsoft.com/office/drawing/2014/main" id="{5945BB6C-10B3-402D-9338-5BF1FCB8EC1B}"/>
              </a:ext>
            </a:extLst>
          </p:cNvPr>
          <p:cNvSpPr>
            <a:spLocks xmlns:a="http://schemas.openxmlformats.org/drawingml/2006/main" noGrp="1"/>
          </p:cNvSpPr>
          <p:nvPr/>
        </p:nvSpPr>
        <p:spPr>
          <a:xfrm xmlns:a="http://schemas.openxmlformats.org/drawingml/2006/main">
            <a:off x="1028700" y="547687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Prim 경로와 부품 ID가 중복되지 않게 합니다.</a:t>
            </a:r>
          </a:p>
        </p:txBody>
      </p:sp>
    </p:spTree>
    <p:extLst>
      <p:ext uri="{BB962C8B-B14F-4D97-AF65-F5344CB8AC3E}">
        <p14:creationId xmlns:p14="http://schemas.microsoft.com/office/powerpoint/2010/main" val="46631203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2   PART 5     Python 반복문과">
            <a:extLst xmlns:a="http://schemas.openxmlformats.org/drawingml/2006/main">
              <a:ext uri="{FF2B5EF4-FFF2-40B4-BE49-F238E27FC236}">
                <a16:creationId xmlns:a16="http://schemas.microsoft.com/office/drawing/2014/main" id="{D01EDCF9-2A72-46B0-9537-90CF8AC7ACD0}"/>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5     Python 반복문과 일괄 배치</a:t>
            </a:r>
          </a:p>
        </p:txBody>
      </p:sp>
      <p:sp>
        <p:nvSpPr>
          <p:cNvPr id="2" name="Title">
            <a:extLst xmlns:a="http://schemas.openxmlformats.org/drawingml/2006/main">
              <a:ext uri="{FF2B5EF4-FFF2-40B4-BE49-F238E27FC236}">
                <a16:creationId xmlns:a16="http://schemas.microsoft.com/office/drawing/2014/main" id="{FFA9C330-3F2C-4DC6-88E5-6FF45EC7DA6A}"/>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6개 작업물을 12개로 배치</a:t>
            </a:r>
          </a:p>
        </p:txBody>
      </p:sp>
      <p:sp>
        <p:nvSpPr>
          <p:cNvPr id="3" name="47   /   CBNU Omniverse Worksh">
            <a:extLst xmlns:a="http://schemas.openxmlformats.org/drawingml/2006/main">
              <a:ext uri="{FF2B5EF4-FFF2-40B4-BE49-F238E27FC236}">
                <a16:creationId xmlns:a16="http://schemas.microsoft.com/office/drawing/2014/main" id="{088FBC69-BC29-4A43-BE4C-A9C74B0B1BFC}"/>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47   /   CBNU Omniverse Workshop</a:t>
            </a:r>
          </a:p>
        </p:txBody>
      </p:sp>
      <p:sp>
        <p:nvSpPr>
          <p:cNvPr id="4" name="07_batch_layout.usda / 09_batc">
            <a:extLst xmlns:a="http://schemas.openxmlformats.org/drawingml/2006/main">
              <a:ext uri="{FF2B5EF4-FFF2-40B4-BE49-F238E27FC236}">
                <a16:creationId xmlns:a16="http://schemas.microsoft.com/office/drawing/2014/main" id="{7AB542C9-CDC1-4599-B88A-C607BFEC46BD}"/>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07_batch_layout.usda / 09_batch_layout.py</a:t>
            </a:r>
          </a:p>
        </p:txBody>
      </p:sp>
      <p:sp>
        <p:nvSpPr>
          <p:cNvPr id="5" name="01">
            <a:extLst xmlns:a="http://schemas.openxmlformats.org/drawingml/2006/main">
              <a:ext uri="{FF2B5EF4-FFF2-40B4-BE49-F238E27FC236}">
                <a16:creationId xmlns:a16="http://schemas.microsoft.com/office/drawing/2014/main" id="{E386CD09-0824-4DDD-B801-42CB8CE71B27}"/>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2행×3열의 초기 개수를 확인합니다.">
            <a:extLst xmlns:a="http://schemas.openxmlformats.org/drawingml/2006/main">
              <a:ext uri="{FF2B5EF4-FFF2-40B4-BE49-F238E27FC236}">
                <a16:creationId xmlns:a16="http://schemas.microsoft.com/office/drawing/2014/main" id="{EDA09994-8C20-4B39-88EA-1452896B66EF}"/>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2행×3열의 초기 개수를 확인합니다.</a:t>
            </a:r>
          </a:p>
        </p:txBody>
      </p:sp>
      <p:sp>
        <p:nvSpPr>
          <p:cNvPr id="7" name="02">
            <a:extLst xmlns:a="http://schemas.openxmlformats.org/drawingml/2006/main">
              <a:ext uri="{FF2B5EF4-FFF2-40B4-BE49-F238E27FC236}">
                <a16:creationId xmlns:a16="http://schemas.microsoft.com/office/drawing/2014/main" id="{DBCBB5EC-F9CA-44F6-B795-7A90BA89A37D}"/>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ROWS=3, COLUMNS=4로 바꿉니다.">
            <a:extLst xmlns:a="http://schemas.openxmlformats.org/drawingml/2006/main">
              <a:ext uri="{FF2B5EF4-FFF2-40B4-BE49-F238E27FC236}">
                <a16:creationId xmlns:a16="http://schemas.microsoft.com/office/drawing/2014/main" id="{583F46ED-37BE-4423-AB22-B889E16A5DCF}"/>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ROWS=3, COLUMNS=4로 바꿉니다.</a:t>
            </a:r>
          </a:p>
        </p:txBody>
      </p:sp>
      <p:sp>
        <p:nvSpPr>
          <p:cNvPr id="9" name="03">
            <a:extLst xmlns:a="http://schemas.openxmlformats.org/drawingml/2006/main">
              <a:ext uri="{FF2B5EF4-FFF2-40B4-BE49-F238E27FC236}">
                <a16:creationId xmlns:a16="http://schemas.microsoft.com/office/drawing/2014/main" id="{63276AE4-DE94-4CA3-ABDD-2B5526437150}"/>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재실행해 12개이며 이전 배열이 남지 않는지 확인합니다">
            <a:extLst xmlns:a="http://schemas.openxmlformats.org/drawingml/2006/main">
              <a:ext uri="{FF2B5EF4-FFF2-40B4-BE49-F238E27FC236}">
                <a16:creationId xmlns:a16="http://schemas.microsoft.com/office/drawing/2014/main" id="{A6DA3253-3855-4E2B-9B86-434BB063767E}"/>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재실행해 12개이며 이전 배열이 남지 않는지 확인합니다.</a:t>
            </a:r>
          </a:p>
        </p:txBody>
      </p:sp>
      <p:sp>
        <p:nvSpPr>
          <p:cNvPr id="11" name="04">
            <a:extLst xmlns:a="http://schemas.openxmlformats.org/drawingml/2006/main">
              <a:ext uri="{FF2B5EF4-FFF2-40B4-BE49-F238E27FC236}">
                <a16:creationId xmlns:a16="http://schemas.microsoft.com/office/drawing/2014/main" id="{3B113AFC-12BA-4E83-9B1E-CD90448E12A2}"/>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경로 목록과 training:part_id를 확인합니다">
            <a:extLst xmlns:a="http://schemas.openxmlformats.org/drawingml/2006/main">
              <a:ext uri="{FF2B5EF4-FFF2-40B4-BE49-F238E27FC236}">
                <a16:creationId xmlns:a16="http://schemas.microsoft.com/office/drawing/2014/main" id="{B1221C52-EC76-4BC8-9380-639D7ACE3D2F}"/>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경로 목록과 training:part_id를 확인합니다.</a:t>
            </a:r>
          </a:p>
        </p:txBody>
      </p:sp>
    </p:spTree>
    <p:extLst>
      <p:ext uri="{BB962C8B-B14F-4D97-AF65-F5344CB8AC3E}">
        <p14:creationId xmlns:p14="http://schemas.microsoft.com/office/powerpoint/2010/main" val="95102804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AY 2   PART 6     반복 실험과 결과 기">
            <a:extLst xmlns:a="http://schemas.openxmlformats.org/drawingml/2006/main">
              <a:ext uri="{FF2B5EF4-FFF2-40B4-BE49-F238E27FC236}">
                <a16:creationId xmlns:a16="http://schemas.microsoft.com/office/drawing/2014/main" id="{FC1BCAF2-EB29-424B-BFBF-ED17D2C6C18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6     반복 실험과 결과 기록</a:t>
            </a:r>
          </a:p>
        </p:txBody>
      </p:sp>
      <p:sp>
        <p:nvSpPr>
          <p:cNvPr id="2" name="Title">
            <a:extLst xmlns:a="http://schemas.openxmlformats.org/drawingml/2006/main">
              <a:ext uri="{FF2B5EF4-FFF2-40B4-BE49-F238E27FC236}">
                <a16:creationId xmlns:a16="http://schemas.microsoft.com/office/drawing/2014/main" id="{51CE8FBC-62B4-46FF-A693-F616C74F231D}"/>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반복 실험의 실행 순서</a:t>
            </a:r>
          </a:p>
        </p:txBody>
      </p:sp>
      <p:sp>
        <p:nvSpPr>
          <p:cNvPr id="3" name="48   /   CBNU Omniverse Worksh">
            <a:extLst xmlns:a="http://schemas.openxmlformats.org/drawingml/2006/main">
              <a:ext uri="{FF2B5EF4-FFF2-40B4-BE49-F238E27FC236}">
                <a16:creationId xmlns:a16="http://schemas.microsoft.com/office/drawing/2014/main" id="{01DBF5FB-95FD-4498-97F1-95AA9E280D31}"/>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48   /   CBNU Omniverse Workshop</a:t>
            </a:r>
          </a:p>
        </p:txBody>
      </p:sp>
      <p:sp>
        <p:nvSpPr>
          <p:cNvPr id="4" name="초기화">
            <a:extLst xmlns:a="http://schemas.openxmlformats.org/drawingml/2006/main">
              <a:ext uri="{FF2B5EF4-FFF2-40B4-BE49-F238E27FC236}">
                <a16:creationId xmlns:a16="http://schemas.microsoft.com/office/drawing/2014/main" id="{596D4E42-84F8-46C7-897F-5D6766960E51}"/>
              </a:ext>
            </a:extLst>
          </p:cNvPr>
          <p:cNvSpPr>
            <a:spLocks xmlns:a="http://schemas.openxmlformats.org/drawingml/2006/main" noGrp="1"/>
          </p:cNvSpPr>
          <p:nvPr/>
        </p:nvSpPr>
        <p:spPr>
          <a:xfrm xmlns:a="http://schemas.openxmlformats.org/drawingml/2006/main">
            <a:off x="838200" y="222885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초기화</a:t>
            </a:r>
          </a:p>
        </p:txBody>
      </p:sp>
      <p:sp>
        <p:nvSpPr>
          <p:cNvPr id="5" name="Stop 후 초기 높이와 질량을 설정합니다.">
            <a:extLst xmlns:a="http://schemas.openxmlformats.org/drawingml/2006/main">
              <a:ext uri="{FF2B5EF4-FFF2-40B4-BE49-F238E27FC236}">
                <a16:creationId xmlns:a16="http://schemas.microsoft.com/office/drawing/2014/main" id="{023B912B-7D79-4434-A8EC-CB78ABBEADDA}"/>
              </a:ext>
            </a:extLst>
          </p:cNvPr>
          <p:cNvSpPr>
            <a:spLocks xmlns:a="http://schemas.openxmlformats.org/drawingml/2006/main" noGrp="1"/>
          </p:cNvSpPr>
          <p:nvPr/>
        </p:nvSpPr>
        <p:spPr>
          <a:xfrm xmlns:a="http://schemas.openxmlformats.org/drawingml/2006/main">
            <a:off x="3619500" y="22288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Stop 후 초기 높이와 질량을 설정합니다.</a:t>
            </a:r>
          </a:p>
        </p:txBody>
      </p:sp>
      <p:sp>
        <p:nvSpPr>
          <p:cNvPr id="6" name="재생">
            <a:extLst xmlns:a="http://schemas.openxmlformats.org/drawingml/2006/main">
              <a:ext uri="{FF2B5EF4-FFF2-40B4-BE49-F238E27FC236}">
                <a16:creationId xmlns:a16="http://schemas.microsoft.com/office/drawing/2014/main" id="{D604D2AC-48AA-4F2D-895B-B3856AA40905}"/>
              </a:ext>
            </a:extLst>
          </p:cNvPr>
          <p:cNvSpPr>
            <a:spLocks xmlns:a="http://schemas.openxmlformats.org/drawingml/2006/main" noGrp="1"/>
          </p:cNvSpPr>
          <p:nvPr/>
        </p:nvSpPr>
        <p:spPr>
          <a:xfrm xmlns:a="http://schemas.openxmlformats.org/drawingml/2006/main">
            <a:off x="838200" y="35147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재생</a:t>
            </a:r>
          </a:p>
        </p:txBody>
      </p:sp>
      <p:sp>
        <p:nvSpPr>
          <p:cNvPr id="7" name="Timeline을 Play하고 앱 갱신을 기다립니다.">
            <a:extLst xmlns:a="http://schemas.openxmlformats.org/drawingml/2006/main">
              <a:ext uri="{FF2B5EF4-FFF2-40B4-BE49-F238E27FC236}">
                <a16:creationId xmlns:a16="http://schemas.microsoft.com/office/drawing/2014/main" id="{3A762FE1-ED34-4BD6-A8D6-38DB8F9CE2B7}"/>
              </a:ext>
            </a:extLst>
          </p:cNvPr>
          <p:cNvSpPr>
            <a:spLocks xmlns:a="http://schemas.openxmlformats.org/drawingml/2006/main" noGrp="1"/>
          </p:cNvSpPr>
          <p:nvPr/>
        </p:nvSpPr>
        <p:spPr>
          <a:xfrm xmlns:a="http://schemas.openxmlformats.org/drawingml/2006/main">
            <a:off x="3619500" y="3514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Timeline을 Play하고 앱 갱신을 기다립니다.</a:t>
            </a:r>
          </a:p>
        </p:txBody>
      </p:sp>
      <p:sp>
        <p:nvSpPr>
          <p:cNvPr id="8" name="기록">
            <a:extLst xmlns:a="http://schemas.openxmlformats.org/drawingml/2006/main">
              <a:ext uri="{FF2B5EF4-FFF2-40B4-BE49-F238E27FC236}">
                <a16:creationId xmlns:a16="http://schemas.microsoft.com/office/drawing/2014/main" id="{16482A21-1E72-4455-A9B4-71F392E9DCEC}"/>
              </a:ext>
            </a:extLst>
          </p:cNvPr>
          <p:cNvSpPr>
            <a:spLocks xmlns:a="http://schemas.openxmlformats.org/drawingml/2006/main" noGrp="1"/>
          </p:cNvSpPr>
          <p:nvPr/>
        </p:nvSpPr>
        <p:spPr>
          <a:xfrm xmlns:a="http://schemas.openxmlformats.org/drawingml/2006/main">
            <a:off x="838200" y="480060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기록</a:t>
            </a:r>
          </a:p>
        </p:txBody>
      </p:sp>
      <p:sp>
        <p:nvSpPr>
          <p:cNvPr id="9" name="조건과 종료 시뮬레이션 시간을 저장합니다.">
            <a:extLst xmlns:a="http://schemas.openxmlformats.org/drawingml/2006/main">
              <a:ext uri="{FF2B5EF4-FFF2-40B4-BE49-F238E27FC236}">
                <a16:creationId xmlns:a16="http://schemas.microsoft.com/office/drawing/2014/main" id="{BDC74DA6-4B6B-4CCF-BB10-F71F293BC224}"/>
              </a:ext>
            </a:extLst>
          </p:cNvPr>
          <p:cNvSpPr>
            <a:spLocks xmlns:a="http://schemas.openxmlformats.org/drawingml/2006/main" noGrp="1"/>
          </p:cNvSpPr>
          <p:nvPr/>
        </p:nvSpPr>
        <p:spPr>
          <a:xfrm xmlns:a="http://schemas.openxmlformats.org/drawingml/2006/main">
            <a:off x="3619500" y="48006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조건과 종료 시뮬레이션 시간을 저장합니다.</a:t>
            </a:r>
          </a:p>
        </p:txBody>
      </p:sp>
      <p:sp>
        <p:nvSpPr>
          <p:cNvPr id="10" name="종료">
            <a:extLst xmlns:a="http://schemas.openxmlformats.org/drawingml/2006/main">
              <a:ext uri="{FF2B5EF4-FFF2-40B4-BE49-F238E27FC236}">
                <a16:creationId xmlns:a16="http://schemas.microsoft.com/office/drawing/2014/main" id="{C59E4F89-9CC8-43E7-8EF5-C0565441ABE1}"/>
              </a:ext>
            </a:extLst>
          </p:cNvPr>
          <p:cNvSpPr>
            <a:spLocks xmlns:a="http://schemas.openxmlformats.org/drawingml/2006/main" noGrp="1"/>
          </p:cNvSpPr>
          <p:nvPr/>
        </p:nvSpPr>
        <p:spPr>
          <a:xfrm xmlns:a="http://schemas.openxmlformats.org/drawingml/2006/main">
            <a:off x="838200" y="60864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종료</a:t>
            </a:r>
          </a:p>
        </p:txBody>
      </p:sp>
      <p:sp>
        <p:nvSpPr>
          <p:cNvPr id="11" name="Stop으로 복구하고 다음 조건을 시작합니다.">
            <a:extLst xmlns:a="http://schemas.openxmlformats.org/drawingml/2006/main">
              <a:ext uri="{FF2B5EF4-FFF2-40B4-BE49-F238E27FC236}">
                <a16:creationId xmlns:a16="http://schemas.microsoft.com/office/drawing/2014/main" id="{A39803B0-A3AA-4F3E-8F7C-8955ACC2B5E2}"/>
              </a:ext>
            </a:extLst>
          </p:cNvPr>
          <p:cNvSpPr>
            <a:spLocks xmlns:a="http://schemas.openxmlformats.org/drawingml/2006/main" noGrp="1"/>
          </p:cNvSpPr>
          <p:nvPr/>
        </p:nvSpPr>
        <p:spPr>
          <a:xfrm xmlns:a="http://schemas.openxmlformats.org/drawingml/2006/main">
            <a:off x="3619500" y="60864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Stop으로 복구하고 다음 조건을 시작합니다.</a:t>
            </a:r>
          </a:p>
        </p:txBody>
      </p:sp>
    </p:spTree>
    <p:extLst>
      <p:ext uri="{BB962C8B-B14F-4D97-AF65-F5344CB8AC3E}">
        <p14:creationId xmlns:p14="http://schemas.microsoft.com/office/powerpoint/2010/main" val="9152775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 2   PART 6     반복 실험과 결과 기">
            <a:extLst xmlns:a="http://schemas.openxmlformats.org/drawingml/2006/main">
              <a:ext uri="{FF2B5EF4-FFF2-40B4-BE49-F238E27FC236}">
                <a16:creationId xmlns:a16="http://schemas.microsoft.com/office/drawing/2014/main" id="{07027069-A7DF-4B93-A10F-FF6671A6AA8E}"/>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6     반복 실험과 결과 기록</a:t>
            </a:r>
          </a:p>
        </p:txBody>
      </p:sp>
      <p:sp>
        <p:nvSpPr>
          <p:cNvPr id="2" name="Title">
            <a:extLst xmlns:a="http://schemas.openxmlformats.org/drawingml/2006/main">
              <a:ext uri="{FF2B5EF4-FFF2-40B4-BE49-F238E27FC236}">
                <a16:creationId xmlns:a16="http://schemas.microsoft.com/office/drawing/2014/main" id="{132ECDE5-13E2-41CA-A840-8952492E8615}"/>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UI를 멈추지 않는 대기</a:t>
            </a:r>
          </a:p>
        </p:txBody>
      </p:sp>
      <p:sp>
        <p:nvSpPr>
          <p:cNvPr id="3" name="49   /   CBNU Omniverse Worksh">
            <a:extLst xmlns:a="http://schemas.openxmlformats.org/drawingml/2006/main">
              <a:ext uri="{FF2B5EF4-FFF2-40B4-BE49-F238E27FC236}">
                <a16:creationId xmlns:a16="http://schemas.microsoft.com/office/drawing/2014/main" id="{E896C11C-B5C5-4387-88EA-D22C666A97CB}"/>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49   /   CBNU Omniverse Workshop</a:t>
            </a:r>
          </a:p>
        </p:txBody>
      </p:sp>
      <p:sp>
        <p:nvSpPr>
          <p:cNvPr id="4" name="Code">
            <a:extLst xmlns:a="http://schemas.openxmlformats.org/drawingml/2006/main">
              <a:ext uri="{FF2B5EF4-FFF2-40B4-BE49-F238E27FC236}">
                <a16:creationId xmlns:a16="http://schemas.microsoft.com/office/drawing/2014/main" id="{ACA96E87-3840-4A36-A571-436094B33F0C}"/>
              </a:ext>
            </a:extLst>
          </p:cNvPr>
          <p:cNvSpPr>
            <a:spLocks xmlns:a="http://schemas.openxmlformats.org/drawingml/2006/main" noGrp="1"/>
          </p:cNvSpPr>
          <p:nvPr/>
        </p:nvSpPr>
        <p:spPr>
          <a:xfrm xmlns:a="http://schemas.openxmlformats.org/drawingml/2006/main">
            <a:off x="1028700" y="2286000"/>
            <a:ext cx="13144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Consolas"/>
                <a:ea typeface="Consolas"/>
                <a:cs typeface="Consolas"/>
              </a:defRPr>
            </a:defPPr>
            <a:lvl1pPr>
              <a:defRPr sz="2250" b="0">
                <a:solidFill>
                  <a:srgbClr val="202322"/>
                </a:solidFill>
                <a:latin typeface="Consolas"/>
                <a:ea typeface="Consolas"/>
                <a:cs typeface="Consolas"/>
              </a:defRPr>
            </a:lvl1pPr>
            <a:lvl2pPr>
              <a:defRPr sz="2250" b="0">
                <a:solidFill>
                  <a:srgbClr val="202322"/>
                </a:solidFill>
                <a:latin typeface="Consolas"/>
                <a:ea typeface="Consolas"/>
                <a:cs typeface="Consolas"/>
              </a:defRPr>
            </a:lvl2pPr>
            <a:lvl3pPr>
              <a:defRPr sz="2250" b="0">
                <a:solidFill>
                  <a:srgbClr val="202322"/>
                </a:solidFill>
                <a:latin typeface="Consolas"/>
                <a:ea typeface="Consolas"/>
                <a:cs typeface="Consolas"/>
              </a:defRPr>
            </a:lvl3pPr>
            <a:lvl4pPr>
              <a:defRPr sz="2250" b="0">
                <a:solidFill>
                  <a:srgbClr val="202322"/>
                </a:solidFill>
                <a:latin typeface="Consolas"/>
                <a:ea typeface="Consolas"/>
                <a:cs typeface="Consolas"/>
              </a:defRPr>
            </a:lvl4pPr>
            <a:lvl5pPr>
              <a:defRPr sz="2250" b="0">
                <a:solidFill>
                  <a:srgbClr val="202322"/>
                </a:solidFill>
                <a:latin typeface="Consolas"/>
                <a:ea typeface="Consolas"/>
                <a:cs typeface="Consolas"/>
              </a:defRPr>
            </a:lvl5pPr>
            <a:lvl6pPr>
              <a:defRPr sz="2250" b="0">
                <a:solidFill>
                  <a:srgbClr val="202322"/>
                </a:solidFill>
                <a:latin typeface="Consolas"/>
                <a:ea typeface="Consolas"/>
                <a:cs typeface="Consolas"/>
              </a:defRPr>
            </a:lvl6pPr>
            <a:lvl7pPr>
              <a:defRPr sz="2250" b="0">
                <a:solidFill>
                  <a:srgbClr val="202322"/>
                </a:solidFill>
                <a:latin typeface="Consolas"/>
                <a:ea typeface="Consolas"/>
                <a:cs typeface="Consolas"/>
              </a:defRPr>
            </a:lvl7pPr>
            <a:lvl8pPr>
              <a:defRPr sz="2250" b="0">
                <a:solidFill>
                  <a:srgbClr val="202322"/>
                </a:solidFill>
                <a:latin typeface="Consolas"/>
                <a:ea typeface="Consolas"/>
                <a:cs typeface="Consolas"/>
              </a:defRPr>
            </a:lvl8pPr>
            <a:lvl9pPr>
              <a:defRPr sz="2250" b="0">
                <a:solidFill>
                  <a:srgbClr val="202322"/>
                </a:solidFill>
                <a:latin typeface="Consolas"/>
                <a:ea typeface="Consolas"/>
                <a:cs typeface="Consolas"/>
              </a:defRPr>
            </a:lvl9pPr>
          </a:lstStyle>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timeline.play()</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while timeline.get_current_time() &lt; 2.0:</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    await app.next_update_async()</a:t>
            </a:r>
          </a:p>
          <a:p xmlns:a="http://schemas.openxmlformats.org/drawingml/2006/main">
            <a:pPr>
              <a:defRPr sz="2250" b="0">
                <a:solidFill>
                  <a:srgbClr val="202322"/>
                </a:solidFill>
                <a:latin typeface="Consolas"/>
                <a:ea typeface="Consolas"/>
                <a:cs typeface="Consolas"/>
              </a:defRPr>
            </a:pPr>
            <a:r>
              <a:rPr sz="2250" b="0">
                <a:solidFill>
                  <a:srgbClr val="202322"/>
                </a:solidFill>
                <a:latin typeface="Consolas"/>
                <a:ea typeface="Consolas"/>
                <a:cs typeface="Consolas"/>
              </a:rPr>
              <a:t>timeline.pause()</a:t>
            </a:r>
          </a:p>
        </p:txBody>
      </p:sp>
      <p:sp>
        <p:nvSpPr>
          <p:cNvPr id="5" name="앱이 화면과 이벤트를 처리하도록 기다립니다.">
            <a:extLst xmlns:a="http://schemas.openxmlformats.org/drawingml/2006/main">
              <a:ext uri="{FF2B5EF4-FFF2-40B4-BE49-F238E27FC236}">
                <a16:creationId xmlns:a16="http://schemas.microsoft.com/office/drawing/2014/main" id="{8C10A981-692F-487B-817D-5012A1FB7811}"/>
              </a:ext>
            </a:extLst>
          </p:cNvPr>
          <p:cNvSpPr>
            <a:spLocks xmlns:a="http://schemas.openxmlformats.org/drawingml/2006/main" noGrp="1"/>
          </p:cNvSpPr>
          <p:nvPr/>
        </p:nvSpPr>
        <p:spPr>
          <a:xfrm xmlns:a="http://schemas.openxmlformats.org/drawingml/2006/main">
            <a:off x="1028700" y="438150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앱이 화면과 이벤트를 처리하도록 기다립니다.</a:t>
            </a:r>
          </a:p>
        </p:txBody>
      </p:sp>
      <p:sp>
        <p:nvSpPr>
          <p:cNvPr id="6" name="실제 파일에는 중단·타임아웃 검사가 포함됩니다.">
            <a:extLst xmlns:a="http://schemas.openxmlformats.org/drawingml/2006/main">
              <a:ext uri="{FF2B5EF4-FFF2-40B4-BE49-F238E27FC236}">
                <a16:creationId xmlns:a16="http://schemas.microsoft.com/office/drawing/2014/main" id="{0CE8E7EC-E2FF-4518-BF96-8F605166FD9C}"/>
              </a:ext>
            </a:extLst>
          </p:cNvPr>
          <p:cNvSpPr>
            <a:spLocks xmlns:a="http://schemas.openxmlformats.org/drawingml/2006/main" noGrp="1"/>
          </p:cNvSpPr>
          <p:nvPr/>
        </p:nvSpPr>
        <p:spPr>
          <a:xfrm xmlns:a="http://schemas.openxmlformats.org/drawingml/2006/main">
            <a:off x="1028700" y="5000625"/>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2322"/>
                </a:solidFill>
                <a:latin typeface="Malgun Gothic"/>
                <a:ea typeface="Malgun Gothic"/>
                <a:cs typeface="Malgun Gothic"/>
              </a:defRPr>
            </a:defPPr>
            <a:lvl1pPr>
              <a:defRPr sz="2250" b="0">
                <a:solidFill>
                  <a:srgbClr val="202322"/>
                </a:solidFill>
                <a:latin typeface="Malgun Gothic"/>
                <a:ea typeface="Malgun Gothic"/>
                <a:cs typeface="Malgun Gothic"/>
              </a:defRPr>
            </a:lvl1pPr>
            <a:lvl2pPr>
              <a:defRPr sz="2250" b="0">
                <a:solidFill>
                  <a:srgbClr val="202322"/>
                </a:solidFill>
                <a:latin typeface="Malgun Gothic"/>
                <a:ea typeface="Malgun Gothic"/>
                <a:cs typeface="Malgun Gothic"/>
              </a:defRPr>
            </a:lvl2pPr>
            <a:lvl3pPr>
              <a:defRPr sz="2250" b="0">
                <a:solidFill>
                  <a:srgbClr val="202322"/>
                </a:solidFill>
                <a:latin typeface="Malgun Gothic"/>
                <a:ea typeface="Malgun Gothic"/>
                <a:cs typeface="Malgun Gothic"/>
              </a:defRPr>
            </a:lvl3pPr>
            <a:lvl4pPr>
              <a:defRPr sz="2250" b="0">
                <a:solidFill>
                  <a:srgbClr val="202322"/>
                </a:solidFill>
                <a:latin typeface="Malgun Gothic"/>
                <a:ea typeface="Malgun Gothic"/>
                <a:cs typeface="Malgun Gothic"/>
              </a:defRPr>
            </a:lvl4pPr>
            <a:lvl5pPr>
              <a:defRPr sz="2250" b="0">
                <a:solidFill>
                  <a:srgbClr val="202322"/>
                </a:solidFill>
                <a:latin typeface="Malgun Gothic"/>
                <a:ea typeface="Malgun Gothic"/>
                <a:cs typeface="Malgun Gothic"/>
              </a:defRPr>
            </a:lvl5pPr>
            <a:lvl6pPr>
              <a:defRPr sz="2250" b="0">
                <a:solidFill>
                  <a:srgbClr val="202322"/>
                </a:solidFill>
                <a:latin typeface="Malgun Gothic"/>
                <a:ea typeface="Malgun Gothic"/>
                <a:cs typeface="Malgun Gothic"/>
              </a:defRPr>
            </a:lvl6pPr>
            <a:lvl7pPr>
              <a:defRPr sz="2250" b="0">
                <a:solidFill>
                  <a:srgbClr val="202322"/>
                </a:solidFill>
                <a:latin typeface="Malgun Gothic"/>
                <a:ea typeface="Malgun Gothic"/>
                <a:cs typeface="Malgun Gothic"/>
              </a:defRPr>
            </a:lvl7pPr>
            <a:lvl8pPr>
              <a:defRPr sz="2250" b="0">
                <a:solidFill>
                  <a:srgbClr val="202322"/>
                </a:solidFill>
                <a:latin typeface="Malgun Gothic"/>
                <a:ea typeface="Malgun Gothic"/>
                <a:cs typeface="Malgun Gothic"/>
              </a:defRPr>
            </a:lvl8pPr>
            <a:lvl9pPr>
              <a:defRPr sz="2250" b="0">
                <a:solidFill>
                  <a:srgbClr val="202322"/>
                </a:solidFill>
                <a:latin typeface="Malgun Gothic"/>
                <a:ea typeface="Malgun Gothic"/>
                <a:cs typeface="Malgun Gothic"/>
              </a:defRPr>
            </a:lvl9pPr>
          </a:lstStyle>
          <a:p xmlns:a="http://schemas.openxmlformats.org/drawingml/2006/main">
            <a:pPr>
              <a:defRPr sz="2250" b="0">
                <a:solidFill>
                  <a:srgbClr val="202322"/>
                </a:solidFill>
                <a:latin typeface="Malgun Gothic"/>
                <a:ea typeface="Malgun Gothic"/>
                <a:cs typeface="Malgun Gothic"/>
              </a:defRPr>
            </a:pPr>
            <a:r>
              <a:rPr sz="2250" b="0">
                <a:solidFill>
                  <a:srgbClr val="202322"/>
                </a:solidFill>
                <a:latin typeface="Malgun Gothic"/>
                <a:ea typeface="Malgun Gothic"/>
                <a:cs typeface="Malgun Gothic"/>
              </a:rPr>
              <a:t>실제 파일에는 중단·타임아웃 검사가 포함됩니다.</a:t>
            </a:r>
          </a:p>
        </p:txBody>
      </p:sp>
    </p:spTree>
    <p:extLst>
      <p:ext uri="{BB962C8B-B14F-4D97-AF65-F5344CB8AC3E}">
        <p14:creationId xmlns:p14="http://schemas.microsoft.com/office/powerpoint/2010/main" val="140466095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6     반복 실험과 결과 기">
            <a:extLst xmlns:a="http://schemas.openxmlformats.org/drawingml/2006/main">
              <a:ext uri="{FF2B5EF4-FFF2-40B4-BE49-F238E27FC236}">
                <a16:creationId xmlns:a16="http://schemas.microsoft.com/office/drawing/2014/main" id="{390606AC-AF25-4045-A2E3-F0A0487E13CF}"/>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6     반복 실험과 결과 기록</a:t>
            </a:r>
          </a:p>
        </p:txBody>
      </p:sp>
      <p:sp>
        <p:nvSpPr>
          <p:cNvPr id="2" name="Title">
            <a:extLst xmlns:a="http://schemas.openxmlformats.org/drawingml/2006/main">
              <a:ext uri="{FF2B5EF4-FFF2-40B4-BE49-F238E27FC236}">
                <a16:creationId xmlns:a16="http://schemas.microsoft.com/office/drawing/2014/main" id="{28632740-7FFE-4007-9CDB-FBB6A0E63BBD}"/>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실행 로그가 말해 주는 것</a:t>
            </a:r>
          </a:p>
        </p:txBody>
      </p:sp>
      <p:sp>
        <p:nvSpPr>
          <p:cNvPr id="3" name="50   /   CBNU Omniverse Worksh">
            <a:extLst xmlns:a="http://schemas.openxmlformats.org/drawingml/2006/main">
              <a:ext uri="{FF2B5EF4-FFF2-40B4-BE49-F238E27FC236}">
                <a16:creationId xmlns:a16="http://schemas.microsoft.com/office/drawing/2014/main" id="{2A176DD0-3B4D-4121-ADC3-56A550F51047}"/>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50   /   CBNU Omniverse Workshop</a:t>
            </a:r>
          </a:p>
        </p:txBody>
      </p:sp>
      <p:graphicFrame>
        <p:nvGraphicFramePr>
          <p:cNvPr id="4" name="">
            <a:extLst xmlns:a="http://schemas.openxmlformats.org/drawingml/2006/main">
              <a:ext uri="{FF2B5EF4-FFF2-40B4-BE49-F238E27FC236}">
                <a16:creationId xmlns:a16="http://schemas.microsoft.com/office/drawing/2014/main" id="{E8C6772A-BCAC-4444-9146-43C09C630D2C}"/>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4783842"/>
                <a:gridCol w="4868263"/>
                <a:gridCol w="3911495"/>
              </a:tblGrid>
              <a:tr h="857250">
                <a:tc>
                  <a:txBody>
                    <a:bodyPr/>
                    <a:lstStyle/>
                    <a:p>
                      <a:r>
                        <a:rPr sz="2100" b="1">
                          <a:solidFill>
                            <a:srgbClr val="202322"/>
                          </a:solidFill>
                          <a:latin typeface="Malgun Gothic"/>
                          <a:ea typeface="Malgun Gothic"/>
                          <a:cs typeface="Malgun Gothic"/>
                        </a:rPr>
                        <a:t>열</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의미</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포함하지 않는 것</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mass_kg</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설정한 질량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힘 측정값</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height_m</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설정한 초기 높이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실시간 위치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simulation_time_s</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종료 시뮬레이션 시간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접촉 시각</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observation</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사람이 적는 관찰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자동 판정 결과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10858653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2   PART 6     반복 실험과 결과 기">
            <a:extLst xmlns:a="http://schemas.openxmlformats.org/drawingml/2006/main">
              <a:ext uri="{FF2B5EF4-FFF2-40B4-BE49-F238E27FC236}">
                <a16:creationId xmlns:a16="http://schemas.microsoft.com/office/drawing/2014/main" id="{C9651D79-7DA1-495E-9D1D-3D0980B702C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6     반복 실험과 결과 기록</a:t>
            </a:r>
          </a:p>
        </p:txBody>
      </p:sp>
      <p:sp>
        <p:nvSpPr>
          <p:cNvPr id="2" name="Title">
            <a:extLst xmlns:a="http://schemas.openxmlformats.org/drawingml/2006/main">
              <a:ext uri="{FF2B5EF4-FFF2-40B4-BE49-F238E27FC236}">
                <a16:creationId xmlns:a16="http://schemas.microsoft.com/office/drawing/2014/main" id="{B86C1761-0E4F-4F3F-BA16-D689FECB06B4}"/>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두 조건 실행과 결과 확인</a:t>
            </a:r>
          </a:p>
        </p:txBody>
      </p:sp>
      <p:sp>
        <p:nvSpPr>
          <p:cNvPr id="3" name="51   /   CBNU Omniverse Worksh">
            <a:extLst xmlns:a="http://schemas.openxmlformats.org/drawingml/2006/main">
              <a:ext uri="{FF2B5EF4-FFF2-40B4-BE49-F238E27FC236}">
                <a16:creationId xmlns:a16="http://schemas.microsoft.com/office/drawing/2014/main" id="{CAD92A37-41F0-4D29-A641-FE3E1C35E804}"/>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51   /   CBNU Omniverse Workshop</a:t>
            </a:r>
          </a:p>
        </p:txBody>
      </p:sp>
      <p:sp>
        <p:nvSpPr>
          <p:cNvPr id="4" name="03_physics.usda / 04_automate_">
            <a:extLst xmlns:a="http://schemas.openxmlformats.org/drawingml/2006/main">
              <a:ext uri="{FF2B5EF4-FFF2-40B4-BE49-F238E27FC236}">
                <a16:creationId xmlns:a16="http://schemas.microsoft.com/office/drawing/2014/main" id="{FE3CA058-E21A-4AD7-AE8E-20D3195148D9}"/>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03_physics.usda / 04_automate_simulation.py</a:t>
            </a:r>
          </a:p>
        </p:txBody>
      </p:sp>
      <p:sp>
        <p:nvSpPr>
          <p:cNvPr id="5" name="01">
            <a:extLst xmlns:a="http://schemas.openxmlformats.org/drawingml/2006/main">
              <a:ext uri="{FF2B5EF4-FFF2-40B4-BE49-F238E27FC236}">
                <a16:creationId xmlns:a16="http://schemas.microsoft.com/office/drawing/2014/main" id="{8881C4CB-D2B1-41FF-B2E7-150EBC079C1A}"/>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1kg과 5kg 조건의 반복 실행을 관찰합니다.">
            <a:extLst xmlns:a="http://schemas.openxmlformats.org/drawingml/2006/main">
              <a:ext uri="{FF2B5EF4-FFF2-40B4-BE49-F238E27FC236}">
                <a16:creationId xmlns:a16="http://schemas.microsoft.com/office/drawing/2014/main" id="{E40198B0-FC77-4CA3-A01C-749AD80F3131}"/>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1kg과 5kg 조건의 반복 실행을 관찰합니다.</a:t>
            </a:r>
          </a:p>
        </p:txBody>
      </p:sp>
      <p:sp>
        <p:nvSpPr>
          <p:cNvPr id="7" name="02">
            <a:extLst xmlns:a="http://schemas.openxmlformats.org/drawingml/2006/main">
              <a:ext uri="{FF2B5EF4-FFF2-40B4-BE49-F238E27FC236}">
                <a16:creationId xmlns:a16="http://schemas.microsoft.com/office/drawing/2014/main" id="{96BDB52B-0D33-4E46-9EED-6FB2D5A36F36}"/>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simulation_runs.csv의 2행을 확인합니다">
            <a:extLst xmlns:a="http://schemas.openxmlformats.org/drawingml/2006/main">
              <a:ext uri="{FF2B5EF4-FFF2-40B4-BE49-F238E27FC236}">
                <a16:creationId xmlns:a16="http://schemas.microsoft.com/office/drawing/2014/main" id="{E318E497-0BC9-4BEB-9745-FF74252E0D2F}"/>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simulation_runs.csv의 2행을 확인합니다.</a:t>
            </a:r>
          </a:p>
        </p:txBody>
      </p:sp>
      <p:sp>
        <p:nvSpPr>
          <p:cNvPr id="9" name="03">
            <a:extLst xmlns:a="http://schemas.openxmlformats.org/drawingml/2006/main">
              <a:ext uri="{FF2B5EF4-FFF2-40B4-BE49-F238E27FC236}">
                <a16:creationId xmlns:a16="http://schemas.microsoft.com/office/drawing/2014/main" id="{F659AAD9-906F-40D4-BB46-BDB555390A96}"/>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관찰 결과를 별도 열에 작성합니다.">
            <a:extLst xmlns:a="http://schemas.openxmlformats.org/drawingml/2006/main">
              <a:ext uri="{FF2B5EF4-FFF2-40B4-BE49-F238E27FC236}">
                <a16:creationId xmlns:a16="http://schemas.microsoft.com/office/drawing/2014/main" id="{F191BBBD-0CDE-4A17-A3A4-BCA66BE46F65}"/>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관찰 결과를 별도 열에 작성합니다.</a:t>
            </a:r>
          </a:p>
        </p:txBody>
      </p:sp>
      <p:sp>
        <p:nvSpPr>
          <p:cNvPr id="11" name="04">
            <a:extLst xmlns:a="http://schemas.openxmlformats.org/drawingml/2006/main">
              <a:ext uri="{FF2B5EF4-FFF2-40B4-BE49-F238E27FC236}">
                <a16:creationId xmlns:a16="http://schemas.microsoft.com/office/drawing/2014/main" id="{50EBE0EB-8254-4684-AB06-7DDC4BA3B669}"/>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취소는 06_stop_tasks.py로 확인합니다.">
            <a:extLst xmlns:a="http://schemas.openxmlformats.org/drawingml/2006/main">
              <a:ext uri="{FF2B5EF4-FFF2-40B4-BE49-F238E27FC236}">
                <a16:creationId xmlns:a16="http://schemas.microsoft.com/office/drawing/2014/main" id="{2355C7A6-F80F-40EB-9320-6B4F47625836}"/>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취소는 06_stop_tasks.py로 확인합니다.</a:t>
            </a:r>
          </a:p>
        </p:txBody>
      </p:sp>
    </p:spTree>
    <p:extLst>
      <p:ext uri="{BB962C8B-B14F-4D97-AF65-F5344CB8AC3E}">
        <p14:creationId xmlns:p14="http://schemas.microsoft.com/office/powerpoint/2010/main" val="170182320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7     장비 상태와 데이터 ">
            <a:extLst xmlns:a="http://schemas.openxmlformats.org/drawingml/2006/main">
              <a:ext uri="{FF2B5EF4-FFF2-40B4-BE49-F238E27FC236}">
                <a16:creationId xmlns:a16="http://schemas.microsoft.com/office/drawing/2014/main" id="{6D7DAD92-DB6D-40FD-9C7D-71B00C06C294}"/>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60087D03-696E-4188-8E64-9133BA3F4CA1}"/>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장비 상태를 표시하는 데이터</a:t>
            </a:r>
          </a:p>
        </p:txBody>
      </p:sp>
      <p:sp>
        <p:nvSpPr>
          <p:cNvPr id="3" name="52   /   CBNU Omniverse Worksh">
            <a:extLst xmlns:a="http://schemas.openxmlformats.org/drawingml/2006/main">
              <a:ext uri="{FF2B5EF4-FFF2-40B4-BE49-F238E27FC236}">
                <a16:creationId xmlns:a16="http://schemas.microsoft.com/office/drawing/2014/main" id="{FA4EC4A0-BCCA-41BE-BA30-5EC905EB229E}"/>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52   /   CBNU Omniverse Workshop</a:t>
            </a:r>
          </a:p>
        </p:txBody>
      </p:sp>
      <p:graphicFrame>
        <p:nvGraphicFramePr>
          <p:cNvPr id="4" name="">
            <a:extLst xmlns:a="http://schemas.openxmlformats.org/drawingml/2006/main">
              <a:ext uri="{FF2B5EF4-FFF2-40B4-BE49-F238E27FC236}">
                <a16:creationId xmlns:a16="http://schemas.microsoft.com/office/drawing/2014/main" id="{7EDBF6DC-BC8B-448D-827F-362A8F932F55}"/>
              </a:ext>
            </a:extLst>
          </p:cNvPr>
          <p:cNvGraphicFramePr/>
          <p:nvPr/>
        </p:nvGraphicFramePr>
        <p:xfrm>
          <a:off xmlns:a="http://schemas.openxmlformats.org/drawingml/2006/main" x="838200" y="2190750"/>
          <a:ext xmlns:a="http://schemas.openxmlformats.org/drawingml/2006/main" cx="13563600" cy="5095875"/>
        </p:xfrm>
        <a:graphic xmlns:a="http://schemas.openxmlformats.org/drawingml/2006/main">
          <a:graphicData uri="http://schemas.openxmlformats.org/drawingml/2006/table">
            <a:tbl>
              <a:tblPr/>
              <a:tblGrid>
                <a:gridCol w="4747260"/>
                <a:gridCol w="4408170"/>
                <a:gridCol w="4408170"/>
              </a:tblGrid>
              <a:tr h="849313">
                <a:tc>
                  <a:txBody>
                    <a:bodyPr/>
                    <a:lstStyle/>
                    <a:p>
                      <a:r>
                        <a:rPr sz="2100" b="1">
                          <a:solidFill>
                            <a:srgbClr val="202322"/>
                          </a:solidFill>
                          <a:latin typeface="Malgun Gothic"/>
                          <a:ea typeface="Malgun Gothic"/>
                          <a:cs typeface="Malgun Gothic"/>
                        </a:rPr>
                        <a:t>데이터</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단위</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이번 실습</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49313">
                <a:tc>
                  <a:txBody>
                    <a:bodyPr/>
                    <a:lstStyle/>
                    <a:p>
                      <a:r>
                        <a:rPr sz="2100" b="0">
                          <a:solidFill>
                            <a:srgbClr val="202322"/>
                          </a:solidFill>
                          <a:latin typeface="Malgun Gothic"/>
                          <a:ea typeface="Malgun Gothic"/>
                          <a:cs typeface="Malgun Gothic"/>
                        </a:rPr>
                        <a:t>time_s</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초</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재생 시각</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temperature_c</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°C</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합성 온도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vibration_mm_s</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mm/s</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합성 진동 속도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state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문자열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판정한 상태</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source</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문자열</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SYNTHETIC_CSV</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49100031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Y 2   PART 7     장비 상태와 데이터 ">
            <a:extLst xmlns:a="http://schemas.openxmlformats.org/drawingml/2006/main">
              <a:ext uri="{FF2B5EF4-FFF2-40B4-BE49-F238E27FC236}">
                <a16:creationId xmlns:a16="http://schemas.microsoft.com/office/drawing/2014/main" id="{5E9DDA5B-6431-4CCD-968D-947BBDDA257E}"/>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42A271D1-12BA-49C3-A182-C2CEC2835FCF}"/>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상태 판정 규칙</a:t>
            </a:r>
          </a:p>
        </p:txBody>
      </p:sp>
      <p:sp>
        <p:nvSpPr>
          <p:cNvPr id="3" name="53   /   CBNU Omniverse Worksh">
            <a:extLst xmlns:a="http://schemas.openxmlformats.org/drawingml/2006/main">
              <a:ext uri="{FF2B5EF4-FFF2-40B4-BE49-F238E27FC236}">
                <a16:creationId xmlns:a16="http://schemas.microsoft.com/office/drawing/2014/main" id="{DA54B269-9E83-4723-A3FA-4580BF501767}"/>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53   /   CBNU Omniverse Workshop</a:t>
            </a:r>
          </a:p>
        </p:txBody>
      </p:sp>
      <p:graphicFrame>
        <p:nvGraphicFramePr>
          <p:cNvPr id="4" name="">
            <a:extLst xmlns:a="http://schemas.openxmlformats.org/drawingml/2006/main">
              <a:ext uri="{FF2B5EF4-FFF2-40B4-BE49-F238E27FC236}">
                <a16:creationId xmlns:a16="http://schemas.microsoft.com/office/drawing/2014/main" id="{9E7B9A5D-3D89-482D-A46A-8A4E7A71BB25}"/>
              </a:ext>
            </a:extLst>
          </p:cNvPr>
          <p:cNvGraphicFramePr/>
          <p:nvPr/>
        </p:nvGraphicFramePr>
        <p:xfrm>
          <a:off xmlns:a="http://schemas.openxmlformats.org/drawingml/2006/main" x="838200" y="2190750"/>
          <a:ext xmlns:a="http://schemas.openxmlformats.org/drawingml/2006/main" cx="13563600" cy="3429000"/>
        </p:xfrm>
        <a:graphic xmlns:a="http://schemas.openxmlformats.org/drawingml/2006/main">
          <a:graphicData uri="http://schemas.openxmlformats.org/drawingml/2006/table">
            <a:tbl>
              <a:tblPr/>
              <a:tblGrid>
                <a:gridCol w="2825750"/>
                <a:gridCol w="7912100"/>
                <a:gridCol w="2825750"/>
              </a:tblGrid>
              <a:tr h="857250">
                <a:tc>
                  <a:txBody>
                    <a:bodyPr/>
                    <a:lstStyle/>
                    <a:p>
                      <a:r>
                        <a:rPr sz="2100" b="1">
                          <a:solidFill>
                            <a:srgbClr val="202322"/>
                          </a:solidFill>
                          <a:latin typeface="Malgun Gothic"/>
                          <a:ea typeface="Malgun Gothic"/>
                          <a:cs typeface="Malgun Gothic"/>
                        </a:rPr>
                        <a:t>상태</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조건</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색</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ALARM</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온도 ≥ 80 또는 진동 ≥ 7</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빨강</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WARNING</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ALARM이 아니며 온도 ≥ 60 또는 진동 ≥ 4</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주황</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NORMAL</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나머지 유효 데이터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녹색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
        <p:nvSpPr>
          <p:cNvPr id="5" name="교육용 임계값입니다. 실제 설비 기준에 적용하지 않습니">
            <a:extLst xmlns:a="http://schemas.openxmlformats.org/drawingml/2006/main">
              <a:ext uri="{FF2B5EF4-FFF2-40B4-BE49-F238E27FC236}">
                <a16:creationId xmlns:a16="http://schemas.microsoft.com/office/drawing/2014/main" id="{01453DFF-DD58-4EE8-95C4-28CB7B55FC4C}"/>
              </a:ext>
            </a:extLst>
          </p:cNvPr>
          <p:cNvSpPr>
            <a:spLocks xmlns:a="http://schemas.openxmlformats.org/drawingml/2006/main" noGrp="1"/>
          </p:cNvSpPr>
          <p:nvPr/>
        </p:nvSpPr>
        <p:spPr>
          <a:xfrm xmlns:a="http://schemas.openxmlformats.org/drawingml/2006/main">
            <a:off x="838200" y="7562850"/>
            <a:ext cx="1356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15C"/>
                </a:solidFill>
                <a:latin typeface="Malgun Gothic"/>
                <a:ea typeface="Malgun Gothic"/>
                <a:cs typeface="Malgun Gothic"/>
              </a:defRPr>
            </a:defPPr>
            <a:lvl1pPr>
              <a:defRPr sz="1650" b="0">
                <a:solidFill>
                  <a:srgbClr val="58615C"/>
                </a:solidFill>
                <a:latin typeface="Malgun Gothic"/>
                <a:ea typeface="Malgun Gothic"/>
                <a:cs typeface="Malgun Gothic"/>
              </a:defRPr>
            </a:lvl1pPr>
            <a:lvl2pPr>
              <a:defRPr sz="1650" b="0">
                <a:solidFill>
                  <a:srgbClr val="58615C"/>
                </a:solidFill>
                <a:latin typeface="Malgun Gothic"/>
                <a:ea typeface="Malgun Gothic"/>
                <a:cs typeface="Malgun Gothic"/>
              </a:defRPr>
            </a:lvl2pPr>
            <a:lvl3pPr>
              <a:defRPr sz="1650" b="0">
                <a:solidFill>
                  <a:srgbClr val="58615C"/>
                </a:solidFill>
                <a:latin typeface="Malgun Gothic"/>
                <a:ea typeface="Malgun Gothic"/>
                <a:cs typeface="Malgun Gothic"/>
              </a:defRPr>
            </a:lvl3pPr>
            <a:lvl4pPr>
              <a:defRPr sz="1650" b="0">
                <a:solidFill>
                  <a:srgbClr val="58615C"/>
                </a:solidFill>
                <a:latin typeface="Malgun Gothic"/>
                <a:ea typeface="Malgun Gothic"/>
                <a:cs typeface="Malgun Gothic"/>
              </a:defRPr>
            </a:lvl4pPr>
            <a:lvl5pPr>
              <a:defRPr sz="1650" b="0">
                <a:solidFill>
                  <a:srgbClr val="58615C"/>
                </a:solidFill>
                <a:latin typeface="Malgun Gothic"/>
                <a:ea typeface="Malgun Gothic"/>
                <a:cs typeface="Malgun Gothic"/>
              </a:defRPr>
            </a:lvl5pPr>
            <a:lvl6pPr>
              <a:defRPr sz="1650" b="0">
                <a:solidFill>
                  <a:srgbClr val="58615C"/>
                </a:solidFill>
                <a:latin typeface="Malgun Gothic"/>
                <a:ea typeface="Malgun Gothic"/>
                <a:cs typeface="Malgun Gothic"/>
              </a:defRPr>
            </a:lvl6pPr>
            <a:lvl7pPr>
              <a:defRPr sz="1650" b="0">
                <a:solidFill>
                  <a:srgbClr val="58615C"/>
                </a:solidFill>
                <a:latin typeface="Malgun Gothic"/>
                <a:ea typeface="Malgun Gothic"/>
                <a:cs typeface="Malgun Gothic"/>
              </a:defRPr>
            </a:lvl7pPr>
            <a:lvl8pPr>
              <a:defRPr sz="1650" b="0">
                <a:solidFill>
                  <a:srgbClr val="58615C"/>
                </a:solidFill>
                <a:latin typeface="Malgun Gothic"/>
                <a:ea typeface="Malgun Gothic"/>
                <a:cs typeface="Malgun Gothic"/>
              </a:defRPr>
            </a:lvl8pPr>
            <a:lvl9pPr>
              <a:defRPr sz="1650" b="0">
                <a:solidFill>
                  <a:srgbClr val="58615C"/>
                </a:solidFill>
                <a:latin typeface="Malgun Gothic"/>
                <a:ea typeface="Malgun Gothic"/>
                <a:cs typeface="Malgun Gothic"/>
              </a:defRPr>
            </a:lvl9pPr>
          </a:lstStyle>
          <a:p xmlns:a="http://schemas.openxmlformats.org/drawingml/2006/main">
            <a:pPr>
              <a:defRPr sz="1650" b="0">
                <a:solidFill>
                  <a:srgbClr val="58615C"/>
                </a:solidFill>
                <a:latin typeface="Malgun Gothic"/>
                <a:ea typeface="Malgun Gothic"/>
                <a:cs typeface="Malgun Gothic"/>
              </a:defRPr>
            </a:pPr>
            <a:r>
              <a:rPr sz="1650" b="0">
                <a:solidFill>
                  <a:srgbClr val="58615C"/>
                </a:solidFill>
                <a:latin typeface="Malgun Gothic"/>
                <a:ea typeface="Malgun Gothic"/>
                <a:cs typeface="Malgun Gothic"/>
              </a:rPr>
              <a:t>교육용 임계값입니다. 실제 설비 기준에 적용하지 않습니다.</a:t>
            </a:r>
          </a:p>
        </p:txBody>
      </p:sp>
    </p:spTree>
    <p:extLst>
      <p:ext uri="{BB962C8B-B14F-4D97-AF65-F5344CB8AC3E}">
        <p14:creationId xmlns:p14="http://schemas.microsoft.com/office/powerpoint/2010/main" val="110064613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Y 2   PART 7     장비 상태와 데이터 ">
            <a:extLst xmlns:a="http://schemas.openxmlformats.org/drawingml/2006/main">
              <a:ext uri="{FF2B5EF4-FFF2-40B4-BE49-F238E27FC236}">
                <a16:creationId xmlns:a16="http://schemas.microsoft.com/office/drawing/2014/main" id="{BDA546A4-E5BE-436E-9549-01CA8EC357F4}"/>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9586B90B-8C74-41C2-AE8D-FC3BBDD745A0}"/>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가상 온도와 판정 경계</a:t>
            </a:r>
          </a:p>
        </p:txBody>
      </p:sp>
      <p:sp>
        <p:nvSpPr>
          <p:cNvPr id="3" name="54   /   CBNU Omniverse Worksh">
            <a:extLst xmlns:a="http://schemas.openxmlformats.org/drawingml/2006/main">
              <a:ext uri="{FF2B5EF4-FFF2-40B4-BE49-F238E27FC236}">
                <a16:creationId xmlns:a16="http://schemas.microsoft.com/office/drawing/2014/main" id="{955F32C6-0CCB-4763-8FA9-2EADEE73223F}"/>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54   /   CBNU Omniverse Workshop</a:t>
            </a:r>
          </a:p>
        </p:txBody>
      </p:sp>
      <p:graphicFrame>
        <p:nvGraphicFramePr>
          <p:cNvPr id="4" name="Chart">
            <a:extLst xmlns:a="http://schemas.openxmlformats.org/drawingml/2006/main">
              <a:ext uri="{FF2B5EF4-FFF2-40B4-BE49-F238E27FC236}">
                <a16:creationId xmlns:a16="http://schemas.microsoft.com/office/drawing/2014/main" id="{5D9F0918-E456-426C-B31F-090DDD4ECA7F}"/>
              </a:ext>
            </a:extLst>
          </p:cNvPr>
          <p:cNvGraphicFramePr/>
          <p:nvPr/>
        </p:nvGraphicFramePr>
        <p:xfrm>
          <a:off xmlns:a="http://schemas.openxmlformats.org/drawingml/2006/main" x="838200" y="2095500"/>
          <a:ext xmlns:a="http://schemas.openxmlformats.org/drawingml/2006/main" cx="13563600" cy="5238750"/>
        </p:xfrm>
        <a:graphic xmlns:a="http://schemas.openxmlformats.org/drawingml/2006/main">
          <a:graphicData uri="http://schemas.openxmlformats.org/drawingml/2006/chart">
            <c:chart xmlns:r="http://schemas.openxmlformats.org/officeDocument/2006/relationships" xmlns:c="http://schemas.openxmlformats.org/drawingml/2006/chart" r:id="R2e96182f7d30499f"/>
          </a:graphicData>
        </a:graphic>
      </p:graphicFrame>
      <p:sp>
        <p:nvSpPr>
          <p:cNvPr id="5" name="가로축: time_s(초). 합성 데이터이며 진동 조건">
            <a:extLst xmlns:a="http://schemas.openxmlformats.org/drawingml/2006/main">
              <a:ext uri="{FF2B5EF4-FFF2-40B4-BE49-F238E27FC236}">
                <a16:creationId xmlns:a16="http://schemas.microsoft.com/office/drawing/2014/main" id="{0E659607-AF68-4948-8D5F-1F9F4107A57C}"/>
              </a:ext>
            </a:extLst>
          </p:cNvPr>
          <p:cNvSpPr>
            <a:spLocks xmlns:a="http://schemas.openxmlformats.org/drawingml/2006/main" noGrp="1"/>
          </p:cNvSpPr>
          <p:nvPr/>
        </p:nvSpPr>
        <p:spPr>
          <a:xfrm xmlns:a="http://schemas.openxmlformats.org/drawingml/2006/main">
            <a:off x="838200" y="7572375"/>
            <a:ext cx="1356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15C"/>
                </a:solidFill>
                <a:latin typeface="Malgun Gothic"/>
                <a:ea typeface="Malgun Gothic"/>
                <a:cs typeface="Malgun Gothic"/>
              </a:defRPr>
            </a:defPPr>
            <a:lvl1pPr>
              <a:defRPr sz="1650" b="0">
                <a:solidFill>
                  <a:srgbClr val="58615C"/>
                </a:solidFill>
                <a:latin typeface="Malgun Gothic"/>
                <a:ea typeface="Malgun Gothic"/>
                <a:cs typeface="Malgun Gothic"/>
              </a:defRPr>
            </a:lvl1pPr>
            <a:lvl2pPr>
              <a:defRPr sz="1650" b="0">
                <a:solidFill>
                  <a:srgbClr val="58615C"/>
                </a:solidFill>
                <a:latin typeface="Malgun Gothic"/>
                <a:ea typeface="Malgun Gothic"/>
                <a:cs typeface="Malgun Gothic"/>
              </a:defRPr>
            </a:lvl2pPr>
            <a:lvl3pPr>
              <a:defRPr sz="1650" b="0">
                <a:solidFill>
                  <a:srgbClr val="58615C"/>
                </a:solidFill>
                <a:latin typeface="Malgun Gothic"/>
                <a:ea typeface="Malgun Gothic"/>
                <a:cs typeface="Malgun Gothic"/>
              </a:defRPr>
            </a:lvl3pPr>
            <a:lvl4pPr>
              <a:defRPr sz="1650" b="0">
                <a:solidFill>
                  <a:srgbClr val="58615C"/>
                </a:solidFill>
                <a:latin typeface="Malgun Gothic"/>
                <a:ea typeface="Malgun Gothic"/>
                <a:cs typeface="Malgun Gothic"/>
              </a:defRPr>
            </a:lvl4pPr>
            <a:lvl5pPr>
              <a:defRPr sz="1650" b="0">
                <a:solidFill>
                  <a:srgbClr val="58615C"/>
                </a:solidFill>
                <a:latin typeface="Malgun Gothic"/>
                <a:ea typeface="Malgun Gothic"/>
                <a:cs typeface="Malgun Gothic"/>
              </a:defRPr>
            </a:lvl5pPr>
            <a:lvl6pPr>
              <a:defRPr sz="1650" b="0">
                <a:solidFill>
                  <a:srgbClr val="58615C"/>
                </a:solidFill>
                <a:latin typeface="Malgun Gothic"/>
                <a:ea typeface="Malgun Gothic"/>
                <a:cs typeface="Malgun Gothic"/>
              </a:defRPr>
            </a:lvl6pPr>
            <a:lvl7pPr>
              <a:defRPr sz="1650" b="0">
                <a:solidFill>
                  <a:srgbClr val="58615C"/>
                </a:solidFill>
                <a:latin typeface="Malgun Gothic"/>
                <a:ea typeface="Malgun Gothic"/>
                <a:cs typeface="Malgun Gothic"/>
              </a:defRPr>
            </a:lvl7pPr>
            <a:lvl8pPr>
              <a:defRPr sz="1650" b="0">
                <a:solidFill>
                  <a:srgbClr val="58615C"/>
                </a:solidFill>
                <a:latin typeface="Malgun Gothic"/>
                <a:ea typeface="Malgun Gothic"/>
                <a:cs typeface="Malgun Gothic"/>
              </a:defRPr>
            </a:lvl8pPr>
            <a:lvl9pPr>
              <a:defRPr sz="1650" b="0">
                <a:solidFill>
                  <a:srgbClr val="58615C"/>
                </a:solidFill>
                <a:latin typeface="Malgun Gothic"/>
                <a:ea typeface="Malgun Gothic"/>
                <a:cs typeface="Malgun Gothic"/>
              </a:defRPr>
            </a:lvl9pPr>
          </a:lstStyle>
          <a:p xmlns:a="http://schemas.openxmlformats.org/drawingml/2006/main">
            <a:pPr>
              <a:defRPr sz="1650" b="0">
                <a:solidFill>
                  <a:srgbClr val="58615C"/>
                </a:solidFill>
                <a:latin typeface="Malgun Gothic"/>
                <a:ea typeface="Malgun Gothic"/>
                <a:cs typeface="Malgun Gothic"/>
              </a:defRPr>
            </a:pPr>
            <a:r>
              <a:rPr sz="1650" b="0">
                <a:solidFill>
                  <a:srgbClr val="58615C"/>
                </a:solidFill>
                <a:latin typeface="Malgun Gothic"/>
                <a:ea typeface="Malgun Gothic"/>
                <a:cs typeface="Malgun Gothic"/>
              </a:rPr>
              <a:t>가로축: time_s(초). 합성 데이터이며 진동 조건도 별도로 판정합니다.</a:t>
            </a:r>
          </a:p>
        </p:txBody>
      </p:sp>
    </p:spTree>
    <p:extLst>
      <p:ext uri="{BB962C8B-B14F-4D97-AF65-F5344CB8AC3E}">
        <p14:creationId xmlns:p14="http://schemas.microsoft.com/office/powerpoint/2010/main" val="154277261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AY 2   PART 7     장비 상태와 데이터 ">
            <a:extLst xmlns:a="http://schemas.openxmlformats.org/drawingml/2006/main">
              <a:ext uri="{FF2B5EF4-FFF2-40B4-BE49-F238E27FC236}">
                <a16:creationId xmlns:a16="http://schemas.microsoft.com/office/drawing/2014/main" id="{28A2BC80-02EE-4694-ABBF-49124E0E4E46}"/>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799C292B-6B48-46D5-AF6C-30BC8CCC896B}"/>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여러 장비에서 만나는 데이터 문제</a:t>
            </a:r>
          </a:p>
        </p:txBody>
      </p:sp>
      <p:sp>
        <p:nvSpPr>
          <p:cNvPr id="3" name="55   /   CBNU Omniverse Worksh">
            <a:extLst xmlns:a="http://schemas.openxmlformats.org/drawingml/2006/main">
              <a:ext uri="{FF2B5EF4-FFF2-40B4-BE49-F238E27FC236}">
                <a16:creationId xmlns:a16="http://schemas.microsoft.com/office/drawing/2014/main" id="{5B77F41E-71DB-46D0-8E9F-FC00E7282432}"/>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55   /   CBNU Omniverse Workshop</a:t>
            </a:r>
          </a:p>
        </p:txBody>
      </p:sp>
      <p:graphicFrame>
        <p:nvGraphicFramePr>
          <p:cNvPr id="4" name="">
            <a:extLst xmlns:a="http://schemas.openxmlformats.org/drawingml/2006/main">
              <a:ext uri="{FF2B5EF4-FFF2-40B4-BE49-F238E27FC236}">
                <a16:creationId xmlns:a16="http://schemas.microsoft.com/office/drawing/2014/main" id="{1D2080D2-AB95-4634-8049-C259027AAD48}"/>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4488497"/>
                <a:gridCol w="5886553"/>
                <a:gridCol w="3188550"/>
              </a:tblGrid>
              <a:tr h="857250">
                <a:tc>
                  <a:txBody>
                    <a:bodyPr/>
                    <a:lstStyle/>
                    <a:p>
                      <a:r>
                        <a:rPr sz="2100" b="1">
                          <a:solidFill>
                            <a:srgbClr val="202322"/>
                          </a:solidFill>
                          <a:latin typeface="Malgun Gothic"/>
                          <a:ea typeface="Malgun Gothic"/>
                          <a:cs typeface="Malgun Gothic"/>
                        </a:rPr>
                        <a:t>상황</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표시</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예</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유효한 최신 값</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NORMAL / WARNING / ALARM</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온도·진동 판정</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값이 비어 있음</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UNKNOWN, 회색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2초 E03</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샘플이 3초보다 오래됨</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STALE, 청회색</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6초 E02</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재수신한 유효 값</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다시 판정</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4초 E03</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49113818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2   PART 7     장비 상태와 데이터 ">
            <a:extLst xmlns:a="http://schemas.openxmlformats.org/drawingml/2006/main">
              <a:ext uri="{FF2B5EF4-FFF2-40B4-BE49-F238E27FC236}">
                <a16:creationId xmlns:a16="http://schemas.microsoft.com/office/drawing/2014/main" id="{0DB85039-1979-477E-BD3F-A6373E051E51}"/>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4B5466F0-0706-440E-B813-42418C2D01C0}"/>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세 장비의 상태 재생</a:t>
            </a:r>
          </a:p>
        </p:txBody>
      </p:sp>
      <p:sp>
        <p:nvSpPr>
          <p:cNvPr id="3" name="56   /   CBNU Omniverse Worksh">
            <a:extLst xmlns:a="http://schemas.openxmlformats.org/drawingml/2006/main">
              <a:ext uri="{FF2B5EF4-FFF2-40B4-BE49-F238E27FC236}">
                <a16:creationId xmlns:a16="http://schemas.microsoft.com/office/drawing/2014/main" id="{8ADA8696-D561-45FD-A309-B48AFBA93D56}"/>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56   /   CBNU Omniverse Workshop</a:t>
            </a:r>
          </a:p>
        </p:txBody>
      </p:sp>
      <p:sp>
        <p:nvSpPr>
          <p:cNvPr id="4" name="08_multi_equipment.usda / 10_m">
            <a:extLst xmlns:a="http://schemas.openxmlformats.org/drawingml/2006/main">
              <a:ext uri="{FF2B5EF4-FFF2-40B4-BE49-F238E27FC236}">
                <a16:creationId xmlns:a16="http://schemas.microsoft.com/office/drawing/2014/main" id="{CE9689F4-1687-4F81-929A-35E443290E17}"/>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08_multi_equipment.usda / 10_multi_equipment.py</a:t>
            </a:r>
          </a:p>
        </p:txBody>
      </p:sp>
      <p:sp>
        <p:nvSpPr>
          <p:cNvPr id="5" name="01">
            <a:extLst xmlns:a="http://schemas.openxmlformats.org/drawingml/2006/main">
              <a:ext uri="{FF2B5EF4-FFF2-40B4-BE49-F238E27FC236}">
                <a16:creationId xmlns:a16="http://schemas.microsoft.com/office/drawing/2014/main" id="{7F6F8CF1-CF98-4B64-99B9-AD29DE09DB80}"/>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E01, E02, E03의 표시구를 확인합니다.">
            <a:extLst xmlns:a="http://schemas.openxmlformats.org/drawingml/2006/main">
              <a:ext uri="{FF2B5EF4-FFF2-40B4-BE49-F238E27FC236}">
                <a16:creationId xmlns:a16="http://schemas.microsoft.com/office/drawing/2014/main" id="{8D920E79-7A87-4C22-802C-6DDF574E10B9}"/>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E01, E02, E03의 표시구를 확인합니다.</a:t>
            </a:r>
          </a:p>
        </p:txBody>
      </p:sp>
      <p:sp>
        <p:nvSpPr>
          <p:cNvPr id="7" name="02">
            <a:extLst xmlns:a="http://schemas.openxmlformats.org/drawingml/2006/main">
              <a:ext uri="{FF2B5EF4-FFF2-40B4-BE49-F238E27FC236}">
                <a16:creationId xmlns:a16="http://schemas.microsoft.com/office/drawing/2014/main" id="{12FE4EE3-254B-4C30-97AF-15279F215ADB}"/>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2초 UNKNOWN과 6초 STALE을 찾습니다.">
            <a:extLst xmlns:a="http://schemas.openxmlformats.org/drawingml/2006/main">
              <a:ext uri="{FF2B5EF4-FFF2-40B4-BE49-F238E27FC236}">
                <a16:creationId xmlns:a16="http://schemas.microsoft.com/office/drawing/2014/main" id="{DA73FF75-C050-40FB-87D0-CFAB2916887E}"/>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2초 UNKNOWN과 6초 STALE을 찾습니다.</a:t>
            </a:r>
          </a:p>
        </p:txBody>
      </p:sp>
      <p:sp>
        <p:nvSpPr>
          <p:cNvPr id="9" name="03">
            <a:extLst xmlns:a="http://schemas.openxmlformats.org/drawingml/2006/main">
              <a:ext uri="{FF2B5EF4-FFF2-40B4-BE49-F238E27FC236}">
                <a16:creationId xmlns:a16="http://schemas.microsoft.com/office/drawing/2014/main" id="{5429965B-D6A6-4992-A68A-ED9CC84A21B0}"/>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multi_equipment_report.csv의 12">
            <a:extLst xmlns:a="http://schemas.openxmlformats.org/drawingml/2006/main">
              <a:ext uri="{FF2B5EF4-FFF2-40B4-BE49-F238E27FC236}">
                <a16:creationId xmlns:a16="http://schemas.microsoft.com/office/drawing/2014/main" id="{E838032C-C565-4C23-A9CF-8EC16AC6A3A5}"/>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multi_equipment_report.csv의 12행을 확인합니다.</a:t>
            </a:r>
          </a:p>
        </p:txBody>
      </p:sp>
      <p:sp>
        <p:nvSpPr>
          <p:cNvPr id="11" name="04">
            <a:extLst xmlns:a="http://schemas.openxmlformats.org/drawingml/2006/main">
              <a:ext uri="{FF2B5EF4-FFF2-40B4-BE49-F238E27FC236}">
                <a16:creationId xmlns:a16="http://schemas.microsoft.com/office/drawing/2014/main" id="{6B52AC43-D760-4823-8DA8-FC876876D4B3}"/>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마지막 상태: E01 정상, E02 지연, E03 경보">
            <a:extLst xmlns:a="http://schemas.openxmlformats.org/drawingml/2006/main">
              <a:ext uri="{FF2B5EF4-FFF2-40B4-BE49-F238E27FC236}">
                <a16:creationId xmlns:a16="http://schemas.microsoft.com/office/drawing/2014/main" id="{5EEABDCF-1C9F-4BCD-973A-398E80A518A4}"/>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마지막 상태: E01 정상, E02 지연, E03 경보.</a:t>
            </a:r>
          </a:p>
        </p:txBody>
      </p:sp>
    </p:spTree>
    <p:extLst>
      <p:ext uri="{BB962C8B-B14F-4D97-AF65-F5344CB8AC3E}">
        <p14:creationId xmlns:p14="http://schemas.microsoft.com/office/powerpoint/2010/main" val="152725649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Y 2   PART 7     장비 상태와 데이터 ">
            <a:extLst xmlns:a="http://schemas.openxmlformats.org/drawingml/2006/main">
              <a:ext uri="{FF2B5EF4-FFF2-40B4-BE49-F238E27FC236}">
                <a16:creationId xmlns:a16="http://schemas.microsoft.com/office/drawing/2014/main" id="{80333721-2093-419F-BD1F-BF27FC099ED9}"/>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67C772D7-1440-4013-B0C2-BD0D7CACF82E}"/>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선택 실습: 온도 분포 비교</a:t>
            </a:r>
          </a:p>
        </p:txBody>
      </p:sp>
      <p:sp>
        <p:nvSpPr>
          <p:cNvPr id="3" name="57   /   CBNU Omniverse Worksh">
            <a:extLst xmlns:a="http://schemas.openxmlformats.org/drawingml/2006/main">
              <a:ext uri="{FF2B5EF4-FFF2-40B4-BE49-F238E27FC236}">
                <a16:creationId xmlns:a16="http://schemas.microsoft.com/office/drawing/2014/main" id="{0E4499F3-8412-4A8E-B062-E5DD118C1796}"/>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57   /   CBNU Omniverse Workshop</a:t>
            </a:r>
          </a:p>
        </p:txBody>
      </p:sp>
      <p:graphicFrame>
        <p:nvGraphicFramePr>
          <p:cNvPr id="4" name="">
            <a:extLst xmlns:a="http://schemas.openxmlformats.org/drawingml/2006/main">
              <a:ext uri="{FF2B5EF4-FFF2-40B4-BE49-F238E27FC236}">
                <a16:creationId xmlns:a16="http://schemas.microsoft.com/office/drawing/2014/main" id="{BEBF694B-ADB6-4D6A-B16D-8AD96903CB55}"/>
              </a:ext>
            </a:extLst>
          </p:cNvPr>
          <p:cNvGraphicFramePr/>
          <p:nvPr/>
        </p:nvGraphicFramePr>
        <p:xfrm>
          <a:off xmlns:a="http://schemas.openxmlformats.org/drawingml/2006/main" x="838200" y="2190750"/>
          <a:ext xmlns:a="http://schemas.openxmlformats.org/drawingml/2006/main" cx="13563600" cy="4286250"/>
        </p:xfrm>
        <a:graphic xmlns:a="http://schemas.openxmlformats.org/drawingml/2006/main">
          <a:graphicData uri="http://schemas.openxmlformats.org/drawingml/2006/table">
            <a:tbl>
              <a:tblPr/>
              <a:tblGrid>
                <a:gridCol w="3980289"/>
                <a:gridCol w="5021288"/>
                <a:gridCol w="4562023"/>
              </a:tblGrid>
              <a:tr h="857250">
                <a:tc>
                  <a:txBody>
                    <a:bodyPr/>
                    <a:lstStyle/>
                    <a:p>
                      <a:r>
                        <a:rPr sz="2100" b="1">
                          <a:solidFill>
                            <a:srgbClr val="202322"/>
                          </a:solidFill>
                          <a:latin typeface="Malgun Gothic"/>
                          <a:ea typeface="Malgun Gothic"/>
                          <a:cs typeface="Malgun Gothic"/>
                        </a:rPr>
                        <a:t>항목</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baseline</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hotspot</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57250">
                <a:tc>
                  <a:txBody>
                    <a:bodyPr/>
                    <a:lstStyle/>
                    <a:p>
                      <a:r>
                        <a:rPr sz="2100" b="0">
                          <a:solidFill>
                            <a:srgbClr val="202322"/>
                          </a:solidFill>
                          <a:latin typeface="Malgun Gothic"/>
                          <a:ea typeface="Malgun Gothic"/>
                          <a:cs typeface="Malgun Gothic"/>
                        </a:rPr>
                        <a:t>면 개수</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24</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24</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가상 온도 범위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30–45°C</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30–95°C</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고정 범례</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20–100°C</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20–100°C</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57250">
                <a:tc>
                  <a:txBody>
                    <a:bodyPr/>
                    <a:lstStyle/>
                    <a:p>
                      <a:r>
                        <a:rPr sz="2100" b="0">
                          <a:solidFill>
                            <a:srgbClr val="202322"/>
                          </a:solidFill>
                          <a:latin typeface="Malgun Gothic"/>
                          <a:ea typeface="Malgun Gothic"/>
                          <a:cs typeface="Malgun Gothic"/>
                        </a:rPr>
                        <a:t>표현</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면별 displayColor</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동일 면에 다른 값</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
        <p:nvSpPr>
          <p:cNvPr id="5" name="합성 온도 분포입니다. CAE 해석·실제 센서 측정은 ">
            <a:extLst xmlns:a="http://schemas.openxmlformats.org/drawingml/2006/main">
              <a:ext uri="{FF2B5EF4-FFF2-40B4-BE49-F238E27FC236}">
                <a16:creationId xmlns:a16="http://schemas.microsoft.com/office/drawing/2014/main" id="{6F64BADB-79AF-4547-9108-93FED18F6504}"/>
              </a:ext>
            </a:extLst>
          </p:cNvPr>
          <p:cNvSpPr>
            <a:spLocks xmlns:a="http://schemas.openxmlformats.org/drawingml/2006/main" noGrp="1"/>
          </p:cNvSpPr>
          <p:nvPr/>
        </p:nvSpPr>
        <p:spPr>
          <a:xfrm xmlns:a="http://schemas.openxmlformats.org/drawingml/2006/main">
            <a:off x="838200" y="7562850"/>
            <a:ext cx="1356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15C"/>
                </a:solidFill>
                <a:latin typeface="Malgun Gothic"/>
                <a:ea typeface="Malgun Gothic"/>
                <a:cs typeface="Malgun Gothic"/>
              </a:defRPr>
            </a:defPPr>
            <a:lvl1pPr>
              <a:defRPr sz="1650" b="0">
                <a:solidFill>
                  <a:srgbClr val="58615C"/>
                </a:solidFill>
                <a:latin typeface="Malgun Gothic"/>
                <a:ea typeface="Malgun Gothic"/>
                <a:cs typeface="Malgun Gothic"/>
              </a:defRPr>
            </a:lvl1pPr>
            <a:lvl2pPr>
              <a:defRPr sz="1650" b="0">
                <a:solidFill>
                  <a:srgbClr val="58615C"/>
                </a:solidFill>
                <a:latin typeface="Malgun Gothic"/>
                <a:ea typeface="Malgun Gothic"/>
                <a:cs typeface="Malgun Gothic"/>
              </a:defRPr>
            </a:lvl2pPr>
            <a:lvl3pPr>
              <a:defRPr sz="1650" b="0">
                <a:solidFill>
                  <a:srgbClr val="58615C"/>
                </a:solidFill>
                <a:latin typeface="Malgun Gothic"/>
                <a:ea typeface="Malgun Gothic"/>
                <a:cs typeface="Malgun Gothic"/>
              </a:defRPr>
            </a:lvl3pPr>
            <a:lvl4pPr>
              <a:defRPr sz="1650" b="0">
                <a:solidFill>
                  <a:srgbClr val="58615C"/>
                </a:solidFill>
                <a:latin typeface="Malgun Gothic"/>
                <a:ea typeface="Malgun Gothic"/>
                <a:cs typeface="Malgun Gothic"/>
              </a:defRPr>
            </a:lvl4pPr>
            <a:lvl5pPr>
              <a:defRPr sz="1650" b="0">
                <a:solidFill>
                  <a:srgbClr val="58615C"/>
                </a:solidFill>
                <a:latin typeface="Malgun Gothic"/>
                <a:ea typeface="Malgun Gothic"/>
                <a:cs typeface="Malgun Gothic"/>
              </a:defRPr>
            </a:lvl5pPr>
            <a:lvl6pPr>
              <a:defRPr sz="1650" b="0">
                <a:solidFill>
                  <a:srgbClr val="58615C"/>
                </a:solidFill>
                <a:latin typeface="Malgun Gothic"/>
                <a:ea typeface="Malgun Gothic"/>
                <a:cs typeface="Malgun Gothic"/>
              </a:defRPr>
            </a:lvl6pPr>
            <a:lvl7pPr>
              <a:defRPr sz="1650" b="0">
                <a:solidFill>
                  <a:srgbClr val="58615C"/>
                </a:solidFill>
                <a:latin typeface="Malgun Gothic"/>
                <a:ea typeface="Malgun Gothic"/>
                <a:cs typeface="Malgun Gothic"/>
              </a:defRPr>
            </a:lvl7pPr>
            <a:lvl8pPr>
              <a:defRPr sz="1650" b="0">
                <a:solidFill>
                  <a:srgbClr val="58615C"/>
                </a:solidFill>
                <a:latin typeface="Malgun Gothic"/>
                <a:ea typeface="Malgun Gothic"/>
                <a:cs typeface="Malgun Gothic"/>
              </a:defRPr>
            </a:lvl8pPr>
            <a:lvl9pPr>
              <a:defRPr sz="1650" b="0">
                <a:solidFill>
                  <a:srgbClr val="58615C"/>
                </a:solidFill>
                <a:latin typeface="Malgun Gothic"/>
                <a:ea typeface="Malgun Gothic"/>
                <a:cs typeface="Malgun Gothic"/>
              </a:defRPr>
            </a:lvl9pPr>
          </a:lstStyle>
          <a:p xmlns:a="http://schemas.openxmlformats.org/drawingml/2006/main">
            <a:pPr>
              <a:defRPr sz="1650" b="0">
                <a:solidFill>
                  <a:srgbClr val="58615C"/>
                </a:solidFill>
                <a:latin typeface="Malgun Gothic"/>
                <a:ea typeface="Malgun Gothic"/>
                <a:cs typeface="Malgun Gothic"/>
              </a:defRPr>
            </a:pPr>
            <a:r>
              <a:rPr sz="1650" b="0">
                <a:solidFill>
                  <a:srgbClr val="58615C"/>
                </a:solidFill>
                <a:latin typeface="Malgun Gothic"/>
                <a:ea typeface="Malgun Gothic"/>
                <a:cs typeface="Malgun Gothic"/>
              </a:rPr>
              <a:t>합성 온도 분포입니다. CAE 해석·실제 센서 측정은 수행하지 않습니다.</a:t>
            </a:r>
          </a:p>
        </p:txBody>
      </p:sp>
    </p:spTree>
    <p:extLst>
      <p:ext uri="{BB962C8B-B14F-4D97-AF65-F5344CB8AC3E}">
        <p14:creationId xmlns:p14="http://schemas.microsoft.com/office/powerpoint/2010/main" val="99198014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Y 2   PART 7     장비 상태와 데이터 ">
            <a:extLst xmlns:a="http://schemas.openxmlformats.org/drawingml/2006/main">
              <a:ext uri="{FF2B5EF4-FFF2-40B4-BE49-F238E27FC236}">
                <a16:creationId xmlns:a16="http://schemas.microsoft.com/office/drawing/2014/main" id="{83998F8F-193E-421C-AAAD-A7A03B2AF7B8}"/>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DAY 2   PART 7     장비 상태와 데이터 품질</a:t>
            </a:r>
          </a:p>
        </p:txBody>
      </p:sp>
      <p:sp>
        <p:nvSpPr>
          <p:cNvPr id="2" name="Title">
            <a:extLst xmlns:a="http://schemas.openxmlformats.org/drawingml/2006/main">
              <a:ext uri="{FF2B5EF4-FFF2-40B4-BE49-F238E27FC236}">
                <a16:creationId xmlns:a16="http://schemas.microsoft.com/office/drawing/2014/main" id="{8327DA17-A5F2-471E-B098-37EA111F19A5}"/>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팀별 미니 프로젝트</a:t>
            </a:r>
          </a:p>
        </p:txBody>
      </p:sp>
      <p:sp>
        <p:nvSpPr>
          <p:cNvPr id="3" name="58   /   CBNU Omniverse Worksh">
            <a:extLst xmlns:a="http://schemas.openxmlformats.org/drawingml/2006/main">
              <a:ext uri="{FF2B5EF4-FFF2-40B4-BE49-F238E27FC236}">
                <a16:creationId xmlns:a16="http://schemas.microsoft.com/office/drawing/2014/main" id="{9907F47D-535D-4642-83FC-41318C087148}"/>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58   /   CBNU Omniverse Workshop</a:t>
            </a:r>
          </a:p>
        </p:txBody>
      </p:sp>
      <p:sp>
        <p:nvSpPr>
          <p:cNvPr id="4" name="기본 상태 재생 후 두 경로 중 하나 선택">
            <a:extLst xmlns:a="http://schemas.openxmlformats.org/drawingml/2006/main">
              <a:ext uri="{FF2B5EF4-FFF2-40B4-BE49-F238E27FC236}">
                <a16:creationId xmlns:a16="http://schemas.microsoft.com/office/drawing/2014/main" id="{1B73695D-E59C-4F48-81D3-415E43F450D3}"/>
              </a:ext>
            </a:extLst>
          </p:cNvPr>
          <p:cNvSpPr>
            <a:spLocks xmlns:a="http://schemas.openxmlformats.org/drawingml/2006/main" noGrp="1"/>
          </p:cNvSpPr>
          <p:nvPr/>
        </p:nvSpPr>
        <p:spPr>
          <a:xfrm xmlns:a="http://schemas.openxmlformats.org/drawingml/2006/main">
            <a:off x="838200" y="2076450"/>
            <a:ext cx="1356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5634B"/>
                </a:solidFill>
                <a:latin typeface="Malgun Gothic"/>
                <a:ea typeface="Malgun Gothic"/>
                <a:cs typeface="Malgun Gothic"/>
              </a:defRPr>
            </a:defPPr>
            <a:lvl1pPr>
              <a:defRPr sz="1875" b="0">
                <a:solidFill>
                  <a:srgbClr val="25634B"/>
                </a:solidFill>
                <a:latin typeface="Malgun Gothic"/>
                <a:ea typeface="Malgun Gothic"/>
                <a:cs typeface="Malgun Gothic"/>
              </a:defRPr>
            </a:lvl1pPr>
            <a:lvl2pPr>
              <a:defRPr sz="1875" b="0">
                <a:solidFill>
                  <a:srgbClr val="25634B"/>
                </a:solidFill>
                <a:latin typeface="Malgun Gothic"/>
                <a:ea typeface="Malgun Gothic"/>
                <a:cs typeface="Malgun Gothic"/>
              </a:defRPr>
            </a:lvl2pPr>
            <a:lvl3pPr>
              <a:defRPr sz="1875" b="0">
                <a:solidFill>
                  <a:srgbClr val="25634B"/>
                </a:solidFill>
                <a:latin typeface="Malgun Gothic"/>
                <a:ea typeface="Malgun Gothic"/>
                <a:cs typeface="Malgun Gothic"/>
              </a:defRPr>
            </a:lvl3pPr>
            <a:lvl4pPr>
              <a:defRPr sz="1875" b="0">
                <a:solidFill>
                  <a:srgbClr val="25634B"/>
                </a:solidFill>
                <a:latin typeface="Malgun Gothic"/>
                <a:ea typeface="Malgun Gothic"/>
                <a:cs typeface="Malgun Gothic"/>
              </a:defRPr>
            </a:lvl4pPr>
            <a:lvl5pPr>
              <a:defRPr sz="1875" b="0">
                <a:solidFill>
                  <a:srgbClr val="25634B"/>
                </a:solidFill>
                <a:latin typeface="Malgun Gothic"/>
                <a:ea typeface="Malgun Gothic"/>
                <a:cs typeface="Malgun Gothic"/>
              </a:defRPr>
            </a:lvl5pPr>
            <a:lvl6pPr>
              <a:defRPr sz="1875" b="0">
                <a:solidFill>
                  <a:srgbClr val="25634B"/>
                </a:solidFill>
                <a:latin typeface="Malgun Gothic"/>
                <a:ea typeface="Malgun Gothic"/>
                <a:cs typeface="Malgun Gothic"/>
              </a:defRPr>
            </a:lvl6pPr>
            <a:lvl7pPr>
              <a:defRPr sz="1875" b="0">
                <a:solidFill>
                  <a:srgbClr val="25634B"/>
                </a:solidFill>
                <a:latin typeface="Malgun Gothic"/>
                <a:ea typeface="Malgun Gothic"/>
                <a:cs typeface="Malgun Gothic"/>
              </a:defRPr>
            </a:lvl7pPr>
            <a:lvl8pPr>
              <a:defRPr sz="1875" b="0">
                <a:solidFill>
                  <a:srgbClr val="25634B"/>
                </a:solidFill>
                <a:latin typeface="Malgun Gothic"/>
                <a:ea typeface="Malgun Gothic"/>
                <a:cs typeface="Malgun Gothic"/>
              </a:defRPr>
            </a:lvl8pPr>
            <a:lvl9pPr>
              <a:defRPr sz="1875" b="0">
                <a:solidFill>
                  <a:srgbClr val="25634B"/>
                </a:solidFill>
                <a:latin typeface="Malgun Gothic"/>
                <a:ea typeface="Malgun Gothic"/>
                <a:cs typeface="Malgun Gothic"/>
              </a:defRPr>
            </a:lvl9pPr>
          </a:lstStyle>
          <a:p xmlns:a="http://schemas.openxmlformats.org/drawingml/2006/main">
            <a:pPr>
              <a:defRPr sz="1875" b="0">
                <a:solidFill>
                  <a:srgbClr val="25634B"/>
                </a:solidFill>
                <a:latin typeface="Malgun Gothic"/>
                <a:ea typeface="Malgun Gothic"/>
                <a:cs typeface="Malgun Gothic"/>
              </a:defRPr>
            </a:pPr>
            <a:r>
              <a:rPr sz="1875" b="0">
                <a:solidFill>
                  <a:srgbClr val="25634B"/>
                </a:solidFill>
                <a:latin typeface="Malgun Gothic"/>
                <a:ea typeface="Malgun Gothic"/>
                <a:cs typeface="Malgun Gothic"/>
              </a:rPr>
              <a:t>기본 상태 재생 후 두 경로 중 하나 선택</a:t>
            </a:r>
          </a:p>
        </p:txBody>
      </p:sp>
      <p:sp>
        <p:nvSpPr>
          <p:cNvPr id="5" name="01">
            <a:extLst xmlns:a="http://schemas.openxmlformats.org/drawingml/2006/main">
              <a:ext uri="{FF2B5EF4-FFF2-40B4-BE49-F238E27FC236}">
                <a16:creationId xmlns:a16="http://schemas.microsoft.com/office/drawing/2014/main" id="{451A049D-B6F6-410C-98FC-4AE9239CDDFB}"/>
              </a:ext>
            </a:extLst>
          </p:cNvPr>
          <p:cNvSpPr>
            <a:spLocks xmlns:a="http://schemas.openxmlformats.org/drawingml/2006/main" noGrp="1"/>
          </p:cNvSpPr>
          <p:nvPr/>
        </p:nvSpPr>
        <p:spPr>
          <a:xfrm xmlns:a="http://schemas.openxmlformats.org/drawingml/2006/main">
            <a:off x="838200" y="3143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01</a:t>
            </a:r>
          </a:p>
        </p:txBody>
      </p:sp>
      <p:sp>
        <p:nvSpPr>
          <p:cNvPr id="6" name="운영 팀: 3개 장비의 결측·지연 상태를 설명합니다.">
            <a:extLst xmlns:a="http://schemas.openxmlformats.org/drawingml/2006/main">
              <a:ext uri="{FF2B5EF4-FFF2-40B4-BE49-F238E27FC236}">
                <a16:creationId xmlns:a16="http://schemas.microsoft.com/office/drawing/2014/main" id="{8C22C16E-D5D8-4C02-BD48-2BF43F459707}"/>
              </a:ext>
            </a:extLst>
          </p:cNvPr>
          <p:cNvSpPr>
            <a:spLocks xmlns:a="http://schemas.openxmlformats.org/drawingml/2006/main" noGrp="1"/>
          </p:cNvSpPr>
          <p:nvPr/>
        </p:nvSpPr>
        <p:spPr>
          <a:xfrm xmlns:a="http://schemas.openxmlformats.org/drawingml/2006/main">
            <a:off x="1952625" y="314325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운영 팀: 3개 장비의 결측·지연 상태를 설명합니다.</a:t>
            </a:r>
          </a:p>
        </p:txBody>
      </p:sp>
      <p:sp>
        <p:nvSpPr>
          <p:cNvPr id="7" name="02">
            <a:extLst xmlns:a="http://schemas.openxmlformats.org/drawingml/2006/main">
              <a:ext uri="{FF2B5EF4-FFF2-40B4-BE49-F238E27FC236}">
                <a16:creationId xmlns:a16="http://schemas.microsoft.com/office/drawing/2014/main" id="{4AE8C78B-76E7-4497-84C0-C9D4B2DBFA94}"/>
              </a:ext>
            </a:extLst>
          </p:cNvPr>
          <p:cNvSpPr>
            <a:spLocks xmlns:a="http://schemas.openxmlformats.org/drawingml/2006/main" noGrp="1"/>
          </p:cNvSpPr>
          <p:nvPr/>
        </p:nvSpPr>
        <p:spPr>
          <a:xfrm xmlns:a="http://schemas.openxmlformats.org/drawingml/2006/main">
            <a:off x="838200" y="41433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02</a:t>
            </a:r>
          </a:p>
        </p:txBody>
      </p:sp>
      <p:sp>
        <p:nvSpPr>
          <p:cNvPr id="8" name="해석 시각화 팀: 두 온도 분포를 같은 범례로 비교합니">
            <a:extLst xmlns:a="http://schemas.openxmlformats.org/drawingml/2006/main">
              <a:ext uri="{FF2B5EF4-FFF2-40B4-BE49-F238E27FC236}">
                <a16:creationId xmlns:a16="http://schemas.microsoft.com/office/drawing/2014/main" id="{B31DC86A-3FBE-429C-87AD-1EC32FFA534A}"/>
              </a:ext>
            </a:extLst>
          </p:cNvPr>
          <p:cNvSpPr>
            <a:spLocks xmlns:a="http://schemas.openxmlformats.org/drawingml/2006/main" noGrp="1"/>
          </p:cNvSpPr>
          <p:nvPr/>
        </p:nvSpPr>
        <p:spPr>
          <a:xfrm xmlns:a="http://schemas.openxmlformats.org/drawingml/2006/main">
            <a:off x="1952625" y="414337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해석 시각화 팀: 두 온도 분포를 같은 범례로 비교합니다.</a:t>
            </a:r>
          </a:p>
        </p:txBody>
      </p:sp>
      <p:sp>
        <p:nvSpPr>
          <p:cNvPr id="9" name="03">
            <a:extLst xmlns:a="http://schemas.openxmlformats.org/drawingml/2006/main">
              <a:ext uri="{FF2B5EF4-FFF2-40B4-BE49-F238E27FC236}">
                <a16:creationId xmlns:a16="http://schemas.microsoft.com/office/drawing/2014/main" id="{DFBE904D-8D4C-4333-8386-960958C9D6FC}"/>
              </a:ext>
            </a:extLst>
          </p:cNvPr>
          <p:cNvSpPr>
            <a:spLocks xmlns:a="http://schemas.openxmlformats.org/drawingml/2006/main" noGrp="1"/>
          </p:cNvSpPr>
          <p:nvPr/>
        </p:nvSpPr>
        <p:spPr>
          <a:xfrm xmlns:a="http://schemas.openxmlformats.org/drawingml/2006/main">
            <a:off x="838200" y="5143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03</a:t>
            </a:r>
          </a:p>
        </p:txBody>
      </p:sp>
      <p:sp>
        <p:nvSpPr>
          <p:cNvPr id="10" name="입력 파일, 변경 코드, 결과 화면을 함께 제출합니다.">
            <a:extLst xmlns:a="http://schemas.openxmlformats.org/drawingml/2006/main">
              <a:ext uri="{FF2B5EF4-FFF2-40B4-BE49-F238E27FC236}">
                <a16:creationId xmlns:a16="http://schemas.microsoft.com/office/drawing/2014/main" id="{8D8FB91E-ED61-4BBB-BA24-E2F587C5421B}"/>
              </a:ext>
            </a:extLst>
          </p:cNvPr>
          <p:cNvSpPr>
            <a:spLocks xmlns:a="http://schemas.openxmlformats.org/drawingml/2006/main" noGrp="1"/>
          </p:cNvSpPr>
          <p:nvPr/>
        </p:nvSpPr>
        <p:spPr>
          <a:xfrm xmlns:a="http://schemas.openxmlformats.org/drawingml/2006/main">
            <a:off x="1952625" y="5143500"/>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입력 파일, 변경 코드, 결과 화면을 함께 제출합니다.</a:t>
            </a:r>
          </a:p>
        </p:txBody>
      </p:sp>
      <p:sp>
        <p:nvSpPr>
          <p:cNvPr id="11" name="04">
            <a:extLst xmlns:a="http://schemas.openxmlformats.org/drawingml/2006/main">
              <a:ext uri="{FF2B5EF4-FFF2-40B4-BE49-F238E27FC236}">
                <a16:creationId xmlns:a16="http://schemas.microsoft.com/office/drawing/2014/main" id="{6002D793-3AAA-451E-9A59-950AF6B339AB}"/>
              </a:ext>
            </a:extLst>
          </p:cNvPr>
          <p:cNvSpPr>
            <a:spLocks xmlns:a="http://schemas.openxmlformats.org/drawingml/2006/main" noGrp="1"/>
          </p:cNvSpPr>
          <p:nvPr/>
        </p:nvSpPr>
        <p:spPr>
          <a:xfrm xmlns:a="http://schemas.openxmlformats.org/drawingml/2006/main">
            <a:off x="838200" y="6143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5634B"/>
                </a:solidFill>
                <a:latin typeface="Malgun Gothic"/>
                <a:ea typeface="Malgun Gothic"/>
                <a:cs typeface="Malgun Gothic"/>
              </a:defRPr>
            </a:defPPr>
            <a:lvl1pPr>
              <a:defRPr sz="2700" b="1">
                <a:solidFill>
                  <a:srgbClr val="25634B"/>
                </a:solidFill>
                <a:latin typeface="Malgun Gothic"/>
                <a:ea typeface="Malgun Gothic"/>
                <a:cs typeface="Malgun Gothic"/>
              </a:defRPr>
            </a:lvl1pPr>
            <a:lvl2pPr>
              <a:defRPr sz="2700" b="1">
                <a:solidFill>
                  <a:srgbClr val="25634B"/>
                </a:solidFill>
                <a:latin typeface="Malgun Gothic"/>
                <a:ea typeface="Malgun Gothic"/>
                <a:cs typeface="Malgun Gothic"/>
              </a:defRPr>
            </a:lvl2pPr>
            <a:lvl3pPr>
              <a:defRPr sz="2700" b="1">
                <a:solidFill>
                  <a:srgbClr val="25634B"/>
                </a:solidFill>
                <a:latin typeface="Malgun Gothic"/>
                <a:ea typeface="Malgun Gothic"/>
                <a:cs typeface="Malgun Gothic"/>
              </a:defRPr>
            </a:lvl3pPr>
            <a:lvl4pPr>
              <a:defRPr sz="2700" b="1">
                <a:solidFill>
                  <a:srgbClr val="25634B"/>
                </a:solidFill>
                <a:latin typeface="Malgun Gothic"/>
                <a:ea typeface="Malgun Gothic"/>
                <a:cs typeface="Malgun Gothic"/>
              </a:defRPr>
            </a:lvl4pPr>
            <a:lvl5pPr>
              <a:defRPr sz="2700" b="1">
                <a:solidFill>
                  <a:srgbClr val="25634B"/>
                </a:solidFill>
                <a:latin typeface="Malgun Gothic"/>
                <a:ea typeface="Malgun Gothic"/>
                <a:cs typeface="Malgun Gothic"/>
              </a:defRPr>
            </a:lvl5pPr>
            <a:lvl6pPr>
              <a:defRPr sz="2700" b="1">
                <a:solidFill>
                  <a:srgbClr val="25634B"/>
                </a:solidFill>
                <a:latin typeface="Malgun Gothic"/>
                <a:ea typeface="Malgun Gothic"/>
                <a:cs typeface="Malgun Gothic"/>
              </a:defRPr>
            </a:lvl6pPr>
            <a:lvl7pPr>
              <a:defRPr sz="2700" b="1">
                <a:solidFill>
                  <a:srgbClr val="25634B"/>
                </a:solidFill>
                <a:latin typeface="Malgun Gothic"/>
                <a:ea typeface="Malgun Gothic"/>
                <a:cs typeface="Malgun Gothic"/>
              </a:defRPr>
            </a:lvl7pPr>
            <a:lvl8pPr>
              <a:defRPr sz="2700" b="1">
                <a:solidFill>
                  <a:srgbClr val="25634B"/>
                </a:solidFill>
                <a:latin typeface="Malgun Gothic"/>
                <a:ea typeface="Malgun Gothic"/>
                <a:cs typeface="Malgun Gothic"/>
              </a:defRPr>
            </a:lvl8pPr>
            <a:lvl9pPr>
              <a:defRPr sz="2700" b="1">
                <a:solidFill>
                  <a:srgbClr val="25634B"/>
                </a:solidFill>
                <a:latin typeface="Malgun Gothic"/>
                <a:ea typeface="Malgun Gothic"/>
                <a:cs typeface="Malgun Gothic"/>
              </a:defRPr>
            </a:lvl9pPr>
          </a:lstStyle>
          <a:p xmlns:a="http://schemas.openxmlformats.org/drawingml/2006/main">
            <a:pPr>
              <a:defRPr sz="2700" b="1">
                <a:solidFill>
                  <a:srgbClr val="25634B"/>
                </a:solidFill>
                <a:latin typeface="Malgun Gothic"/>
                <a:ea typeface="Malgun Gothic"/>
                <a:cs typeface="Malgun Gothic"/>
              </a:defRPr>
            </a:pPr>
            <a:r>
              <a:rPr sz="2700" b="1">
                <a:solidFill>
                  <a:srgbClr val="25634B"/>
                </a:solidFill>
                <a:latin typeface="Malgun Gothic"/>
                <a:ea typeface="Malgun Gothic"/>
                <a:cs typeface="Malgun Gothic"/>
              </a:rPr>
              <a:t>04</a:t>
            </a:r>
          </a:p>
        </p:txBody>
      </p:sp>
      <p:sp>
        <p:nvSpPr>
          <p:cNvPr id="12" name="실제 현장 데이터로 바꿀 때 필요한 조건을 발표합니다.">
            <a:extLst xmlns:a="http://schemas.openxmlformats.org/drawingml/2006/main">
              <a:ext uri="{FF2B5EF4-FFF2-40B4-BE49-F238E27FC236}">
                <a16:creationId xmlns:a16="http://schemas.microsoft.com/office/drawing/2014/main" id="{08C98CB0-2098-46DB-A3EE-95DFC296723E}"/>
              </a:ext>
            </a:extLst>
          </p:cNvPr>
          <p:cNvSpPr>
            <a:spLocks xmlns:a="http://schemas.openxmlformats.org/drawingml/2006/main" noGrp="1"/>
          </p:cNvSpPr>
          <p:nvPr/>
        </p:nvSpPr>
        <p:spPr>
          <a:xfrm xmlns:a="http://schemas.openxmlformats.org/drawingml/2006/main">
            <a:off x="1952625" y="6143625"/>
            <a:ext cx="1238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실제 현장 데이터로 바꿀 때 필요한 조건을 발표합니다.</a:t>
            </a:r>
          </a:p>
        </p:txBody>
      </p:sp>
    </p:spTree>
    <p:extLst>
      <p:ext uri="{BB962C8B-B14F-4D97-AF65-F5344CB8AC3E}">
        <p14:creationId xmlns:p14="http://schemas.microsoft.com/office/powerpoint/2010/main" val="12517627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REVIEW">
            <a:extLst xmlns:a="http://schemas.openxmlformats.org/drawingml/2006/main">
              <a:ext uri="{FF2B5EF4-FFF2-40B4-BE49-F238E27FC236}">
                <a16:creationId xmlns:a16="http://schemas.microsoft.com/office/drawing/2014/main" id="{3F0D7D9D-8EA5-4309-A9BE-7A5384225996}"/>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REVIEW</a:t>
            </a:r>
          </a:p>
        </p:txBody>
      </p:sp>
      <p:sp>
        <p:nvSpPr>
          <p:cNvPr id="2" name="Title">
            <a:extLst xmlns:a="http://schemas.openxmlformats.org/drawingml/2006/main">
              <a:ext uri="{FF2B5EF4-FFF2-40B4-BE49-F238E27FC236}">
                <a16:creationId xmlns:a16="http://schemas.microsoft.com/office/drawing/2014/main" id="{2E4AC75A-9A8D-4998-A05C-B928088A82C8}"/>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최종 결과의 검토 기준</a:t>
            </a:r>
          </a:p>
        </p:txBody>
      </p:sp>
      <p:sp>
        <p:nvSpPr>
          <p:cNvPr id="3" name="59   /   CBNU Omniverse Worksh">
            <a:extLst xmlns:a="http://schemas.openxmlformats.org/drawingml/2006/main">
              <a:ext uri="{FF2B5EF4-FFF2-40B4-BE49-F238E27FC236}">
                <a16:creationId xmlns:a16="http://schemas.microsoft.com/office/drawing/2014/main" id="{ED046CF6-B4E4-403C-A363-4DBA4D695DD0}"/>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59   /   CBNU Omniverse Workshop</a:t>
            </a:r>
          </a:p>
        </p:txBody>
      </p:sp>
      <p:graphicFrame>
        <p:nvGraphicFramePr>
          <p:cNvPr id="4" name="">
            <a:extLst xmlns:a="http://schemas.openxmlformats.org/drawingml/2006/main">
              <a:ext uri="{FF2B5EF4-FFF2-40B4-BE49-F238E27FC236}">
                <a16:creationId xmlns:a16="http://schemas.microsoft.com/office/drawing/2014/main" id="{3C307673-3797-41DF-B894-BA2D080EACDA}"/>
              </a:ext>
            </a:extLst>
          </p:cNvPr>
          <p:cNvGraphicFramePr/>
          <p:nvPr/>
        </p:nvGraphicFramePr>
        <p:xfrm>
          <a:off xmlns:a="http://schemas.openxmlformats.org/drawingml/2006/main" x="838200" y="2190750"/>
          <a:ext xmlns:a="http://schemas.openxmlformats.org/drawingml/2006/main" cx="13563600" cy="5095875"/>
        </p:xfrm>
        <a:graphic xmlns:a="http://schemas.openxmlformats.org/drawingml/2006/main">
          <a:graphicData uri="http://schemas.openxmlformats.org/drawingml/2006/table">
            <a:tbl>
              <a:tblPr/>
              <a:tblGrid>
                <a:gridCol w="4677103"/>
                <a:gridCol w="8886497"/>
              </a:tblGrid>
              <a:tr h="849313">
                <a:tc>
                  <a:txBody>
                    <a:bodyPr/>
                    <a:lstStyle/>
                    <a:p>
                      <a:r>
                        <a:rPr sz="2100" b="1">
                          <a:solidFill>
                            <a:srgbClr val="202322"/>
                          </a:solidFill>
                          <a:latin typeface="Malgun Gothic"/>
                          <a:ea typeface="Malgun Gothic"/>
                          <a:cs typeface="Malgun Gothic"/>
                        </a:rPr>
                        <a:t>검토 항목</a:t>
                      </a:r>
                    </a:p>
                  </a:txBody>
                  <a:tcPr marL="171450" marR="171450" marT="142875" marB="114300" anchor="ctr">
                    <a:lnL w="9525">
                      <a:solidFill>
                        <a:srgbClr val="CFD5D1"/>
                      </a:solidFill>
                      <a:prstDash val="solid"/>
                    </a:lnL>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c>
                  <a:txBody>
                    <a:bodyPr/>
                    <a:lstStyle/>
                    <a:p>
                      <a:r>
                        <a:rPr sz="2100" b="1">
                          <a:solidFill>
                            <a:srgbClr val="202322"/>
                          </a:solidFill>
                          <a:latin typeface="Malgun Gothic"/>
                          <a:ea typeface="Malgun Gothic"/>
                          <a:cs typeface="Malgun Gothic"/>
                        </a:rPr>
                        <a:t>확인할 증거</a:t>
                      </a:r>
                    </a:p>
                  </a:txBody>
                  <a:tcPr marL="171450" marR="171450" marT="142875" marB="114300" anchor="ctr">
                    <a:lnR w="9525">
                      <a:solidFill>
                        <a:srgbClr val="CFD5D1"/>
                      </a:solidFill>
                      <a:prstDash val="solid"/>
                    </a:lnR>
                    <a:lnT w="9525">
                      <a:solidFill>
                        <a:srgbClr val="CFD5D1"/>
                      </a:solidFill>
                      <a:prstDash val="solid"/>
                    </a:lnT>
                    <a:lnB w="9525">
                      <a:solidFill>
                        <a:srgbClr val="CFD5D1"/>
                      </a:solidFill>
                      <a:prstDash val="solid"/>
                    </a:lnB>
                    <a:solidFill>
                      <a:srgbClr val="E8EEE9"/>
                    </a:solidFill>
                  </a:tcPr>
                </a:tc>
              </a:tr>
              <a:tr h="849313">
                <a:tc>
                  <a:txBody>
                    <a:bodyPr/>
                    <a:lstStyle/>
                    <a:p>
                      <a:r>
                        <a:rPr sz="2100" b="0">
                          <a:solidFill>
                            <a:srgbClr val="202322"/>
                          </a:solidFill>
                          <a:latin typeface="Malgun Gothic"/>
                          <a:ea typeface="Malgun Gothic"/>
                          <a:cs typeface="Malgun Gothic"/>
                        </a:rPr>
                        <a:t>USD 구조</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경로와 의존 파일, 재열기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물리</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설정 값과 낙하 관찰</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Python</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입력 변수와 반복 실행 결과</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상태 표시</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수치·판정·색·출처 일치</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r h="849313">
                <a:tc>
                  <a:txBody>
                    <a:bodyPr/>
                    <a:lstStyle/>
                    <a:p>
                      <a:r>
                        <a:rPr sz="2100" b="0">
                          <a:solidFill>
                            <a:srgbClr val="202322"/>
                          </a:solidFill>
                          <a:latin typeface="Malgun Gothic"/>
                          <a:ea typeface="Malgun Gothic"/>
                          <a:cs typeface="Malgun Gothic"/>
                        </a:rPr>
                        <a:t>설명</a:t>
                      </a:r>
                    </a:p>
                  </a:txBody>
                  <a:tcPr marL="171450" marR="171450" marT="142875" marB="114300" anchor="ctr">
                    <a:lnL w="9525">
                      <a:solidFill>
                        <a:srgbClr val="CFD5D1"/>
                      </a:solidFill>
                      <a:prstDash val="solid"/>
                    </a:lnL>
                    <a:lnR w="9525">
                      <a:solidFill>
                        <a:srgbClr val="CFD5D1"/>
                      </a:solidFill>
                      <a:prstDash val="solid"/>
                    </a:lnR>
                    <a:lnB w="9525">
                      <a:solidFill>
                        <a:srgbClr val="CFD5D1"/>
                      </a:solidFill>
                      <a:prstDash val="solid"/>
                    </a:lnB>
                    <a:solidFill>
                      <a:srgbClr val="FFFFFF"/>
                    </a:solidFill>
                  </a:tcPr>
                </a:tc>
                <a:tc>
                  <a:txBody>
                    <a:bodyPr/>
                    <a:lstStyle/>
                    <a:p>
                      <a:r>
                        <a:rPr sz="2100" b="0">
                          <a:solidFill>
                            <a:srgbClr val="202322"/>
                          </a:solidFill>
                          <a:latin typeface="Malgun Gothic"/>
                          <a:ea typeface="Malgun Gothic"/>
                          <a:cs typeface="Malgun Gothic"/>
                        </a:rPr>
                        <a:t>가정, 검증한 범위, 남은 한계</a:t>
                      </a:r>
                    </a:p>
                  </a:txBody>
                  <a:tcPr marL="171450" marR="171450" marT="142875" marB="114300" anchor="ctr">
                    <a:lnR w="9525">
                      <a:solidFill>
                        <a:srgbClr val="CFD5D1"/>
                      </a:solidFill>
                      <a:prstDash val="solid"/>
                    </a:lnR>
                    <a:lnB w="9525">
                      <a:solidFill>
                        <a:srgbClr val="CFD5D1"/>
                      </a:solidFill>
                      <a:prstDash val="solid"/>
                    </a:lnB>
                    <a:solidFill>
                      <a:srgbClr val="FFFFFF"/>
                    </a:solidFill>
                  </a:tcPr>
                </a:tc>
              </a:tr>
            </a:tbl>
          </a:graphicData>
        </a:graphic>
      </p:graphicFrame>
    </p:spTree>
    <p:extLst>
      <p:ext uri="{BB962C8B-B14F-4D97-AF65-F5344CB8AC3E}">
        <p14:creationId xmlns:p14="http://schemas.microsoft.com/office/powerpoint/2010/main" val="17608484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VIEW">
            <a:extLst xmlns:a="http://schemas.openxmlformats.org/drawingml/2006/main">
              <a:ext uri="{FF2B5EF4-FFF2-40B4-BE49-F238E27FC236}">
                <a16:creationId xmlns:a16="http://schemas.microsoft.com/office/drawing/2014/main" id="{0DEE3303-6E04-4C4C-B54A-A73E5383BC8A}"/>
              </a:ext>
            </a:extLst>
          </p:cNvPr>
          <p:cNvSpPr>
            <a:spLocks xmlns:a="http://schemas.openxmlformats.org/drawingml/2006/main" noGrp="1"/>
          </p:cNvSpPr>
          <p:nvPr/>
        </p:nvSpPr>
        <p:spPr>
          <a:xfrm xmlns:a="http://schemas.openxmlformats.org/drawingml/2006/main">
            <a:off x="838200" y="4191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5634B"/>
                </a:solidFill>
                <a:latin typeface="Malgun Gothic"/>
                <a:ea typeface="Malgun Gothic"/>
                <a:cs typeface="Malgun Gothic"/>
              </a:defRPr>
            </a:defPPr>
            <a:lvl1pPr>
              <a:defRPr sz="1500" b="0">
                <a:solidFill>
                  <a:srgbClr val="25634B"/>
                </a:solidFill>
                <a:latin typeface="Malgun Gothic"/>
                <a:ea typeface="Malgun Gothic"/>
                <a:cs typeface="Malgun Gothic"/>
              </a:defRPr>
            </a:lvl1pPr>
            <a:lvl2pPr>
              <a:defRPr sz="1500" b="0">
                <a:solidFill>
                  <a:srgbClr val="25634B"/>
                </a:solidFill>
                <a:latin typeface="Malgun Gothic"/>
                <a:ea typeface="Malgun Gothic"/>
                <a:cs typeface="Malgun Gothic"/>
              </a:defRPr>
            </a:lvl2pPr>
            <a:lvl3pPr>
              <a:defRPr sz="1500" b="0">
                <a:solidFill>
                  <a:srgbClr val="25634B"/>
                </a:solidFill>
                <a:latin typeface="Malgun Gothic"/>
                <a:ea typeface="Malgun Gothic"/>
                <a:cs typeface="Malgun Gothic"/>
              </a:defRPr>
            </a:lvl3pPr>
            <a:lvl4pPr>
              <a:defRPr sz="1500" b="0">
                <a:solidFill>
                  <a:srgbClr val="25634B"/>
                </a:solidFill>
                <a:latin typeface="Malgun Gothic"/>
                <a:ea typeface="Malgun Gothic"/>
                <a:cs typeface="Malgun Gothic"/>
              </a:defRPr>
            </a:lvl4pPr>
            <a:lvl5pPr>
              <a:defRPr sz="1500" b="0">
                <a:solidFill>
                  <a:srgbClr val="25634B"/>
                </a:solidFill>
                <a:latin typeface="Malgun Gothic"/>
                <a:ea typeface="Malgun Gothic"/>
                <a:cs typeface="Malgun Gothic"/>
              </a:defRPr>
            </a:lvl5pPr>
            <a:lvl6pPr>
              <a:defRPr sz="1500" b="0">
                <a:solidFill>
                  <a:srgbClr val="25634B"/>
                </a:solidFill>
                <a:latin typeface="Malgun Gothic"/>
                <a:ea typeface="Malgun Gothic"/>
                <a:cs typeface="Malgun Gothic"/>
              </a:defRPr>
            </a:lvl6pPr>
            <a:lvl7pPr>
              <a:defRPr sz="1500" b="0">
                <a:solidFill>
                  <a:srgbClr val="25634B"/>
                </a:solidFill>
                <a:latin typeface="Malgun Gothic"/>
                <a:ea typeface="Malgun Gothic"/>
                <a:cs typeface="Malgun Gothic"/>
              </a:defRPr>
            </a:lvl7pPr>
            <a:lvl8pPr>
              <a:defRPr sz="1500" b="0">
                <a:solidFill>
                  <a:srgbClr val="25634B"/>
                </a:solidFill>
                <a:latin typeface="Malgun Gothic"/>
                <a:ea typeface="Malgun Gothic"/>
                <a:cs typeface="Malgun Gothic"/>
              </a:defRPr>
            </a:lvl8pPr>
            <a:lvl9pPr>
              <a:defRPr sz="1500" b="0">
                <a:solidFill>
                  <a:srgbClr val="25634B"/>
                </a:solidFill>
                <a:latin typeface="Malgun Gothic"/>
                <a:ea typeface="Malgun Gothic"/>
                <a:cs typeface="Malgun Gothic"/>
              </a:defRPr>
            </a:lvl9pPr>
          </a:lstStyle>
          <a:p xmlns:a="http://schemas.openxmlformats.org/drawingml/2006/main">
            <a:pPr>
              <a:defRPr sz="1500" b="0">
                <a:solidFill>
                  <a:srgbClr val="25634B"/>
                </a:solidFill>
                <a:latin typeface="Malgun Gothic"/>
                <a:ea typeface="Malgun Gothic"/>
                <a:cs typeface="Malgun Gothic"/>
              </a:defRPr>
            </a:pPr>
            <a:r>
              <a:rPr sz="1500" b="0">
                <a:solidFill>
                  <a:srgbClr val="25634B"/>
                </a:solidFill>
                <a:latin typeface="Malgun Gothic"/>
                <a:ea typeface="Malgun Gothic"/>
                <a:cs typeface="Malgun Gothic"/>
              </a:rPr>
              <a:t>REVIEW</a:t>
            </a:r>
          </a:p>
        </p:txBody>
      </p:sp>
      <p:sp>
        <p:nvSpPr>
          <p:cNvPr id="2" name="Title">
            <a:extLst xmlns:a="http://schemas.openxmlformats.org/drawingml/2006/main">
              <a:ext uri="{FF2B5EF4-FFF2-40B4-BE49-F238E27FC236}">
                <a16:creationId xmlns:a16="http://schemas.microsoft.com/office/drawing/2014/main" id="{6B3F3BE8-B664-48B7-B1E3-29DEEA394B2D}"/>
              </a:ext>
            </a:extLst>
          </p:cNvPr>
          <p:cNvSpPr>
            <a:spLocks xmlns:a="http://schemas.openxmlformats.org/drawingml/2006/main" noGrp="1"/>
          </p:cNvSpPr>
          <p:nvPr/>
        </p:nvSpPr>
        <p:spPr>
          <a:xfrm xmlns:a="http://schemas.openxmlformats.org/drawingml/2006/main">
            <a:off x="838200" y="952500"/>
            <a:ext cx="13563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202322"/>
                </a:solidFill>
                <a:latin typeface="Malgun Gothic"/>
                <a:ea typeface="Malgun Gothic"/>
                <a:cs typeface="Malgun Gothic"/>
              </a:defRPr>
            </a:defPPr>
            <a:lvl1pPr>
              <a:defRPr sz="3900" b="1">
                <a:solidFill>
                  <a:srgbClr val="202322"/>
                </a:solidFill>
                <a:latin typeface="Malgun Gothic"/>
                <a:ea typeface="Malgun Gothic"/>
                <a:cs typeface="Malgun Gothic"/>
              </a:defRPr>
            </a:lvl1pPr>
            <a:lvl2pPr>
              <a:defRPr sz="3900" b="1">
                <a:solidFill>
                  <a:srgbClr val="202322"/>
                </a:solidFill>
                <a:latin typeface="Malgun Gothic"/>
                <a:ea typeface="Malgun Gothic"/>
                <a:cs typeface="Malgun Gothic"/>
              </a:defRPr>
            </a:lvl2pPr>
            <a:lvl3pPr>
              <a:defRPr sz="3900" b="1">
                <a:solidFill>
                  <a:srgbClr val="202322"/>
                </a:solidFill>
                <a:latin typeface="Malgun Gothic"/>
                <a:ea typeface="Malgun Gothic"/>
                <a:cs typeface="Malgun Gothic"/>
              </a:defRPr>
            </a:lvl3pPr>
            <a:lvl4pPr>
              <a:defRPr sz="3900" b="1">
                <a:solidFill>
                  <a:srgbClr val="202322"/>
                </a:solidFill>
                <a:latin typeface="Malgun Gothic"/>
                <a:ea typeface="Malgun Gothic"/>
                <a:cs typeface="Malgun Gothic"/>
              </a:defRPr>
            </a:lvl4pPr>
            <a:lvl5pPr>
              <a:defRPr sz="3900" b="1">
                <a:solidFill>
                  <a:srgbClr val="202322"/>
                </a:solidFill>
                <a:latin typeface="Malgun Gothic"/>
                <a:ea typeface="Malgun Gothic"/>
                <a:cs typeface="Malgun Gothic"/>
              </a:defRPr>
            </a:lvl5pPr>
            <a:lvl6pPr>
              <a:defRPr sz="3900" b="1">
                <a:solidFill>
                  <a:srgbClr val="202322"/>
                </a:solidFill>
                <a:latin typeface="Malgun Gothic"/>
                <a:ea typeface="Malgun Gothic"/>
                <a:cs typeface="Malgun Gothic"/>
              </a:defRPr>
            </a:lvl6pPr>
            <a:lvl7pPr>
              <a:defRPr sz="3900" b="1">
                <a:solidFill>
                  <a:srgbClr val="202322"/>
                </a:solidFill>
                <a:latin typeface="Malgun Gothic"/>
                <a:ea typeface="Malgun Gothic"/>
                <a:cs typeface="Malgun Gothic"/>
              </a:defRPr>
            </a:lvl7pPr>
            <a:lvl8pPr>
              <a:defRPr sz="3900" b="1">
                <a:solidFill>
                  <a:srgbClr val="202322"/>
                </a:solidFill>
                <a:latin typeface="Malgun Gothic"/>
                <a:ea typeface="Malgun Gothic"/>
                <a:cs typeface="Malgun Gothic"/>
              </a:defRPr>
            </a:lvl8pPr>
            <a:lvl9pPr>
              <a:defRPr sz="3900" b="1">
                <a:solidFill>
                  <a:srgbClr val="202322"/>
                </a:solidFill>
                <a:latin typeface="Malgun Gothic"/>
                <a:ea typeface="Malgun Gothic"/>
                <a:cs typeface="Malgun Gothic"/>
              </a:defRPr>
            </a:lvl9pPr>
          </a:lstStyle>
          <a:p xmlns:a="http://schemas.openxmlformats.org/drawingml/2006/main">
            <a:pPr>
              <a:defRPr sz="3900" b="1">
                <a:solidFill>
                  <a:srgbClr val="202322"/>
                </a:solidFill>
                <a:latin typeface="Malgun Gothic"/>
                <a:ea typeface="Malgun Gothic"/>
                <a:cs typeface="Malgun Gothic"/>
              </a:defRPr>
            </a:pPr>
            <a:r>
              <a:rPr sz="3900" b="1">
                <a:solidFill>
                  <a:srgbClr val="202322"/>
                </a:solidFill>
                <a:latin typeface="Malgun Gothic"/>
                <a:ea typeface="Malgun Gothic"/>
                <a:cs typeface="Malgun Gothic"/>
              </a:rPr>
              <a:t>제출 파일과 다음 단계</a:t>
            </a:r>
          </a:p>
        </p:txBody>
      </p:sp>
      <p:sp>
        <p:nvSpPr>
          <p:cNvPr id="3" name="60   /   CBNU Omniverse Worksh">
            <a:extLst xmlns:a="http://schemas.openxmlformats.org/drawingml/2006/main">
              <a:ext uri="{FF2B5EF4-FFF2-40B4-BE49-F238E27FC236}">
                <a16:creationId xmlns:a16="http://schemas.microsoft.com/office/drawing/2014/main" id="{55CABA1E-DA1A-4601-BED3-6199365E85EE}"/>
              </a:ext>
            </a:extLst>
          </p:cNvPr>
          <p:cNvSpPr>
            <a:spLocks xmlns:a="http://schemas.openxmlformats.org/drawingml/2006/main" noGrp="1"/>
          </p:cNvSpPr>
          <p:nvPr/>
        </p:nvSpPr>
        <p:spPr>
          <a:xfrm xmlns:a="http://schemas.openxmlformats.org/drawingml/2006/main">
            <a:off x="838200" y="8077200"/>
            <a:ext cx="1356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15C"/>
                </a:solidFill>
                <a:latin typeface="Malgun Gothic"/>
                <a:ea typeface="Malgun Gothic"/>
                <a:cs typeface="Malgun Gothic"/>
              </a:defRPr>
            </a:defPPr>
            <a:lvl1pPr>
              <a:defRPr sz="1275" b="0">
                <a:solidFill>
                  <a:srgbClr val="58615C"/>
                </a:solidFill>
                <a:latin typeface="Malgun Gothic"/>
                <a:ea typeface="Malgun Gothic"/>
                <a:cs typeface="Malgun Gothic"/>
              </a:defRPr>
            </a:lvl1pPr>
            <a:lvl2pPr>
              <a:defRPr sz="1275" b="0">
                <a:solidFill>
                  <a:srgbClr val="58615C"/>
                </a:solidFill>
                <a:latin typeface="Malgun Gothic"/>
                <a:ea typeface="Malgun Gothic"/>
                <a:cs typeface="Malgun Gothic"/>
              </a:defRPr>
            </a:lvl2pPr>
            <a:lvl3pPr>
              <a:defRPr sz="1275" b="0">
                <a:solidFill>
                  <a:srgbClr val="58615C"/>
                </a:solidFill>
                <a:latin typeface="Malgun Gothic"/>
                <a:ea typeface="Malgun Gothic"/>
                <a:cs typeface="Malgun Gothic"/>
              </a:defRPr>
            </a:lvl3pPr>
            <a:lvl4pPr>
              <a:defRPr sz="1275" b="0">
                <a:solidFill>
                  <a:srgbClr val="58615C"/>
                </a:solidFill>
                <a:latin typeface="Malgun Gothic"/>
                <a:ea typeface="Malgun Gothic"/>
                <a:cs typeface="Malgun Gothic"/>
              </a:defRPr>
            </a:lvl4pPr>
            <a:lvl5pPr>
              <a:defRPr sz="1275" b="0">
                <a:solidFill>
                  <a:srgbClr val="58615C"/>
                </a:solidFill>
                <a:latin typeface="Malgun Gothic"/>
                <a:ea typeface="Malgun Gothic"/>
                <a:cs typeface="Malgun Gothic"/>
              </a:defRPr>
            </a:lvl5pPr>
            <a:lvl6pPr>
              <a:defRPr sz="1275" b="0">
                <a:solidFill>
                  <a:srgbClr val="58615C"/>
                </a:solidFill>
                <a:latin typeface="Malgun Gothic"/>
                <a:ea typeface="Malgun Gothic"/>
                <a:cs typeface="Malgun Gothic"/>
              </a:defRPr>
            </a:lvl6pPr>
            <a:lvl7pPr>
              <a:defRPr sz="1275" b="0">
                <a:solidFill>
                  <a:srgbClr val="58615C"/>
                </a:solidFill>
                <a:latin typeface="Malgun Gothic"/>
                <a:ea typeface="Malgun Gothic"/>
                <a:cs typeface="Malgun Gothic"/>
              </a:defRPr>
            </a:lvl7pPr>
            <a:lvl8pPr>
              <a:defRPr sz="1275" b="0">
                <a:solidFill>
                  <a:srgbClr val="58615C"/>
                </a:solidFill>
                <a:latin typeface="Malgun Gothic"/>
                <a:ea typeface="Malgun Gothic"/>
                <a:cs typeface="Malgun Gothic"/>
              </a:defRPr>
            </a:lvl8pPr>
            <a:lvl9pPr>
              <a:defRPr sz="1275" b="0">
                <a:solidFill>
                  <a:srgbClr val="58615C"/>
                </a:solidFill>
                <a:latin typeface="Malgun Gothic"/>
                <a:ea typeface="Malgun Gothic"/>
                <a:cs typeface="Malgun Gothic"/>
              </a:defRPr>
            </a:lvl9pPr>
          </a:lstStyle>
          <a:p xmlns:a="http://schemas.openxmlformats.org/drawingml/2006/main">
            <a:pPr>
              <a:defRPr sz="1275" b="0">
                <a:solidFill>
                  <a:srgbClr val="58615C"/>
                </a:solidFill>
                <a:latin typeface="Malgun Gothic"/>
                <a:ea typeface="Malgun Gothic"/>
                <a:cs typeface="Malgun Gothic"/>
              </a:defRPr>
            </a:pPr>
            <a:r>
              <a:rPr sz="1275" b="0">
                <a:solidFill>
                  <a:srgbClr val="58615C"/>
                </a:solidFill>
                <a:latin typeface="Malgun Gothic"/>
                <a:ea typeface="Malgun Gothic"/>
                <a:cs typeface="Malgun Gothic"/>
              </a:rPr>
              <a:t>60   /   CBNU Omniverse Workshop</a:t>
            </a:r>
          </a:p>
        </p:txBody>
      </p:sp>
      <p:sp>
        <p:nvSpPr>
          <p:cNvPr id="4" name="제출">
            <a:extLst xmlns:a="http://schemas.openxmlformats.org/drawingml/2006/main">
              <a:ext uri="{FF2B5EF4-FFF2-40B4-BE49-F238E27FC236}">
                <a16:creationId xmlns:a16="http://schemas.microsoft.com/office/drawing/2014/main" id="{90E0D2FC-60BF-49F5-A16F-4C99BC6C537E}"/>
              </a:ext>
            </a:extLst>
          </p:cNvPr>
          <p:cNvSpPr>
            <a:spLocks xmlns:a="http://schemas.openxmlformats.org/drawingml/2006/main" noGrp="1"/>
          </p:cNvSpPr>
          <p:nvPr/>
        </p:nvSpPr>
        <p:spPr>
          <a:xfrm xmlns:a="http://schemas.openxmlformats.org/drawingml/2006/main">
            <a:off x="838200" y="222885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제출</a:t>
            </a:r>
          </a:p>
        </p:txBody>
      </p:sp>
      <p:sp>
        <p:nvSpPr>
          <p:cNvPr id="5" name="최종 USD, 사용한 CSV, 코드 변경점, 결과 화면">
            <a:extLst xmlns:a="http://schemas.openxmlformats.org/drawingml/2006/main">
              <a:ext uri="{FF2B5EF4-FFF2-40B4-BE49-F238E27FC236}">
                <a16:creationId xmlns:a16="http://schemas.microsoft.com/office/drawing/2014/main" id="{54E39372-956A-4C6F-90AD-057F7D5CD21F}"/>
              </a:ext>
            </a:extLst>
          </p:cNvPr>
          <p:cNvSpPr>
            <a:spLocks xmlns:a="http://schemas.openxmlformats.org/drawingml/2006/main" noGrp="1"/>
          </p:cNvSpPr>
          <p:nvPr/>
        </p:nvSpPr>
        <p:spPr>
          <a:xfrm xmlns:a="http://schemas.openxmlformats.org/drawingml/2006/main">
            <a:off x="3619500" y="22288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최종 USD, 사용한 CSV, 코드 변경점, 결과 화면</a:t>
            </a:r>
          </a:p>
        </p:txBody>
      </p:sp>
      <p:sp>
        <p:nvSpPr>
          <p:cNvPr id="6" name="재현">
            <a:extLst xmlns:a="http://schemas.openxmlformats.org/drawingml/2006/main">
              <a:ext uri="{FF2B5EF4-FFF2-40B4-BE49-F238E27FC236}">
                <a16:creationId xmlns:a16="http://schemas.microsoft.com/office/drawing/2014/main" id="{2E20DD2C-B891-4766-9B8B-AAC3ED22FB55}"/>
              </a:ext>
            </a:extLst>
          </p:cNvPr>
          <p:cNvSpPr>
            <a:spLocks xmlns:a="http://schemas.openxmlformats.org/drawingml/2006/main" noGrp="1"/>
          </p:cNvSpPr>
          <p:nvPr/>
        </p:nvSpPr>
        <p:spPr>
          <a:xfrm xmlns:a="http://schemas.openxmlformats.org/drawingml/2006/main">
            <a:off x="838200" y="35147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재현</a:t>
            </a:r>
          </a:p>
        </p:txBody>
      </p:sp>
      <p:sp>
        <p:nvSpPr>
          <p:cNvPr id="7" name="초기 장면과 실행 순서를 함께 기록">
            <a:extLst xmlns:a="http://schemas.openxmlformats.org/drawingml/2006/main">
              <a:ext uri="{FF2B5EF4-FFF2-40B4-BE49-F238E27FC236}">
                <a16:creationId xmlns:a16="http://schemas.microsoft.com/office/drawing/2014/main" id="{5AAF2C69-FBE0-4DB6-9445-8180FED07153}"/>
              </a:ext>
            </a:extLst>
          </p:cNvPr>
          <p:cNvSpPr>
            <a:spLocks xmlns:a="http://schemas.openxmlformats.org/drawingml/2006/main" noGrp="1"/>
          </p:cNvSpPr>
          <p:nvPr/>
        </p:nvSpPr>
        <p:spPr>
          <a:xfrm xmlns:a="http://schemas.openxmlformats.org/drawingml/2006/main">
            <a:off x="3619500" y="3514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초기 장면과 실행 순서를 함께 기록</a:t>
            </a:r>
          </a:p>
        </p:txBody>
      </p:sp>
      <p:sp>
        <p:nvSpPr>
          <p:cNvPr id="8" name="확장">
            <a:extLst xmlns:a="http://schemas.openxmlformats.org/drawingml/2006/main">
              <a:ext uri="{FF2B5EF4-FFF2-40B4-BE49-F238E27FC236}">
                <a16:creationId xmlns:a16="http://schemas.microsoft.com/office/drawing/2014/main" id="{30570CD0-E36C-4FD6-ABDA-8B1AEC497A49}"/>
              </a:ext>
            </a:extLst>
          </p:cNvPr>
          <p:cNvSpPr>
            <a:spLocks xmlns:a="http://schemas.openxmlformats.org/drawingml/2006/main" noGrp="1"/>
          </p:cNvSpPr>
          <p:nvPr/>
        </p:nvSpPr>
        <p:spPr>
          <a:xfrm xmlns:a="http://schemas.openxmlformats.org/drawingml/2006/main">
            <a:off x="838200" y="480060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확장</a:t>
            </a:r>
          </a:p>
        </p:txBody>
      </p:sp>
      <p:sp>
        <p:nvSpPr>
          <p:cNvPr id="9" name="실제 데이터 형식·단위·주기·장비 ID 정의">
            <a:extLst xmlns:a="http://schemas.openxmlformats.org/drawingml/2006/main">
              <a:ext uri="{FF2B5EF4-FFF2-40B4-BE49-F238E27FC236}">
                <a16:creationId xmlns:a16="http://schemas.microsoft.com/office/drawing/2014/main" id="{E25928E7-0091-42A6-B0E0-AC0FE1618CE4}"/>
              </a:ext>
            </a:extLst>
          </p:cNvPr>
          <p:cNvSpPr>
            <a:spLocks xmlns:a="http://schemas.openxmlformats.org/drawingml/2006/main" noGrp="1"/>
          </p:cNvSpPr>
          <p:nvPr/>
        </p:nvSpPr>
        <p:spPr>
          <a:xfrm xmlns:a="http://schemas.openxmlformats.org/drawingml/2006/main">
            <a:off x="3619500" y="48006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실제 데이터 형식·단위·주기·장비 ID 정의</a:t>
            </a:r>
          </a:p>
        </p:txBody>
      </p:sp>
      <p:sp>
        <p:nvSpPr>
          <p:cNvPr id="10" name="검증">
            <a:extLst xmlns:a="http://schemas.openxmlformats.org/drawingml/2006/main">
              <a:ext uri="{FF2B5EF4-FFF2-40B4-BE49-F238E27FC236}">
                <a16:creationId xmlns:a16="http://schemas.microsoft.com/office/drawing/2014/main" id="{12DFF6C2-6060-4B53-BE1E-9AA882BF8A3B}"/>
              </a:ext>
            </a:extLst>
          </p:cNvPr>
          <p:cNvSpPr>
            <a:spLocks xmlns:a="http://schemas.openxmlformats.org/drawingml/2006/main" noGrp="1"/>
          </p:cNvSpPr>
          <p:nvPr/>
        </p:nvSpPr>
        <p:spPr>
          <a:xfrm xmlns:a="http://schemas.openxmlformats.org/drawingml/2006/main">
            <a:off x="838200" y="60864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4B"/>
                </a:solidFill>
                <a:latin typeface="Malgun Gothic"/>
                <a:ea typeface="Malgun Gothic"/>
                <a:cs typeface="Malgun Gothic"/>
              </a:defRPr>
            </a:defPPr>
            <a:lvl1pPr>
              <a:defRPr sz="2400" b="1">
                <a:solidFill>
                  <a:srgbClr val="25634B"/>
                </a:solidFill>
                <a:latin typeface="Malgun Gothic"/>
                <a:ea typeface="Malgun Gothic"/>
                <a:cs typeface="Malgun Gothic"/>
              </a:defRPr>
            </a:lvl1pPr>
            <a:lvl2pPr>
              <a:defRPr sz="2400" b="1">
                <a:solidFill>
                  <a:srgbClr val="25634B"/>
                </a:solidFill>
                <a:latin typeface="Malgun Gothic"/>
                <a:ea typeface="Malgun Gothic"/>
                <a:cs typeface="Malgun Gothic"/>
              </a:defRPr>
            </a:lvl2pPr>
            <a:lvl3pPr>
              <a:defRPr sz="2400" b="1">
                <a:solidFill>
                  <a:srgbClr val="25634B"/>
                </a:solidFill>
                <a:latin typeface="Malgun Gothic"/>
                <a:ea typeface="Malgun Gothic"/>
                <a:cs typeface="Malgun Gothic"/>
              </a:defRPr>
            </a:lvl3pPr>
            <a:lvl4pPr>
              <a:defRPr sz="2400" b="1">
                <a:solidFill>
                  <a:srgbClr val="25634B"/>
                </a:solidFill>
                <a:latin typeface="Malgun Gothic"/>
                <a:ea typeface="Malgun Gothic"/>
                <a:cs typeface="Malgun Gothic"/>
              </a:defRPr>
            </a:lvl4pPr>
            <a:lvl5pPr>
              <a:defRPr sz="2400" b="1">
                <a:solidFill>
                  <a:srgbClr val="25634B"/>
                </a:solidFill>
                <a:latin typeface="Malgun Gothic"/>
                <a:ea typeface="Malgun Gothic"/>
                <a:cs typeface="Malgun Gothic"/>
              </a:defRPr>
            </a:lvl5pPr>
            <a:lvl6pPr>
              <a:defRPr sz="2400" b="1">
                <a:solidFill>
                  <a:srgbClr val="25634B"/>
                </a:solidFill>
                <a:latin typeface="Malgun Gothic"/>
                <a:ea typeface="Malgun Gothic"/>
                <a:cs typeface="Malgun Gothic"/>
              </a:defRPr>
            </a:lvl6pPr>
            <a:lvl7pPr>
              <a:defRPr sz="2400" b="1">
                <a:solidFill>
                  <a:srgbClr val="25634B"/>
                </a:solidFill>
                <a:latin typeface="Malgun Gothic"/>
                <a:ea typeface="Malgun Gothic"/>
                <a:cs typeface="Malgun Gothic"/>
              </a:defRPr>
            </a:lvl7pPr>
            <a:lvl8pPr>
              <a:defRPr sz="2400" b="1">
                <a:solidFill>
                  <a:srgbClr val="25634B"/>
                </a:solidFill>
                <a:latin typeface="Malgun Gothic"/>
                <a:ea typeface="Malgun Gothic"/>
                <a:cs typeface="Malgun Gothic"/>
              </a:defRPr>
            </a:lvl8pPr>
            <a:lvl9pPr>
              <a:defRPr sz="2400" b="1">
                <a:solidFill>
                  <a:srgbClr val="25634B"/>
                </a:solidFill>
                <a:latin typeface="Malgun Gothic"/>
                <a:ea typeface="Malgun Gothic"/>
                <a:cs typeface="Malgun Gothic"/>
              </a:defRPr>
            </a:lvl9pPr>
          </a:lstStyle>
          <a:p xmlns:a="http://schemas.openxmlformats.org/drawingml/2006/main">
            <a:pPr>
              <a:defRPr sz="2400" b="1">
                <a:solidFill>
                  <a:srgbClr val="25634B"/>
                </a:solidFill>
                <a:latin typeface="Malgun Gothic"/>
                <a:ea typeface="Malgun Gothic"/>
                <a:cs typeface="Malgun Gothic"/>
              </a:defRPr>
            </a:pPr>
            <a:r>
              <a:rPr sz="2400" b="1">
                <a:solidFill>
                  <a:srgbClr val="25634B"/>
                </a:solidFill>
                <a:latin typeface="Malgun Gothic"/>
                <a:ea typeface="Malgun Gothic"/>
                <a:cs typeface="Malgun Gothic"/>
              </a:rPr>
              <a:t>검증</a:t>
            </a:r>
          </a:p>
        </p:txBody>
      </p:sp>
      <p:sp>
        <p:nvSpPr>
          <p:cNvPr id="11" name="형상, 물리 모델, 데이터 품질을 각각 확인">
            <a:extLst xmlns:a="http://schemas.openxmlformats.org/drawingml/2006/main">
              <a:ext uri="{FF2B5EF4-FFF2-40B4-BE49-F238E27FC236}">
                <a16:creationId xmlns:a16="http://schemas.microsoft.com/office/drawing/2014/main" id="{45CEF0DD-6F94-418B-B497-63BA5389E935}"/>
              </a:ext>
            </a:extLst>
          </p:cNvPr>
          <p:cNvSpPr>
            <a:spLocks xmlns:a="http://schemas.openxmlformats.org/drawingml/2006/main" noGrp="1"/>
          </p:cNvSpPr>
          <p:nvPr/>
        </p:nvSpPr>
        <p:spPr>
          <a:xfrm xmlns:a="http://schemas.openxmlformats.org/drawingml/2006/main">
            <a:off x="3619500" y="60864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202322"/>
                </a:solidFill>
                <a:latin typeface="Malgun Gothic"/>
                <a:ea typeface="Malgun Gothic"/>
                <a:cs typeface="Malgun Gothic"/>
              </a:defRPr>
            </a:defPPr>
            <a:lvl1pPr>
              <a:defRPr sz="2400" b="0">
                <a:solidFill>
                  <a:srgbClr val="202322"/>
                </a:solidFill>
                <a:latin typeface="Malgun Gothic"/>
                <a:ea typeface="Malgun Gothic"/>
                <a:cs typeface="Malgun Gothic"/>
              </a:defRPr>
            </a:lvl1pPr>
            <a:lvl2pPr>
              <a:defRPr sz="2400" b="0">
                <a:solidFill>
                  <a:srgbClr val="202322"/>
                </a:solidFill>
                <a:latin typeface="Malgun Gothic"/>
                <a:ea typeface="Malgun Gothic"/>
                <a:cs typeface="Malgun Gothic"/>
              </a:defRPr>
            </a:lvl2pPr>
            <a:lvl3pPr>
              <a:defRPr sz="2400" b="0">
                <a:solidFill>
                  <a:srgbClr val="202322"/>
                </a:solidFill>
                <a:latin typeface="Malgun Gothic"/>
                <a:ea typeface="Malgun Gothic"/>
                <a:cs typeface="Malgun Gothic"/>
              </a:defRPr>
            </a:lvl3pPr>
            <a:lvl4pPr>
              <a:defRPr sz="2400" b="0">
                <a:solidFill>
                  <a:srgbClr val="202322"/>
                </a:solidFill>
                <a:latin typeface="Malgun Gothic"/>
                <a:ea typeface="Malgun Gothic"/>
                <a:cs typeface="Malgun Gothic"/>
              </a:defRPr>
            </a:lvl4pPr>
            <a:lvl5pPr>
              <a:defRPr sz="2400" b="0">
                <a:solidFill>
                  <a:srgbClr val="202322"/>
                </a:solidFill>
                <a:latin typeface="Malgun Gothic"/>
                <a:ea typeface="Malgun Gothic"/>
                <a:cs typeface="Malgun Gothic"/>
              </a:defRPr>
            </a:lvl5pPr>
            <a:lvl6pPr>
              <a:defRPr sz="2400" b="0">
                <a:solidFill>
                  <a:srgbClr val="202322"/>
                </a:solidFill>
                <a:latin typeface="Malgun Gothic"/>
                <a:ea typeface="Malgun Gothic"/>
                <a:cs typeface="Malgun Gothic"/>
              </a:defRPr>
            </a:lvl6pPr>
            <a:lvl7pPr>
              <a:defRPr sz="2400" b="0">
                <a:solidFill>
                  <a:srgbClr val="202322"/>
                </a:solidFill>
                <a:latin typeface="Malgun Gothic"/>
                <a:ea typeface="Malgun Gothic"/>
                <a:cs typeface="Malgun Gothic"/>
              </a:defRPr>
            </a:lvl7pPr>
            <a:lvl8pPr>
              <a:defRPr sz="2400" b="0">
                <a:solidFill>
                  <a:srgbClr val="202322"/>
                </a:solidFill>
                <a:latin typeface="Malgun Gothic"/>
                <a:ea typeface="Malgun Gothic"/>
                <a:cs typeface="Malgun Gothic"/>
              </a:defRPr>
            </a:lvl8pPr>
            <a:lvl9pPr>
              <a:defRPr sz="2400" b="0">
                <a:solidFill>
                  <a:srgbClr val="202322"/>
                </a:solidFill>
                <a:latin typeface="Malgun Gothic"/>
                <a:ea typeface="Malgun Gothic"/>
                <a:cs typeface="Malgun Gothic"/>
              </a:defRPr>
            </a:lvl9pPr>
          </a:lstStyle>
          <a:p xmlns:a="http://schemas.openxmlformats.org/drawingml/2006/main">
            <a:pPr>
              <a:defRPr sz="2400" b="0">
                <a:solidFill>
                  <a:srgbClr val="202322"/>
                </a:solidFill>
                <a:latin typeface="Malgun Gothic"/>
                <a:ea typeface="Malgun Gothic"/>
                <a:cs typeface="Malgun Gothic"/>
              </a:defRPr>
            </a:pPr>
            <a:r>
              <a:rPr sz="2400" b="0">
                <a:solidFill>
                  <a:srgbClr val="202322"/>
                </a:solidFill>
                <a:latin typeface="Malgun Gothic"/>
                <a:ea typeface="Malgun Gothic"/>
                <a:cs typeface="Malgun Gothic"/>
              </a:rPr>
              <a:t>형상, 물리 모델, 데이터 품질을 각각 확인</a:t>
            </a:r>
          </a:p>
        </p:txBody>
      </p:sp>
    </p:spTree>
    <p:extLst>
      <p:ext uri="{BB962C8B-B14F-4D97-AF65-F5344CB8AC3E}">
        <p14:creationId xmlns:p14="http://schemas.microsoft.com/office/powerpoint/2010/main" val="473949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2026-10-26T06:28:21.7510000Z</dcterms:created>
  <dcterms:modified xsi:type="dcterms:W3CDTF">2026-10-26T06:28:21.7510000Z</dcterms:modified>
</coreProperties>
</file>